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grounded in the course materials in C:/Users/ADMIN/Downloads/Recommender and the current app.py, engine.py and storage.py. The application implements exactly three selectable methods: Content-based, Context-aware and Hybrid. All exact gym scoring weights are project defaults.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Popularity and Knowledge remain internal components of Hybrid, not separate methods. SVD, User CF, Item CF and case retrieval were removed. Advanced is the UI label for the dataset expert level.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Kaggle gym-exercise-data (niharika41298); Kaggle gym-members-exercise-dataset (valakhorasani); github.com/yuhonas/free-exercise-db. The catalogue was deduplicated from 2,918 rows. Member-session data remains archived and is not used in the simplified app. Demonstration files are mapped by exact normalized exercise name, with hashes and original URLs in data/images/manifest.json.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4 code cells 33–46 use CountVectorizer and cosine_similarity. Chapter 7 includes hard-constraint filtering and case similarity. Chapter 8 includes availability filtering and relevance-based scoring. Chapter 10 cells 35 and 55 provide weighted hybrid functions. The current app removes collaborative methods and uses one fixed weighted hybrid formula.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4 uses CountVectorizer over keywords, cast, genres and director. Our adaptation uses TfidfVectorizer with word unigrams/bigrams over name, description, category, muscle, level and equipment. The 60/40 blend is a project choice.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8 cells 23–65 determine meal context, filter availability and multiply Preference_Score by Time_Relevance. The app uses Gym/Home/Outdoors, energy and a session budget; it does not use GPS distance or meal-time categories. These constraints apply to all ranking methods.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time block is min(5 for low energy, otherwise 7, budget minus 5), allowing a 10-minute session. The ranked list is greedily diversified, then make_plan selects the number that fits. These are project planning rules, not lecture-prescribed exercise durations.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examples use movie scores. Cells 20–27 specify 0.6/0.4 and compute the weighted sum. Cells 43–57 add Context and a general dictionary-based function. These examples establish the mechanism, not optimal gym weights.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 is content cosine. P=(5*source_prior + rating_count*local_mean)/(5+rating_count), using normalized rating scales. K=0.7*category_goal_match+0.3*experience_match. X=0.6*K+0.4*personal_mean_completion, default 0.5 completion. Context reuses Knowledge, so the components are not independent.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0.40*0.60+0.20*0.70+0.25*1.00+0.15*0.80=0.75. K=1 and default completion H=.5 give X=.8. These scores are not probabilities and the coefficients are not trained weights.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collaborative blend or CF fallback remains in the simplified app. Feedback updates the component values. The lecture switching example is discussed only to distinguish it from the implemented fixed weighted sum.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Pending filter edits are explicitly marked; only Build my workout applies them. Method switching uses the applied profile. How the ranking works reveals component scores. The library supports search and a photos-only filter. Activity logging prefills the selected exercise. CSV and JSON downloads remain available.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current app suite passed 28 tests, including media integrity and migration. Desktop/mobile browser checks confirmed navigation, method selection and local image loading. The rerun 36 scenarios had zero budget/equipment violations and 0.45% catalogue coverage for the narrow tested set. One upstream deprecation warning remains.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distinction for the presentation: the mathematical weighted-hybrid mechanism corresponds to Chapter 10; the component definitions, weights, feedback definitions, diversity penalty and workout allocation are project adaptations. The app is an educational prototype.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279400"/>
            <a:ext cx="330200" cy="38100"/>
          </a:xfrm>
          <a:prstGeom prst="rect">
            <a:avLst/>
          </a:prstGeom>
          <a:solidFill>
            <a:srgbClr val="326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350000"/>
            <a:ext cx="10820400" cy="12700"/>
          </a:xfrm>
          <a:prstGeom prst="rect">
            <a:avLst/>
          </a:prstGeom>
          <a:solidFill>
            <a:srgbClr val="DFE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406400"/>
            <a:ext cx="10833100" cy="203200"/>
          </a:xfrm>
          <a:prstGeom prst="rect">
            <a:avLst/>
          </a:prstGeom>
          <a:noFill/>
        </p:spPr>
        <p:txBody>
          <a:bodyPr wrap="none" lIns="0" rIns="0" tIns="0" bIns="0">
            <a:spAutoFit/>
          </a:bodyPr>
          <a:lstStyle/>
          <a:p>
            <a:pPr>
              <a:defRPr sz="1000" b="1">
                <a:solidFill>
                  <a:srgbClr val="3268C8"/>
                </a:solidFill>
                <a:latin typeface="Segoe UI"/>
              </a:defRPr>
            </a:pPr>
            <a:r>
              <a:t>RECOMMENDER SYSTEMS PROJECT</a:t>
            </a:r>
          </a:p>
        </p:txBody>
      </p:sp>
      <p:sp>
        <p:nvSpPr>
          <p:cNvPr id="6" name="TextBox 5"/>
          <p:cNvSpPr txBox="1"/>
          <p:nvPr/>
        </p:nvSpPr>
        <p:spPr>
          <a:xfrm>
            <a:off x="685800" y="6489700"/>
            <a:ext cx="3848100" cy="170180"/>
          </a:xfrm>
          <a:prstGeom prst="rect">
            <a:avLst/>
          </a:prstGeom>
          <a:noFill/>
        </p:spPr>
        <p:txBody>
          <a:bodyPr wrap="none" lIns="0" rIns="0" tIns="0" bIns="0">
            <a:spAutoFit/>
          </a:bodyPr>
          <a:lstStyle/>
          <a:p>
            <a:pPr>
              <a:defRPr sz="800" b="0">
                <a:solidFill>
                  <a:srgbClr val="53647B"/>
                </a:solidFill>
                <a:latin typeface="Segoe UI"/>
              </a:defRPr>
            </a:pPr>
            <a:r>
              <a:t>GYM WORKOUT RECOMMENDER</a:t>
            </a:r>
          </a:p>
        </p:txBody>
      </p:sp>
      <p:sp>
        <p:nvSpPr>
          <p:cNvPr id="7" name="TextBox 6"/>
          <p:cNvSpPr txBox="1"/>
          <p:nvPr/>
        </p:nvSpPr>
        <p:spPr>
          <a:xfrm>
            <a:off x="10858500" y="6489700"/>
            <a:ext cx="800100" cy="186690"/>
          </a:xfrm>
          <a:prstGeom prst="rect">
            <a:avLst/>
          </a:prstGeom>
          <a:noFill/>
        </p:spPr>
        <p:txBody>
          <a:bodyPr wrap="none" lIns="0" rIns="0" tIns="0" bIns="0">
            <a:spAutoFit/>
          </a:bodyPr>
          <a:lstStyle/>
          <a:p>
            <a:pPr>
              <a:defRPr sz="900" b="0">
                <a:solidFill>
                  <a:srgbClr val="53647B"/>
                </a:solidFill>
                <a:latin typeface="Segoe UI"/>
              </a:defRPr>
            </a:pPr>
            <a:r>
              <a:t>01 / 16</a:t>
            </a:r>
          </a:p>
        </p:txBody>
      </p:sp>
      <p:sp>
        <p:nvSpPr>
          <p:cNvPr id="8" name="TextBox 7"/>
          <p:cNvSpPr txBox="1"/>
          <p:nvPr/>
        </p:nvSpPr>
        <p:spPr>
          <a:xfrm>
            <a:off x="685800" y="1346200"/>
            <a:ext cx="8293100" cy="787400"/>
          </a:xfrm>
          <a:prstGeom prst="rect">
            <a:avLst/>
          </a:prstGeom>
          <a:noFill/>
        </p:spPr>
        <p:txBody>
          <a:bodyPr wrap="none" lIns="0" rIns="0" tIns="0" bIns="0">
            <a:spAutoFit/>
          </a:bodyPr>
          <a:lstStyle/>
          <a:p>
            <a:pPr>
              <a:defRPr sz="4900" b="1">
                <a:solidFill>
                  <a:srgbClr val="182B49"/>
                </a:solidFill>
                <a:latin typeface="Segoe UI"/>
              </a:defRPr>
            </a:pPr>
            <a:r>
              <a:t>Gym Workout</a:t>
            </a:r>
          </a:p>
        </p:txBody>
      </p:sp>
      <p:sp>
        <p:nvSpPr>
          <p:cNvPr id="9" name="TextBox 8"/>
          <p:cNvSpPr txBox="1"/>
          <p:nvPr/>
        </p:nvSpPr>
        <p:spPr>
          <a:xfrm>
            <a:off x="685800" y="2095500"/>
            <a:ext cx="8293100" cy="787400"/>
          </a:xfrm>
          <a:prstGeom prst="rect">
            <a:avLst/>
          </a:prstGeom>
          <a:noFill/>
        </p:spPr>
        <p:txBody>
          <a:bodyPr wrap="none" lIns="0" rIns="0" tIns="0" bIns="0">
            <a:spAutoFit/>
          </a:bodyPr>
          <a:lstStyle/>
          <a:p>
            <a:pPr>
              <a:defRPr sz="4900" b="1">
                <a:solidFill>
                  <a:srgbClr val="182B49"/>
                </a:solidFill>
                <a:latin typeface="Segoe UI"/>
              </a:defRPr>
            </a:pPr>
            <a:r>
              <a:t>Recommender</a:t>
            </a:r>
          </a:p>
        </p:txBody>
      </p:sp>
      <p:sp>
        <p:nvSpPr>
          <p:cNvPr id="10" name="TextBox 9"/>
          <p:cNvSpPr txBox="1"/>
          <p:nvPr/>
        </p:nvSpPr>
        <p:spPr>
          <a:xfrm>
            <a:off x="723900" y="3136900"/>
            <a:ext cx="10071100" cy="417830"/>
          </a:xfrm>
          <a:prstGeom prst="rect">
            <a:avLst/>
          </a:prstGeom>
          <a:noFill/>
        </p:spPr>
        <p:txBody>
          <a:bodyPr wrap="none" lIns="0" rIns="0" tIns="0" bIns="0">
            <a:spAutoFit/>
          </a:bodyPr>
          <a:lstStyle/>
          <a:p>
            <a:pPr>
              <a:defRPr sz="2300" b="0">
                <a:solidFill>
                  <a:srgbClr val="53647B"/>
                </a:solidFill>
                <a:latin typeface="Segoe UI"/>
              </a:defRPr>
            </a:pPr>
            <a:r>
              <a:t>From lecture techniques to a practical workout plan</a:t>
            </a:r>
          </a:p>
        </p:txBody>
      </p:sp>
      <p:sp>
        <p:nvSpPr>
          <p:cNvPr id="11" name="Rectangle 10"/>
          <p:cNvSpPr/>
          <p:nvPr/>
        </p:nvSpPr>
        <p:spPr>
          <a:xfrm>
            <a:off x="723900" y="3937000"/>
            <a:ext cx="10693400" cy="12700"/>
          </a:xfrm>
          <a:prstGeom prst="rect">
            <a:avLst/>
          </a:prstGeom>
          <a:solidFill>
            <a:srgbClr val="DFE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900" y="4254500"/>
            <a:ext cx="3149600" cy="219710"/>
          </a:xfrm>
          <a:prstGeom prst="rect">
            <a:avLst/>
          </a:prstGeom>
          <a:noFill/>
        </p:spPr>
        <p:txBody>
          <a:bodyPr wrap="none" lIns="0" rIns="0" tIns="0" bIns="0">
            <a:spAutoFit/>
          </a:bodyPr>
          <a:lstStyle/>
          <a:p>
            <a:pPr>
              <a:defRPr sz="1100" b="1">
                <a:solidFill>
                  <a:srgbClr val="3268C8"/>
                </a:solidFill>
                <a:latin typeface="Segoe UI"/>
              </a:defRPr>
            </a:pPr>
            <a:r>
              <a:t>CHAPTER 4</a:t>
            </a:r>
          </a:p>
        </p:txBody>
      </p:sp>
      <p:sp>
        <p:nvSpPr>
          <p:cNvPr id="13" name="TextBox 12"/>
          <p:cNvSpPr txBox="1"/>
          <p:nvPr/>
        </p:nvSpPr>
        <p:spPr>
          <a:xfrm>
            <a:off x="723900" y="4584700"/>
            <a:ext cx="3149600" cy="401320"/>
          </a:xfrm>
          <a:prstGeom prst="rect">
            <a:avLst/>
          </a:prstGeom>
          <a:noFill/>
        </p:spPr>
        <p:txBody>
          <a:bodyPr wrap="none" lIns="0" rIns="0" tIns="0" bIns="0">
            <a:spAutoFit/>
          </a:bodyPr>
          <a:lstStyle/>
          <a:p>
            <a:pPr>
              <a:defRPr sz="2200" b="1">
                <a:solidFill>
                  <a:srgbClr val="182B49"/>
                </a:solidFill>
                <a:latin typeface="Segoe UI"/>
              </a:defRPr>
            </a:pPr>
            <a:r>
              <a:t>Content-based</a:t>
            </a:r>
          </a:p>
        </p:txBody>
      </p:sp>
      <p:sp>
        <p:nvSpPr>
          <p:cNvPr id="14" name="TextBox 13"/>
          <p:cNvSpPr txBox="1"/>
          <p:nvPr/>
        </p:nvSpPr>
        <p:spPr>
          <a:xfrm>
            <a:off x="4394200" y="4254500"/>
            <a:ext cx="3149600" cy="219710"/>
          </a:xfrm>
          <a:prstGeom prst="rect">
            <a:avLst/>
          </a:prstGeom>
          <a:noFill/>
        </p:spPr>
        <p:txBody>
          <a:bodyPr wrap="none" lIns="0" rIns="0" tIns="0" bIns="0">
            <a:spAutoFit/>
          </a:bodyPr>
          <a:lstStyle/>
          <a:p>
            <a:pPr>
              <a:defRPr sz="1100" b="1">
                <a:solidFill>
                  <a:srgbClr val="3268C8"/>
                </a:solidFill>
                <a:latin typeface="Segoe UI"/>
              </a:defRPr>
            </a:pPr>
            <a:r>
              <a:t>CHAPTER 8</a:t>
            </a:r>
          </a:p>
        </p:txBody>
      </p:sp>
      <p:sp>
        <p:nvSpPr>
          <p:cNvPr id="15" name="TextBox 14"/>
          <p:cNvSpPr txBox="1"/>
          <p:nvPr/>
        </p:nvSpPr>
        <p:spPr>
          <a:xfrm>
            <a:off x="4394200" y="4584700"/>
            <a:ext cx="3149600" cy="401320"/>
          </a:xfrm>
          <a:prstGeom prst="rect">
            <a:avLst/>
          </a:prstGeom>
          <a:noFill/>
        </p:spPr>
        <p:txBody>
          <a:bodyPr wrap="none" lIns="0" rIns="0" tIns="0" bIns="0">
            <a:spAutoFit/>
          </a:bodyPr>
          <a:lstStyle/>
          <a:p>
            <a:pPr>
              <a:defRPr sz="2200" b="1">
                <a:solidFill>
                  <a:srgbClr val="182B49"/>
                </a:solidFill>
                <a:latin typeface="Segoe UI"/>
              </a:defRPr>
            </a:pPr>
            <a:r>
              <a:t>Context-aware</a:t>
            </a:r>
          </a:p>
        </p:txBody>
      </p:sp>
      <p:sp>
        <p:nvSpPr>
          <p:cNvPr id="16" name="TextBox 15"/>
          <p:cNvSpPr txBox="1"/>
          <p:nvPr/>
        </p:nvSpPr>
        <p:spPr>
          <a:xfrm>
            <a:off x="8064500" y="4254500"/>
            <a:ext cx="3149600" cy="219710"/>
          </a:xfrm>
          <a:prstGeom prst="rect">
            <a:avLst/>
          </a:prstGeom>
          <a:noFill/>
        </p:spPr>
        <p:txBody>
          <a:bodyPr wrap="none" lIns="0" rIns="0" tIns="0" bIns="0">
            <a:spAutoFit/>
          </a:bodyPr>
          <a:lstStyle/>
          <a:p>
            <a:pPr>
              <a:defRPr sz="1100" b="1">
                <a:solidFill>
                  <a:srgbClr val="3268C8"/>
                </a:solidFill>
                <a:latin typeface="Segoe UI"/>
              </a:defRPr>
            </a:pPr>
            <a:r>
              <a:t>CHAPTER 10</a:t>
            </a:r>
          </a:p>
        </p:txBody>
      </p:sp>
      <p:sp>
        <p:nvSpPr>
          <p:cNvPr id="17" name="TextBox 16"/>
          <p:cNvSpPr txBox="1"/>
          <p:nvPr/>
        </p:nvSpPr>
        <p:spPr>
          <a:xfrm>
            <a:off x="8064500" y="4584700"/>
            <a:ext cx="3149600" cy="401320"/>
          </a:xfrm>
          <a:prstGeom prst="rect">
            <a:avLst/>
          </a:prstGeom>
          <a:noFill/>
        </p:spPr>
        <p:txBody>
          <a:bodyPr wrap="none" lIns="0" rIns="0" tIns="0" bIns="0">
            <a:spAutoFit/>
          </a:bodyPr>
          <a:lstStyle/>
          <a:p>
            <a:pPr>
              <a:defRPr sz="2200" b="1">
                <a:solidFill>
                  <a:srgbClr val="182B49"/>
                </a:solidFill>
                <a:latin typeface="Segoe UI"/>
              </a:defRPr>
            </a:pPr>
            <a:r>
              <a:t>Weighted hybrid</a:t>
            </a:r>
          </a:p>
        </p:txBody>
      </p:sp>
      <p:sp>
        <p:nvSpPr>
          <p:cNvPr id="18" name="TextBox 17"/>
          <p:cNvSpPr txBox="1"/>
          <p:nvPr/>
        </p:nvSpPr>
        <p:spPr>
          <a:xfrm>
            <a:off x="723900" y="5626100"/>
            <a:ext cx="10642600" cy="285750"/>
          </a:xfrm>
          <a:prstGeom prst="rect">
            <a:avLst/>
          </a:prstGeom>
          <a:noFill/>
        </p:spPr>
        <p:txBody>
          <a:bodyPr wrap="none" lIns="0" rIns="0" tIns="0" bIns="0">
            <a:spAutoFit/>
          </a:bodyPr>
          <a:lstStyle/>
          <a:p>
            <a:pPr>
              <a:defRPr sz="1500" b="0">
                <a:solidFill>
                  <a:srgbClr val="53647B"/>
                </a:solidFill>
                <a:latin typeface="Segoe UI"/>
              </a:defRPr>
            </a:pPr>
            <a:r>
              <a:t>Streamlit application • Local exercise catalogue • Explainable ranking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279400"/>
            <a:ext cx="330200" cy="38100"/>
          </a:xfrm>
          <a:prstGeom prst="rect">
            <a:avLst/>
          </a:prstGeom>
          <a:solidFill>
            <a:srgbClr val="326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350000"/>
            <a:ext cx="10820400" cy="12700"/>
          </a:xfrm>
          <a:prstGeom prst="rect">
            <a:avLst/>
          </a:prstGeom>
          <a:solidFill>
            <a:srgbClr val="DFE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406400"/>
            <a:ext cx="10833100" cy="203200"/>
          </a:xfrm>
          <a:prstGeom prst="rect">
            <a:avLst/>
          </a:prstGeom>
          <a:noFill/>
        </p:spPr>
        <p:txBody>
          <a:bodyPr wrap="none" lIns="0" rIns="0" tIns="0" bIns="0">
            <a:spAutoFit/>
          </a:bodyPr>
          <a:lstStyle/>
          <a:p>
            <a:pPr>
              <a:defRPr sz="1000" b="1">
                <a:solidFill>
                  <a:srgbClr val="3268C8"/>
                </a:solidFill>
                <a:latin typeface="Segoe UI"/>
              </a:defRPr>
            </a:pPr>
            <a:r>
              <a:t>01 / PROJECT PURPOSE</a:t>
            </a:r>
          </a:p>
        </p:txBody>
      </p:sp>
      <p:sp>
        <p:nvSpPr>
          <p:cNvPr id="6" name="TextBox 5"/>
          <p:cNvSpPr txBox="1"/>
          <p:nvPr/>
        </p:nvSpPr>
        <p:spPr>
          <a:xfrm>
            <a:off x="685800" y="838200"/>
            <a:ext cx="10833100" cy="549910"/>
          </a:xfrm>
          <a:prstGeom prst="rect">
            <a:avLst/>
          </a:prstGeom>
          <a:noFill/>
        </p:spPr>
        <p:txBody>
          <a:bodyPr wrap="none" lIns="0" rIns="0" tIns="0" bIns="0">
            <a:spAutoFit/>
          </a:bodyPr>
          <a:lstStyle/>
          <a:p>
            <a:pPr>
              <a:defRPr sz="3100" b="1">
                <a:solidFill>
                  <a:srgbClr val="182B49"/>
                </a:solidFill>
                <a:latin typeface="Segoe UI"/>
              </a:defRPr>
            </a:pPr>
            <a:r>
              <a:t>Match the workout to the user.</a:t>
            </a:r>
          </a:p>
        </p:txBody>
      </p:sp>
      <p:sp>
        <p:nvSpPr>
          <p:cNvPr id="7" name="TextBox 6"/>
          <p:cNvSpPr txBox="1"/>
          <p:nvPr/>
        </p:nvSpPr>
        <p:spPr>
          <a:xfrm>
            <a:off x="685800" y="6489700"/>
            <a:ext cx="3848100" cy="170180"/>
          </a:xfrm>
          <a:prstGeom prst="rect">
            <a:avLst/>
          </a:prstGeom>
          <a:noFill/>
        </p:spPr>
        <p:txBody>
          <a:bodyPr wrap="none" lIns="0" rIns="0" tIns="0" bIns="0">
            <a:spAutoFit/>
          </a:bodyPr>
          <a:lstStyle/>
          <a:p>
            <a:pPr>
              <a:defRPr sz="800" b="0">
                <a:solidFill>
                  <a:srgbClr val="53647B"/>
                </a:solidFill>
                <a:latin typeface="Segoe UI"/>
              </a:defRPr>
            </a:pPr>
            <a:r>
              <a:t>GYM WORKOUT RECOMMENDER</a:t>
            </a:r>
          </a:p>
        </p:txBody>
      </p:sp>
      <p:sp>
        <p:nvSpPr>
          <p:cNvPr id="8" name="TextBox 7"/>
          <p:cNvSpPr txBox="1"/>
          <p:nvPr/>
        </p:nvSpPr>
        <p:spPr>
          <a:xfrm>
            <a:off x="10858500" y="6489700"/>
            <a:ext cx="800100" cy="186690"/>
          </a:xfrm>
          <a:prstGeom prst="rect">
            <a:avLst/>
          </a:prstGeom>
          <a:noFill/>
        </p:spPr>
        <p:txBody>
          <a:bodyPr wrap="none" lIns="0" rIns="0" tIns="0" bIns="0">
            <a:spAutoFit/>
          </a:bodyPr>
          <a:lstStyle/>
          <a:p>
            <a:pPr>
              <a:defRPr sz="900" b="0">
                <a:solidFill>
                  <a:srgbClr val="53647B"/>
                </a:solidFill>
                <a:latin typeface="Segoe UI"/>
              </a:defRPr>
            </a:pPr>
            <a:r>
              <a:t>02 / 16</a:t>
            </a:r>
          </a:p>
        </p:txBody>
      </p:sp>
      <p:sp>
        <p:nvSpPr>
          <p:cNvPr id="9" name="TextBox 8"/>
          <p:cNvSpPr txBox="1"/>
          <p:nvPr/>
        </p:nvSpPr>
        <p:spPr>
          <a:xfrm>
            <a:off x="685800" y="6146800"/>
            <a:ext cx="10642600" cy="186690"/>
          </a:xfrm>
          <a:prstGeom prst="rect">
            <a:avLst/>
          </a:prstGeom>
          <a:noFill/>
        </p:spPr>
        <p:txBody>
          <a:bodyPr wrap="none" lIns="0" rIns="0" tIns="0" bIns="0">
            <a:spAutoFit/>
          </a:bodyPr>
          <a:lstStyle/>
          <a:p>
            <a:pPr>
              <a:defRPr sz="900" b="0">
                <a:solidFill>
                  <a:srgbClr val="53647B"/>
                </a:solidFill>
                <a:latin typeface="Segoe UI"/>
              </a:defRPr>
            </a:pPr>
            <a:r>
              <a:t>Project proposal, slide 2; app.py; engine.py</a:t>
            </a:r>
          </a:p>
        </p:txBody>
      </p:sp>
      <p:sp>
        <p:nvSpPr>
          <p:cNvPr id="10" name="Rectangle 9"/>
          <p:cNvSpPr/>
          <p:nvPr/>
        </p:nvSpPr>
        <p:spPr>
          <a:xfrm>
            <a:off x="685800" y="1917700"/>
            <a:ext cx="3479800" cy="2921000"/>
          </a:xfrm>
          <a:prstGeom prst="rect">
            <a:avLst/>
          </a:prstGeom>
          <a:solidFill>
            <a:srgbClr val="F2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14400" y="2070100"/>
            <a:ext cx="279400" cy="25400"/>
          </a:xfrm>
          <a:prstGeom prst="rect">
            <a:avLst/>
          </a:prstGeom>
          <a:solidFill>
            <a:srgbClr val="326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209800"/>
            <a:ext cx="3060700" cy="335280"/>
          </a:xfrm>
          <a:prstGeom prst="rect">
            <a:avLst/>
          </a:prstGeom>
          <a:noFill/>
        </p:spPr>
        <p:txBody>
          <a:bodyPr wrap="none" lIns="0" rIns="0" tIns="0" bIns="0">
            <a:spAutoFit/>
          </a:bodyPr>
          <a:lstStyle/>
          <a:p>
            <a:pPr>
              <a:defRPr sz="1800" b="1">
                <a:solidFill>
                  <a:srgbClr val="182B49"/>
                </a:solidFill>
                <a:latin typeface="Segoe UI"/>
              </a:defRPr>
            </a:pPr>
            <a:r>
              <a:t>Training goals</a:t>
            </a:r>
          </a:p>
        </p:txBody>
      </p:sp>
      <p:sp>
        <p:nvSpPr>
          <p:cNvPr id="13" name="TextBox 12"/>
          <p:cNvSpPr txBox="1"/>
          <p:nvPr/>
        </p:nvSpPr>
        <p:spPr>
          <a:xfrm>
            <a:off x="914400" y="2667000"/>
            <a:ext cx="3060700" cy="302260"/>
          </a:xfrm>
          <a:prstGeom prst="rect">
            <a:avLst/>
          </a:prstGeom>
          <a:noFill/>
        </p:spPr>
        <p:txBody>
          <a:bodyPr wrap="none" lIns="0" rIns="0" tIns="0" bIns="0">
            <a:spAutoFit/>
          </a:bodyPr>
          <a:lstStyle/>
          <a:p>
            <a:pPr>
              <a:defRPr sz="1600" b="0">
                <a:solidFill>
                  <a:srgbClr val="53647B"/>
                </a:solidFill>
                <a:latin typeface="Segoe UI"/>
              </a:defRPr>
            </a:pPr>
            <a:r>
              <a:t>General Fitness</a:t>
            </a:r>
          </a:p>
        </p:txBody>
      </p:sp>
      <p:sp>
        <p:nvSpPr>
          <p:cNvPr id="14" name="TextBox 13"/>
          <p:cNvSpPr txBox="1"/>
          <p:nvPr/>
        </p:nvSpPr>
        <p:spPr>
          <a:xfrm>
            <a:off x="914400" y="2931160"/>
            <a:ext cx="3060700" cy="302260"/>
          </a:xfrm>
          <a:prstGeom prst="rect">
            <a:avLst/>
          </a:prstGeom>
          <a:noFill/>
        </p:spPr>
        <p:txBody>
          <a:bodyPr wrap="none" lIns="0" rIns="0" tIns="0" bIns="0">
            <a:spAutoFit/>
          </a:bodyPr>
          <a:lstStyle/>
          <a:p>
            <a:pPr>
              <a:defRPr sz="1600" b="0">
                <a:solidFill>
                  <a:srgbClr val="53647B"/>
                </a:solidFill>
                <a:latin typeface="Segoe UI"/>
              </a:defRPr>
            </a:pPr>
            <a:r>
              <a:t>Weight Loss</a:t>
            </a:r>
          </a:p>
        </p:txBody>
      </p:sp>
      <p:sp>
        <p:nvSpPr>
          <p:cNvPr id="15" name="TextBox 14"/>
          <p:cNvSpPr txBox="1"/>
          <p:nvPr/>
        </p:nvSpPr>
        <p:spPr>
          <a:xfrm>
            <a:off x="914400" y="3195320"/>
            <a:ext cx="3060700" cy="302260"/>
          </a:xfrm>
          <a:prstGeom prst="rect">
            <a:avLst/>
          </a:prstGeom>
          <a:noFill/>
        </p:spPr>
        <p:txBody>
          <a:bodyPr wrap="none" lIns="0" rIns="0" tIns="0" bIns="0">
            <a:spAutoFit/>
          </a:bodyPr>
          <a:lstStyle/>
          <a:p>
            <a:pPr>
              <a:defRPr sz="1600" b="0">
                <a:solidFill>
                  <a:srgbClr val="53647B"/>
                </a:solidFill>
                <a:latin typeface="Segoe UI"/>
              </a:defRPr>
            </a:pPr>
            <a:r>
              <a:t>Muscle Gain</a:t>
            </a:r>
          </a:p>
        </p:txBody>
      </p:sp>
      <p:sp>
        <p:nvSpPr>
          <p:cNvPr id="16" name="TextBox 15"/>
          <p:cNvSpPr txBox="1"/>
          <p:nvPr/>
        </p:nvSpPr>
        <p:spPr>
          <a:xfrm>
            <a:off x="914400" y="3459479"/>
            <a:ext cx="3060700" cy="302260"/>
          </a:xfrm>
          <a:prstGeom prst="rect">
            <a:avLst/>
          </a:prstGeom>
          <a:noFill/>
        </p:spPr>
        <p:txBody>
          <a:bodyPr wrap="none" lIns="0" rIns="0" tIns="0" bIns="0">
            <a:spAutoFit/>
          </a:bodyPr>
          <a:lstStyle/>
          <a:p>
            <a:pPr>
              <a:defRPr sz="1600" b="0">
                <a:solidFill>
                  <a:srgbClr val="53647B"/>
                </a:solidFill>
                <a:latin typeface="Segoe UI"/>
              </a:defRPr>
            </a:pPr>
            <a:r>
              <a:t>Strength</a:t>
            </a:r>
          </a:p>
        </p:txBody>
      </p:sp>
      <p:sp>
        <p:nvSpPr>
          <p:cNvPr id="17" name="Rectangle 16"/>
          <p:cNvSpPr/>
          <p:nvPr/>
        </p:nvSpPr>
        <p:spPr>
          <a:xfrm>
            <a:off x="4356100" y="1917700"/>
            <a:ext cx="3479800" cy="2921000"/>
          </a:xfrm>
          <a:prstGeom prst="rect">
            <a:avLst/>
          </a:prstGeom>
          <a:solidFill>
            <a:srgbClr val="F2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84700" y="2070100"/>
            <a:ext cx="279400" cy="25400"/>
          </a:xfrm>
          <a:prstGeom prst="rect">
            <a:avLst/>
          </a:prstGeom>
          <a:solidFill>
            <a:srgbClr val="326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84700" y="2209800"/>
            <a:ext cx="3060700" cy="335280"/>
          </a:xfrm>
          <a:prstGeom prst="rect">
            <a:avLst/>
          </a:prstGeom>
          <a:noFill/>
        </p:spPr>
        <p:txBody>
          <a:bodyPr wrap="none" lIns="0" rIns="0" tIns="0" bIns="0">
            <a:spAutoFit/>
          </a:bodyPr>
          <a:lstStyle/>
          <a:p>
            <a:pPr>
              <a:defRPr sz="1800" b="1">
                <a:solidFill>
                  <a:srgbClr val="182B49"/>
                </a:solidFill>
                <a:latin typeface="Segoe UI"/>
              </a:defRPr>
            </a:pPr>
            <a:r>
              <a:t>Practical inputs</a:t>
            </a:r>
          </a:p>
        </p:txBody>
      </p:sp>
      <p:sp>
        <p:nvSpPr>
          <p:cNvPr id="20" name="TextBox 19"/>
          <p:cNvSpPr txBox="1"/>
          <p:nvPr/>
        </p:nvSpPr>
        <p:spPr>
          <a:xfrm>
            <a:off x="4584700" y="2667000"/>
            <a:ext cx="3060700" cy="302260"/>
          </a:xfrm>
          <a:prstGeom prst="rect">
            <a:avLst/>
          </a:prstGeom>
          <a:noFill/>
        </p:spPr>
        <p:txBody>
          <a:bodyPr wrap="none" lIns="0" rIns="0" tIns="0" bIns="0">
            <a:spAutoFit/>
          </a:bodyPr>
          <a:lstStyle/>
          <a:p>
            <a:pPr>
              <a:defRPr sz="1600" b="0">
                <a:solidFill>
                  <a:srgbClr val="53647B"/>
                </a:solidFill>
                <a:latin typeface="Segoe UI"/>
              </a:defRPr>
            </a:pPr>
            <a:r>
              <a:t>Experience</a:t>
            </a:r>
          </a:p>
        </p:txBody>
      </p:sp>
      <p:sp>
        <p:nvSpPr>
          <p:cNvPr id="21" name="TextBox 20"/>
          <p:cNvSpPr txBox="1"/>
          <p:nvPr/>
        </p:nvSpPr>
        <p:spPr>
          <a:xfrm>
            <a:off x="4584700" y="2931160"/>
            <a:ext cx="3060700" cy="302260"/>
          </a:xfrm>
          <a:prstGeom prst="rect">
            <a:avLst/>
          </a:prstGeom>
          <a:noFill/>
        </p:spPr>
        <p:txBody>
          <a:bodyPr wrap="none" lIns="0" rIns="0" tIns="0" bIns="0">
            <a:spAutoFit/>
          </a:bodyPr>
          <a:lstStyle/>
          <a:p>
            <a:pPr>
              <a:defRPr sz="1600" b="0">
                <a:solidFill>
                  <a:srgbClr val="53647B"/>
                </a:solidFill>
                <a:latin typeface="Segoe UI"/>
              </a:defRPr>
            </a:pPr>
            <a:r>
              <a:t>Equipment and muscle focus</a:t>
            </a:r>
          </a:p>
        </p:txBody>
      </p:sp>
      <p:sp>
        <p:nvSpPr>
          <p:cNvPr id="22" name="TextBox 21"/>
          <p:cNvSpPr txBox="1"/>
          <p:nvPr/>
        </p:nvSpPr>
        <p:spPr>
          <a:xfrm>
            <a:off x="4584700" y="3195320"/>
            <a:ext cx="3060700" cy="302260"/>
          </a:xfrm>
          <a:prstGeom prst="rect">
            <a:avLst/>
          </a:prstGeom>
          <a:noFill/>
        </p:spPr>
        <p:txBody>
          <a:bodyPr wrap="none" lIns="0" rIns="0" tIns="0" bIns="0">
            <a:spAutoFit/>
          </a:bodyPr>
          <a:lstStyle/>
          <a:p>
            <a:pPr>
              <a:defRPr sz="1600" b="0">
                <a:solidFill>
                  <a:srgbClr val="53647B"/>
                </a:solidFill>
                <a:latin typeface="Segoe UI"/>
              </a:defRPr>
            </a:pPr>
            <a:r>
              <a:t>Available minutes</a:t>
            </a:r>
          </a:p>
        </p:txBody>
      </p:sp>
      <p:sp>
        <p:nvSpPr>
          <p:cNvPr id="23" name="TextBox 22"/>
          <p:cNvSpPr txBox="1"/>
          <p:nvPr/>
        </p:nvSpPr>
        <p:spPr>
          <a:xfrm>
            <a:off x="4584700" y="3459479"/>
            <a:ext cx="3060700" cy="302260"/>
          </a:xfrm>
          <a:prstGeom prst="rect">
            <a:avLst/>
          </a:prstGeom>
          <a:noFill/>
        </p:spPr>
        <p:txBody>
          <a:bodyPr wrap="none" lIns="0" rIns="0" tIns="0" bIns="0">
            <a:spAutoFit/>
          </a:bodyPr>
          <a:lstStyle/>
          <a:p>
            <a:pPr>
              <a:defRPr sz="1600" b="0">
                <a:solidFill>
                  <a:srgbClr val="53647B"/>
                </a:solidFill>
                <a:latin typeface="Segoe UI"/>
              </a:defRPr>
            </a:pPr>
            <a:r>
              <a:t>Location and current energy</a:t>
            </a:r>
          </a:p>
        </p:txBody>
      </p:sp>
      <p:sp>
        <p:nvSpPr>
          <p:cNvPr id="24" name="Rectangle 23"/>
          <p:cNvSpPr/>
          <p:nvPr/>
        </p:nvSpPr>
        <p:spPr>
          <a:xfrm>
            <a:off x="8026400" y="1917700"/>
            <a:ext cx="3479800" cy="2921000"/>
          </a:xfrm>
          <a:prstGeom prst="rect">
            <a:avLst/>
          </a:prstGeom>
          <a:solidFill>
            <a:srgbClr val="F2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255000" y="2070100"/>
            <a:ext cx="279400" cy="25400"/>
          </a:xfrm>
          <a:prstGeom prst="rect">
            <a:avLst/>
          </a:prstGeom>
          <a:solidFill>
            <a:srgbClr val="326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55000" y="2209800"/>
            <a:ext cx="3060700" cy="335280"/>
          </a:xfrm>
          <a:prstGeom prst="rect">
            <a:avLst/>
          </a:prstGeom>
          <a:noFill/>
        </p:spPr>
        <p:txBody>
          <a:bodyPr wrap="none" lIns="0" rIns="0" tIns="0" bIns="0">
            <a:spAutoFit/>
          </a:bodyPr>
          <a:lstStyle/>
          <a:p>
            <a:pPr>
              <a:defRPr sz="1800" b="1">
                <a:solidFill>
                  <a:srgbClr val="182B49"/>
                </a:solidFill>
                <a:latin typeface="Segoe UI"/>
              </a:defRPr>
            </a:pPr>
            <a:r>
              <a:t>Useful output</a:t>
            </a:r>
          </a:p>
        </p:txBody>
      </p:sp>
      <p:sp>
        <p:nvSpPr>
          <p:cNvPr id="27" name="TextBox 26"/>
          <p:cNvSpPr txBox="1"/>
          <p:nvPr/>
        </p:nvSpPr>
        <p:spPr>
          <a:xfrm>
            <a:off x="8255000" y="2667000"/>
            <a:ext cx="3060700" cy="302260"/>
          </a:xfrm>
          <a:prstGeom prst="rect">
            <a:avLst/>
          </a:prstGeom>
          <a:noFill/>
        </p:spPr>
        <p:txBody>
          <a:bodyPr wrap="none" lIns="0" rIns="0" tIns="0" bIns="0">
            <a:spAutoFit/>
          </a:bodyPr>
          <a:lstStyle/>
          <a:p>
            <a:pPr>
              <a:defRPr sz="1600" b="0">
                <a:solidFill>
                  <a:srgbClr val="53647B"/>
                </a:solidFill>
                <a:latin typeface="Segoe UI"/>
              </a:defRPr>
            </a:pPr>
            <a:r>
              <a:t>Ranked exercises</a:t>
            </a:r>
          </a:p>
        </p:txBody>
      </p:sp>
      <p:sp>
        <p:nvSpPr>
          <p:cNvPr id="28" name="TextBox 27"/>
          <p:cNvSpPr txBox="1"/>
          <p:nvPr/>
        </p:nvSpPr>
        <p:spPr>
          <a:xfrm>
            <a:off x="8255000" y="2931160"/>
            <a:ext cx="3060700" cy="302260"/>
          </a:xfrm>
          <a:prstGeom prst="rect">
            <a:avLst/>
          </a:prstGeom>
          <a:noFill/>
        </p:spPr>
        <p:txBody>
          <a:bodyPr wrap="none" lIns="0" rIns="0" tIns="0" bIns="0">
            <a:spAutoFit/>
          </a:bodyPr>
          <a:lstStyle/>
          <a:p>
            <a:pPr>
              <a:defRPr sz="1600" b="0">
                <a:solidFill>
                  <a:srgbClr val="53647B"/>
                </a:solidFill>
                <a:latin typeface="Segoe UI"/>
              </a:defRPr>
            </a:pPr>
            <a:r>
              <a:t>A time-budgeted plan</a:t>
            </a:r>
          </a:p>
        </p:txBody>
      </p:sp>
      <p:sp>
        <p:nvSpPr>
          <p:cNvPr id="29" name="TextBox 28"/>
          <p:cNvSpPr txBox="1"/>
          <p:nvPr/>
        </p:nvSpPr>
        <p:spPr>
          <a:xfrm>
            <a:off x="8255000" y="3195320"/>
            <a:ext cx="3060700" cy="302260"/>
          </a:xfrm>
          <a:prstGeom prst="rect">
            <a:avLst/>
          </a:prstGeom>
          <a:noFill/>
        </p:spPr>
        <p:txBody>
          <a:bodyPr wrap="none" lIns="0" rIns="0" tIns="0" bIns="0">
            <a:spAutoFit/>
          </a:bodyPr>
          <a:lstStyle/>
          <a:p>
            <a:pPr>
              <a:defRPr sz="1600" b="0">
                <a:solidFill>
                  <a:srgbClr val="53647B"/>
                </a:solidFill>
                <a:latin typeface="Segoe UI"/>
              </a:defRPr>
            </a:pPr>
            <a:r>
              <a:t>Reasons for each selection</a:t>
            </a:r>
          </a:p>
        </p:txBody>
      </p:sp>
      <p:sp>
        <p:nvSpPr>
          <p:cNvPr id="30" name="TextBox 29"/>
          <p:cNvSpPr txBox="1"/>
          <p:nvPr/>
        </p:nvSpPr>
        <p:spPr>
          <a:xfrm>
            <a:off x="8255000" y="3459479"/>
            <a:ext cx="3060700" cy="302260"/>
          </a:xfrm>
          <a:prstGeom prst="rect">
            <a:avLst/>
          </a:prstGeom>
          <a:noFill/>
        </p:spPr>
        <p:txBody>
          <a:bodyPr wrap="none" lIns="0" rIns="0" tIns="0" bIns="0">
            <a:spAutoFit/>
          </a:bodyPr>
          <a:lstStyle/>
          <a:p>
            <a:pPr>
              <a:defRPr sz="1600" b="0">
                <a:solidFill>
                  <a:srgbClr val="53647B"/>
                </a:solidFill>
                <a:latin typeface="Segoe UI"/>
              </a:defRPr>
            </a:pPr>
            <a:r>
              <a:t>Feedback for later sessions</a:t>
            </a:r>
          </a:p>
        </p:txBody>
      </p:sp>
      <p:sp>
        <p:nvSpPr>
          <p:cNvPr id="31" name="Rectangle 30"/>
          <p:cNvSpPr/>
          <p:nvPr/>
        </p:nvSpPr>
        <p:spPr>
          <a:xfrm>
            <a:off x="685800" y="5397500"/>
            <a:ext cx="10820400" cy="546100"/>
          </a:xfrm>
          <a:prstGeom prst="rect">
            <a:avLst/>
          </a:prstGeom>
          <a:solidFill>
            <a:srgbClr val="F2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76300" y="5537200"/>
            <a:ext cx="10477500" cy="302260"/>
          </a:xfrm>
          <a:prstGeom prst="rect">
            <a:avLst/>
          </a:prstGeom>
          <a:noFill/>
        </p:spPr>
        <p:txBody>
          <a:bodyPr wrap="none" lIns="0" rIns="0" tIns="0" bIns="0">
            <a:spAutoFit/>
          </a:bodyPr>
          <a:lstStyle/>
          <a:p>
            <a:pPr>
              <a:defRPr sz="1600" b="0">
                <a:solidFill>
                  <a:srgbClr val="182B49"/>
                </a:solidFill>
                <a:latin typeface="Segoe UI"/>
              </a:defRPr>
            </a:pPr>
            <a:r>
              <a:t>Objective: personalized exercise selection with clear, inspectable ranking reasons.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279400"/>
            <a:ext cx="330200" cy="38100"/>
          </a:xfrm>
          <a:prstGeom prst="rect">
            <a:avLst/>
          </a:prstGeom>
          <a:solidFill>
            <a:srgbClr val="326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350000"/>
            <a:ext cx="10820400" cy="12700"/>
          </a:xfrm>
          <a:prstGeom prst="rect">
            <a:avLst/>
          </a:prstGeom>
          <a:solidFill>
            <a:srgbClr val="DFE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406400"/>
            <a:ext cx="10833100" cy="203200"/>
          </a:xfrm>
          <a:prstGeom prst="rect">
            <a:avLst/>
          </a:prstGeom>
          <a:noFill/>
        </p:spPr>
        <p:txBody>
          <a:bodyPr wrap="none" lIns="0" rIns="0" tIns="0" bIns="0">
            <a:spAutoFit/>
          </a:bodyPr>
          <a:lstStyle/>
          <a:p>
            <a:pPr>
              <a:defRPr sz="1000" b="1">
                <a:solidFill>
                  <a:srgbClr val="3268C8"/>
                </a:solidFill>
                <a:latin typeface="Segoe UI"/>
              </a:defRPr>
            </a:pPr>
            <a:r>
              <a:t>02 / APP SCOPE</a:t>
            </a:r>
          </a:p>
        </p:txBody>
      </p:sp>
      <p:sp>
        <p:nvSpPr>
          <p:cNvPr id="6" name="TextBox 5"/>
          <p:cNvSpPr txBox="1"/>
          <p:nvPr/>
        </p:nvSpPr>
        <p:spPr>
          <a:xfrm>
            <a:off x="685800" y="838200"/>
            <a:ext cx="10833100" cy="549910"/>
          </a:xfrm>
          <a:prstGeom prst="rect">
            <a:avLst/>
          </a:prstGeom>
          <a:noFill/>
        </p:spPr>
        <p:txBody>
          <a:bodyPr wrap="none" lIns="0" rIns="0" tIns="0" bIns="0">
            <a:spAutoFit/>
          </a:bodyPr>
          <a:lstStyle/>
          <a:p>
            <a:pPr>
              <a:defRPr sz="3100" b="1">
                <a:solidFill>
                  <a:srgbClr val="182B49"/>
                </a:solidFill>
                <a:latin typeface="Segoe UI"/>
              </a:defRPr>
            </a:pPr>
            <a:r>
              <a:t>Three methods. One clear workout builder.</a:t>
            </a:r>
          </a:p>
        </p:txBody>
      </p:sp>
      <p:sp>
        <p:nvSpPr>
          <p:cNvPr id="7" name="TextBox 6"/>
          <p:cNvSpPr txBox="1"/>
          <p:nvPr/>
        </p:nvSpPr>
        <p:spPr>
          <a:xfrm>
            <a:off x="685800" y="6489700"/>
            <a:ext cx="3848100" cy="170180"/>
          </a:xfrm>
          <a:prstGeom prst="rect">
            <a:avLst/>
          </a:prstGeom>
          <a:noFill/>
        </p:spPr>
        <p:txBody>
          <a:bodyPr wrap="none" lIns="0" rIns="0" tIns="0" bIns="0">
            <a:spAutoFit/>
          </a:bodyPr>
          <a:lstStyle/>
          <a:p>
            <a:pPr>
              <a:defRPr sz="800" b="0">
                <a:solidFill>
                  <a:srgbClr val="53647B"/>
                </a:solidFill>
                <a:latin typeface="Segoe UI"/>
              </a:defRPr>
            </a:pPr>
            <a:r>
              <a:t>GYM WORKOUT RECOMMENDER</a:t>
            </a:r>
          </a:p>
        </p:txBody>
      </p:sp>
      <p:sp>
        <p:nvSpPr>
          <p:cNvPr id="8" name="TextBox 7"/>
          <p:cNvSpPr txBox="1"/>
          <p:nvPr/>
        </p:nvSpPr>
        <p:spPr>
          <a:xfrm>
            <a:off x="10858500" y="6489700"/>
            <a:ext cx="800100" cy="186690"/>
          </a:xfrm>
          <a:prstGeom prst="rect">
            <a:avLst/>
          </a:prstGeom>
          <a:noFill/>
        </p:spPr>
        <p:txBody>
          <a:bodyPr wrap="none" lIns="0" rIns="0" tIns="0" bIns="0">
            <a:spAutoFit/>
          </a:bodyPr>
          <a:lstStyle/>
          <a:p>
            <a:pPr>
              <a:defRPr sz="900" b="0">
                <a:solidFill>
                  <a:srgbClr val="53647B"/>
                </a:solidFill>
                <a:latin typeface="Segoe UI"/>
              </a:defRPr>
            </a:pPr>
            <a:r>
              <a:t>03 / 16</a:t>
            </a:r>
          </a:p>
        </p:txBody>
      </p:sp>
      <p:sp>
        <p:nvSpPr>
          <p:cNvPr id="9" name="TextBox 8"/>
          <p:cNvSpPr txBox="1"/>
          <p:nvPr/>
        </p:nvSpPr>
        <p:spPr>
          <a:xfrm>
            <a:off x="685800" y="6146800"/>
            <a:ext cx="10642600" cy="186690"/>
          </a:xfrm>
          <a:prstGeom prst="rect">
            <a:avLst/>
          </a:prstGeom>
          <a:noFill/>
        </p:spPr>
        <p:txBody>
          <a:bodyPr wrap="none" lIns="0" rIns="0" tIns="0" bIns="0">
            <a:spAutoFit/>
          </a:bodyPr>
          <a:lstStyle/>
          <a:p>
            <a:pPr>
              <a:defRPr sz="900" b="0">
                <a:solidFill>
                  <a:srgbClr val="53647B"/>
                </a:solidFill>
                <a:latin typeface="Segoe UI"/>
              </a:defRPr>
            </a:pPr>
            <a:r>
              <a:t>app.py — Recommendation method; engine.py — METHODS</a:t>
            </a:r>
          </a:p>
        </p:txBody>
      </p:sp>
      <p:sp>
        <p:nvSpPr>
          <p:cNvPr id="10" name="Rectangle 9"/>
          <p:cNvSpPr/>
          <p:nvPr/>
        </p:nvSpPr>
        <p:spPr>
          <a:xfrm>
            <a:off x="685800" y="2019300"/>
            <a:ext cx="3479800" cy="2679700"/>
          </a:xfrm>
          <a:prstGeom prst="rect">
            <a:avLst/>
          </a:prstGeom>
          <a:solidFill>
            <a:srgbClr val="F2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14400" y="2171700"/>
            <a:ext cx="279400" cy="25400"/>
          </a:xfrm>
          <a:prstGeom prst="rect">
            <a:avLst/>
          </a:prstGeom>
          <a:solidFill>
            <a:srgbClr val="326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311400"/>
            <a:ext cx="3060700" cy="335280"/>
          </a:xfrm>
          <a:prstGeom prst="rect">
            <a:avLst/>
          </a:prstGeom>
          <a:noFill/>
        </p:spPr>
        <p:txBody>
          <a:bodyPr wrap="none" lIns="0" rIns="0" tIns="0" bIns="0">
            <a:spAutoFit/>
          </a:bodyPr>
          <a:lstStyle/>
          <a:p>
            <a:pPr>
              <a:defRPr sz="1800" b="1">
                <a:solidFill>
                  <a:srgbClr val="182B49"/>
                </a:solidFill>
                <a:latin typeface="Segoe UI"/>
              </a:defRPr>
            </a:pPr>
            <a:r>
              <a:t>Content-based</a:t>
            </a:r>
          </a:p>
        </p:txBody>
      </p:sp>
      <p:sp>
        <p:nvSpPr>
          <p:cNvPr id="13" name="TextBox 12"/>
          <p:cNvSpPr txBox="1"/>
          <p:nvPr/>
        </p:nvSpPr>
        <p:spPr>
          <a:xfrm>
            <a:off x="914400" y="2768600"/>
            <a:ext cx="3060700" cy="302260"/>
          </a:xfrm>
          <a:prstGeom prst="rect">
            <a:avLst/>
          </a:prstGeom>
          <a:noFill/>
        </p:spPr>
        <p:txBody>
          <a:bodyPr wrap="none" lIns="0" rIns="0" tIns="0" bIns="0">
            <a:spAutoFit/>
          </a:bodyPr>
          <a:lstStyle/>
          <a:p>
            <a:pPr>
              <a:defRPr sz="1600" b="0">
                <a:solidFill>
                  <a:srgbClr val="53647B"/>
                </a:solidFill>
                <a:latin typeface="Segoe UI"/>
              </a:defRPr>
            </a:pPr>
            <a:r>
              <a:t>Matches exercise attributes to</a:t>
            </a:r>
          </a:p>
        </p:txBody>
      </p:sp>
      <p:sp>
        <p:nvSpPr>
          <p:cNvPr id="14" name="TextBox 13"/>
          <p:cNvSpPr txBox="1"/>
          <p:nvPr/>
        </p:nvSpPr>
        <p:spPr>
          <a:xfrm>
            <a:off x="914400" y="3032760"/>
            <a:ext cx="3060700" cy="302260"/>
          </a:xfrm>
          <a:prstGeom prst="rect">
            <a:avLst/>
          </a:prstGeom>
          <a:noFill/>
        </p:spPr>
        <p:txBody>
          <a:bodyPr wrap="none" lIns="0" rIns="0" tIns="0" bIns="0">
            <a:spAutoFit/>
          </a:bodyPr>
          <a:lstStyle/>
          <a:p>
            <a:pPr>
              <a:defRPr sz="1600" b="0">
                <a:solidFill>
                  <a:srgbClr val="53647B"/>
                </a:solidFill>
                <a:latin typeface="Segoe UI"/>
              </a:defRPr>
            </a:pPr>
            <a:r>
              <a:t>your goal and liked exercises.</a:t>
            </a:r>
          </a:p>
        </p:txBody>
      </p:sp>
      <p:sp>
        <p:nvSpPr>
          <p:cNvPr id="15" name="Rectangle 14"/>
          <p:cNvSpPr/>
          <p:nvPr/>
        </p:nvSpPr>
        <p:spPr>
          <a:xfrm>
            <a:off x="4356100" y="2019300"/>
            <a:ext cx="3479800" cy="2679700"/>
          </a:xfrm>
          <a:prstGeom prst="rect">
            <a:avLst/>
          </a:prstGeom>
          <a:solidFill>
            <a:srgbClr val="F2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84700" y="2171700"/>
            <a:ext cx="279400" cy="25400"/>
          </a:xfrm>
          <a:prstGeom prst="rect">
            <a:avLst/>
          </a:prstGeom>
          <a:solidFill>
            <a:srgbClr val="326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84700" y="2311400"/>
            <a:ext cx="3060700" cy="335280"/>
          </a:xfrm>
          <a:prstGeom prst="rect">
            <a:avLst/>
          </a:prstGeom>
          <a:noFill/>
        </p:spPr>
        <p:txBody>
          <a:bodyPr wrap="none" lIns="0" rIns="0" tIns="0" bIns="0">
            <a:spAutoFit/>
          </a:bodyPr>
          <a:lstStyle/>
          <a:p>
            <a:pPr>
              <a:defRPr sz="1800" b="1">
                <a:solidFill>
                  <a:srgbClr val="182B49"/>
                </a:solidFill>
                <a:latin typeface="Segoe UI"/>
              </a:defRPr>
            </a:pPr>
            <a:r>
              <a:t>Context-aware</a:t>
            </a:r>
          </a:p>
        </p:txBody>
      </p:sp>
      <p:sp>
        <p:nvSpPr>
          <p:cNvPr id="18" name="TextBox 17"/>
          <p:cNvSpPr txBox="1"/>
          <p:nvPr/>
        </p:nvSpPr>
        <p:spPr>
          <a:xfrm>
            <a:off x="4584700" y="2768600"/>
            <a:ext cx="3060700" cy="302260"/>
          </a:xfrm>
          <a:prstGeom prst="rect">
            <a:avLst/>
          </a:prstGeom>
          <a:noFill/>
        </p:spPr>
        <p:txBody>
          <a:bodyPr wrap="none" lIns="0" rIns="0" tIns="0" bIns="0">
            <a:spAutoFit/>
          </a:bodyPr>
          <a:lstStyle/>
          <a:p>
            <a:pPr>
              <a:defRPr sz="1600" b="0">
                <a:solidFill>
                  <a:srgbClr val="53647B"/>
                </a:solidFill>
                <a:latin typeface="Segoe UI"/>
              </a:defRPr>
            </a:pPr>
            <a:r>
              <a:t>Uses goal/experience rules and</a:t>
            </a:r>
          </a:p>
        </p:txBody>
      </p:sp>
      <p:sp>
        <p:nvSpPr>
          <p:cNvPr id="19" name="TextBox 18"/>
          <p:cNvSpPr txBox="1"/>
          <p:nvPr/>
        </p:nvSpPr>
        <p:spPr>
          <a:xfrm>
            <a:off x="4584700" y="3032760"/>
            <a:ext cx="3060700" cy="302260"/>
          </a:xfrm>
          <a:prstGeom prst="rect">
            <a:avLst/>
          </a:prstGeom>
          <a:noFill/>
        </p:spPr>
        <p:txBody>
          <a:bodyPr wrap="none" lIns="0" rIns="0" tIns="0" bIns="0">
            <a:spAutoFit/>
          </a:bodyPr>
          <a:lstStyle/>
          <a:p>
            <a:pPr>
              <a:defRPr sz="1600" b="0">
                <a:solidFill>
                  <a:srgbClr val="53647B"/>
                </a:solidFill>
                <a:latin typeface="Segoe UI"/>
              </a:defRPr>
            </a:pPr>
            <a:r>
              <a:t>personal completion history.</a:t>
            </a:r>
          </a:p>
        </p:txBody>
      </p:sp>
      <p:sp>
        <p:nvSpPr>
          <p:cNvPr id="20" name="Rectangle 19"/>
          <p:cNvSpPr/>
          <p:nvPr/>
        </p:nvSpPr>
        <p:spPr>
          <a:xfrm>
            <a:off x="8026400" y="2019300"/>
            <a:ext cx="3479800" cy="2679700"/>
          </a:xfrm>
          <a:prstGeom prst="rect">
            <a:avLst/>
          </a:prstGeom>
          <a:solidFill>
            <a:srgbClr val="F2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55000" y="2171700"/>
            <a:ext cx="279400" cy="25400"/>
          </a:xfrm>
          <a:prstGeom prst="rect">
            <a:avLst/>
          </a:prstGeom>
          <a:solidFill>
            <a:srgbClr val="326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55000" y="2311400"/>
            <a:ext cx="3060700" cy="335280"/>
          </a:xfrm>
          <a:prstGeom prst="rect">
            <a:avLst/>
          </a:prstGeom>
          <a:noFill/>
        </p:spPr>
        <p:txBody>
          <a:bodyPr wrap="none" lIns="0" rIns="0" tIns="0" bIns="0">
            <a:spAutoFit/>
          </a:bodyPr>
          <a:lstStyle/>
          <a:p>
            <a:pPr>
              <a:defRPr sz="1800" b="1">
                <a:solidFill>
                  <a:srgbClr val="182B49"/>
                </a:solidFill>
                <a:latin typeface="Segoe UI"/>
              </a:defRPr>
            </a:pPr>
            <a:r>
              <a:t>Hybrid</a:t>
            </a:r>
          </a:p>
        </p:txBody>
      </p:sp>
      <p:sp>
        <p:nvSpPr>
          <p:cNvPr id="23" name="TextBox 22"/>
          <p:cNvSpPr txBox="1"/>
          <p:nvPr/>
        </p:nvSpPr>
        <p:spPr>
          <a:xfrm>
            <a:off x="8255000" y="2768600"/>
            <a:ext cx="3060700" cy="302260"/>
          </a:xfrm>
          <a:prstGeom prst="rect">
            <a:avLst/>
          </a:prstGeom>
          <a:noFill/>
        </p:spPr>
        <p:txBody>
          <a:bodyPr wrap="none" lIns="0" rIns="0" tIns="0" bIns="0">
            <a:spAutoFit/>
          </a:bodyPr>
          <a:lstStyle/>
          <a:p>
            <a:pPr>
              <a:defRPr sz="1600" b="0">
                <a:solidFill>
                  <a:srgbClr val="53647B"/>
                </a:solidFill>
                <a:latin typeface="Segoe UI"/>
              </a:defRPr>
            </a:pPr>
            <a:r>
              <a:t>Combines content, rating</a:t>
            </a:r>
          </a:p>
        </p:txBody>
      </p:sp>
      <p:sp>
        <p:nvSpPr>
          <p:cNvPr id="24" name="TextBox 23"/>
          <p:cNvSpPr txBox="1"/>
          <p:nvPr/>
        </p:nvSpPr>
        <p:spPr>
          <a:xfrm>
            <a:off x="8255000" y="3032760"/>
            <a:ext cx="3060700" cy="302260"/>
          </a:xfrm>
          <a:prstGeom prst="rect">
            <a:avLst/>
          </a:prstGeom>
          <a:noFill/>
        </p:spPr>
        <p:txBody>
          <a:bodyPr wrap="none" lIns="0" rIns="0" tIns="0" bIns="0">
            <a:spAutoFit/>
          </a:bodyPr>
          <a:lstStyle/>
          <a:p>
            <a:pPr>
              <a:defRPr sz="1600" b="0">
                <a:solidFill>
                  <a:srgbClr val="53647B"/>
                </a:solidFill>
                <a:latin typeface="Segoe UI"/>
              </a:defRPr>
            </a:pPr>
            <a:r>
              <a:t>evidence, knowledge and</a:t>
            </a:r>
          </a:p>
        </p:txBody>
      </p:sp>
      <p:sp>
        <p:nvSpPr>
          <p:cNvPr id="25" name="TextBox 24"/>
          <p:cNvSpPr txBox="1"/>
          <p:nvPr/>
        </p:nvSpPr>
        <p:spPr>
          <a:xfrm>
            <a:off x="8255000" y="3296920"/>
            <a:ext cx="3060700" cy="302260"/>
          </a:xfrm>
          <a:prstGeom prst="rect">
            <a:avLst/>
          </a:prstGeom>
          <a:noFill/>
        </p:spPr>
        <p:txBody>
          <a:bodyPr wrap="none" lIns="0" rIns="0" tIns="0" bIns="0">
            <a:spAutoFit/>
          </a:bodyPr>
          <a:lstStyle/>
          <a:p>
            <a:pPr>
              <a:defRPr sz="1600" b="0">
                <a:solidFill>
                  <a:srgbClr val="53647B"/>
                </a:solidFill>
                <a:latin typeface="Segoe UI"/>
              </a:defRPr>
            </a:pPr>
            <a:r>
              <a:t>context.</a:t>
            </a:r>
          </a:p>
        </p:txBody>
      </p:sp>
      <p:sp>
        <p:nvSpPr>
          <p:cNvPr id="26" name="TextBox 25"/>
          <p:cNvSpPr txBox="1"/>
          <p:nvPr/>
        </p:nvSpPr>
        <p:spPr>
          <a:xfrm>
            <a:off x="685800" y="5041900"/>
            <a:ext cx="10706100" cy="384810"/>
          </a:xfrm>
          <a:prstGeom prst="rect">
            <a:avLst/>
          </a:prstGeom>
          <a:noFill/>
        </p:spPr>
        <p:txBody>
          <a:bodyPr wrap="none" lIns="0" rIns="0" tIns="0" bIns="0">
            <a:spAutoFit/>
          </a:bodyPr>
          <a:lstStyle/>
          <a:p>
            <a:pPr>
              <a:defRPr sz="2100" b="1">
                <a:solidFill>
                  <a:srgbClr val="182B49"/>
                </a:solidFill>
                <a:latin typeface="Segoe UI"/>
              </a:defRPr>
            </a:pPr>
            <a:r>
              <a:t>Goal and experience are separate choices.</a:t>
            </a:r>
          </a:p>
        </p:txBody>
      </p:sp>
      <p:sp>
        <p:nvSpPr>
          <p:cNvPr id="27" name="Rectangle 26"/>
          <p:cNvSpPr/>
          <p:nvPr/>
        </p:nvSpPr>
        <p:spPr>
          <a:xfrm>
            <a:off x="685800" y="5397500"/>
            <a:ext cx="10820400" cy="546100"/>
          </a:xfrm>
          <a:prstGeom prst="rect">
            <a:avLst/>
          </a:prstGeom>
          <a:solidFill>
            <a:srgbClr val="F2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76300" y="5537200"/>
            <a:ext cx="10477500" cy="302260"/>
          </a:xfrm>
          <a:prstGeom prst="rect">
            <a:avLst/>
          </a:prstGeom>
          <a:noFill/>
        </p:spPr>
        <p:txBody>
          <a:bodyPr wrap="none" lIns="0" rIns="0" tIns="0" bIns="0">
            <a:spAutoFit/>
          </a:bodyPr>
          <a:lstStyle/>
          <a:p>
            <a:pPr>
              <a:defRPr sz="1600" b="0">
                <a:solidFill>
                  <a:srgbClr val="182B49"/>
                </a:solidFill>
                <a:latin typeface="Segoe UI"/>
              </a:defRPr>
            </a:pPr>
            <a:r>
              <a:t>General Fitness / Weight Loss / Muscle Gain / Strength • Beginner / Intermediate / Advanced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279400"/>
            <a:ext cx="330200" cy="38100"/>
          </a:xfrm>
          <a:prstGeom prst="rect">
            <a:avLst/>
          </a:prstGeom>
          <a:solidFill>
            <a:srgbClr val="326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350000"/>
            <a:ext cx="10820400" cy="12700"/>
          </a:xfrm>
          <a:prstGeom prst="rect">
            <a:avLst/>
          </a:prstGeom>
          <a:solidFill>
            <a:srgbClr val="DFE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406400"/>
            <a:ext cx="10833100" cy="203200"/>
          </a:xfrm>
          <a:prstGeom prst="rect">
            <a:avLst/>
          </a:prstGeom>
          <a:noFill/>
        </p:spPr>
        <p:txBody>
          <a:bodyPr wrap="none" lIns="0" rIns="0" tIns="0" bIns="0">
            <a:spAutoFit/>
          </a:bodyPr>
          <a:lstStyle/>
          <a:p>
            <a:pPr>
              <a:defRPr sz="1000" b="1">
                <a:solidFill>
                  <a:srgbClr val="3268C8"/>
                </a:solidFill>
                <a:latin typeface="Segoe UI"/>
              </a:defRPr>
            </a:pPr>
            <a:r>
              <a:t>03 / DATA</a:t>
            </a:r>
          </a:p>
        </p:txBody>
      </p:sp>
      <p:sp>
        <p:nvSpPr>
          <p:cNvPr id="6" name="TextBox 5"/>
          <p:cNvSpPr txBox="1"/>
          <p:nvPr/>
        </p:nvSpPr>
        <p:spPr>
          <a:xfrm>
            <a:off x="685800" y="838200"/>
            <a:ext cx="10833100" cy="549910"/>
          </a:xfrm>
          <a:prstGeom prst="rect">
            <a:avLst/>
          </a:prstGeom>
          <a:noFill/>
        </p:spPr>
        <p:txBody>
          <a:bodyPr wrap="none" lIns="0" rIns="0" tIns="0" bIns="0">
            <a:spAutoFit/>
          </a:bodyPr>
          <a:lstStyle/>
          <a:p>
            <a:pPr>
              <a:defRPr sz="3100" b="1">
                <a:solidFill>
                  <a:srgbClr val="182B49"/>
                </a:solidFill>
                <a:latin typeface="Segoe UI"/>
              </a:defRPr>
            </a:pPr>
            <a:r>
              <a:t>One catalogue, separate sources of evidence.</a:t>
            </a:r>
          </a:p>
        </p:txBody>
      </p:sp>
      <p:sp>
        <p:nvSpPr>
          <p:cNvPr id="7" name="TextBox 6"/>
          <p:cNvSpPr txBox="1"/>
          <p:nvPr/>
        </p:nvSpPr>
        <p:spPr>
          <a:xfrm>
            <a:off x="685800" y="6489700"/>
            <a:ext cx="3848100" cy="170180"/>
          </a:xfrm>
          <a:prstGeom prst="rect">
            <a:avLst/>
          </a:prstGeom>
          <a:noFill/>
        </p:spPr>
        <p:txBody>
          <a:bodyPr wrap="none" lIns="0" rIns="0" tIns="0" bIns="0">
            <a:spAutoFit/>
          </a:bodyPr>
          <a:lstStyle/>
          <a:p>
            <a:pPr>
              <a:defRPr sz="800" b="0">
                <a:solidFill>
                  <a:srgbClr val="53647B"/>
                </a:solidFill>
                <a:latin typeface="Segoe UI"/>
              </a:defRPr>
            </a:pPr>
            <a:r>
              <a:t>GYM WORKOUT RECOMMENDER</a:t>
            </a:r>
          </a:p>
        </p:txBody>
      </p:sp>
      <p:sp>
        <p:nvSpPr>
          <p:cNvPr id="8" name="TextBox 7"/>
          <p:cNvSpPr txBox="1"/>
          <p:nvPr/>
        </p:nvSpPr>
        <p:spPr>
          <a:xfrm>
            <a:off x="10858500" y="6489700"/>
            <a:ext cx="800100" cy="186690"/>
          </a:xfrm>
          <a:prstGeom prst="rect">
            <a:avLst/>
          </a:prstGeom>
          <a:noFill/>
        </p:spPr>
        <p:txBody>
          <a:bodyPr wrap="none" lIns="0" rIns="0" tIns="0" bIns="0">
            <a:spAutoFit/>
          </a:bodyPr>
          <a:lstStyle/>
          <a:p>
            <a:pPr>
              <a:defRPr sz="900" b="0">
                <a:solidFill>
                  <a:srgbClr val="53647B"/>
                </a:solidFill>
                <a:latin typeface="Segoe UI"/>
              </a:defRPr>
            </a:pPr>
            <a:r>
              <a:t>04 / 16</a:t>
            </a:r>
          </a:p>
        </p:txBody>
      </p:sp>
      <p:sp>
        <p:nvSpPr>
          <p:cNvPr id="9" name="TextBox 8"/>
          <p:cNvSpPr txBox="1"/>
          <p:nvPr/>
        </p:nvSpPr>
        <p:spPr>
          <a:xfrm>
            <a:off x="685800" y="6146800"/>
            <a:ext cx="10642600" cy="186690"/>
          </a:xfrm>
          <a:prstGeom prst="rect">
            <a:avLst/>
          </a:prstGeom>
          <a:noFill/>
        </p:spPr>
        <p:txBody>
          <a:bodyPr wrap="none" lIns="0" rIns="0" tIns="0" bIns="0">
            <a:spAutoFit/>
          </a:bodyPr>
          <a:lstStyle/>
          <a:p>
            <a:pPr>
              <a:defRPr sz="900" b="0">
                <a:solidFill>
                  <a:srgbClr val="53647B"/>
                </a:solidFill>
                <a:latin typeface="Segoe UI"/>
              </a:defRPr>
            </a:pPr>
            <a:r>
              <a:t>docs/DATA_SOURCES.md; reports/data_quality.json; storage.py</a:t>
            </a:r>
          </a:p>
        </p:txBody>
      </p:sp>
      <p:sp>
        <p:nvSpPr>
          <p:cNvPr id="10" name="TextBox 9"/>
          <p:cNvSpPr txBox="1"/>
          <p:nvPr/>
        </p:nvSpPr>
        <p:spPr>
          <a:xfrm>
            <a:off x="685800" y="1930400"/>
            <a:ext cx="3467100" cy="797560"/>
          </a:xfrm>
          <a:prstGeom prst="rect">
            <a:avLst/>
          </a:prstGeom>
          <a:noFill/>
        </p:spPr>
        <p:txBody>
          <a:bodyPr wrap="none" lIns="0" rIns="0" tIns="0" bIns="0">
            <a:spAutoFit/>
          </a:bodyPr>
          <a:lstStyle/>
          <a:p>
            <a:pPr>
              <a:defRPr sz="4600" b="1">
                <a:solidFill>
                  <a:srgbClr val="3268C8"/>
                </a:solidFill>
                <a:latin typeface="Segoe UI"/>
              </a:defRPr>
            </a:pPr>
            <a:r>
              <a:t>2,872</a:t>
            </a:r>
          </a:p>
        </p:txBody>
      </p:sp>
      <p:sp>
        <p:nvSpPr>
          <p:cNvPr id="11" name="TextBox 10"/>
          <p:cNvSpPr txBox="1"/>
          <p:nvPr/>
        </p:nvSpPr>
        <p:spPr>
          <a:xfrm>
            <a:off x="685800" y="2717800"/>
            <a:ext cx="3467100" cy="318770"/>
          </a:xfrm>
          <a:prstGeom prst="rect">
            <a:avLst/>
          </a:prstGeom>
          <a:noFill/>
        </p:spPr>
        <p:txBody>
          <a:bodyPr wrap="none" lIns="0" rIns="0" tIns="0" bIns="0">
            <a:spAutoFit/>
          </a:bodyPr>
          <a:lstStyle/>
          <a:p>
            <a:pPr>
              <a:defRPr sz="1700" b="0">
                <a:solidFill>
                  <a:srgbClr val="53647B"/>
                </a:solidFill>
                <a:latin typeface="Segoe UI"/>
              </a:defRPr>
            </a:pPr>
            <a:r>
              <a:t>unique exercise entries</a:t>
            </a:r>
          </a:p>
        </p:txBody>
      </p:sp>
      <p:sp>
        <p:nvSpPr>
          <p:cNvPr id="12" name="TextBox 11"/>
          <p:cNvSpPr txBox="1"/>
          <p:nvPr/>
        </p:nvSpPr>
        <p:spPr>
          <a:xfrm>
            <a:off x="4356100" y="1930400"/>
            <a:ext cx="3467100" cy="797560"/>
          </a:xfrm>
          <a:prstGeom prst="rect">
            <a:avLst/>
          </a:prstGeom>
          <a:noFill/>
        </p:spPr>
        <p:txBody>
          <a:bodyPr wrap="none" lIns="0" rIns="0" tIns="0" bIns="0">
            <a:spAutoFit/>
          </a:bodyPr>
          <a:lstStyle/>
          <a:p>
            <a:pPr>
              <a:defRPr sz="4600" b="1">
                <a:solidFill>
                  <a:srgbClr val="3268C8"/>
                </a:solidFill>
                <a:latin typeface="Segoe UI"/>
              </a:defRPr>
            </a:pPr>
            <a:r>
              <a:t>580</a:t>
            </a:r>
          </a:p>
        </p:txBody>
      </p:sp>
      <p:sp>
        <p:nvSpPr>
          <p:cNvPr id="13" name="TextBox 12"/>
          <p:cNvSpPr txBox="1"/>
          <p:nvPr/>
        </p:nvSpPr>
        <p:spPr>
          <a:xfrm>
            <a:off x="4356100" y="2717800"/>
            <a:ext cx="3467100" cy="318770"/>
          </a:xfrm>
          <a:prstGeom prst="rect">
            <a:avLst/>
          </a:prstGeom>
          <a:noFill/>
        </p:spPr>
        <p:txBody>
          <a:bodyPr wrap="none" lIns="0" rIns="0" tIns="0" bIns="0">
            <a:spAutoFit/>
          </a:bodyPr>
          <a:lstStyle/>
          <a:p>
            <a:pPr>
              <a:defRPr sz="1700" b="0">
                <a:solidFill>
                  <a:srgbClr val="53647B"/>
                </a:solidFill>
                <a:latin typeface="Segoe UI"/>
              </a:defRPr>
            </a:pPr>
            <a:r>
              <a:t>instruction matches</a:t>
            </a:r>
          </a:p>
        </p:txBody>
      </p:sp>
      <p:sp>
        <p:nvSpPr>
          <p:cNvPr id="14" name="TextBox 13"/>
          <p:cNvSpPr txBox="1"/>
          <p:nvPr/>
        </p:nvSpPr>
        <p:spPr>
          <a:xfrm>
            <a:off x="8026400" y="1930400"/>
            <a:ext cx="3467100" cy="797560"/>
          </a:xfrm>
          <a:prstGeom prst="rect">
            <a:avLst/>
          </a:prstGeom>
          <a:noFill/>
        </p:spPr>
        <p:txBody>
          <a:bodyPr wrap="none" lIns="0" rIns="0" tIns="0" bIns="0">
            <a:spAutoFit/>
          </a:bodyPr>
          <a:lstStyle/>
          <a:p>
            <a:pPr>
              <a:defRPr sz="4600" b="1">
                <a:solidFill>
                  <a:srgbClr val="3268C8"/>
                </a:solidFill>
                <a:latin typeface="Segoe UI"/>
              </a:defRPr>
            </a:pPr>
            <a:r>
              <a:t>24</a:t>
            </a:r>
          </a:p>
        </p:txBody>
      </p:sp>
      <p:sp>
        <p:nvSpPr>
          <p:cNvPr id="15" name="TextBox 14"/>
          <p:cNvSpPr txBox="1"/>
          <p:nvPr/>
        </p:nvSpPr>
        <p:spPr>
          <a:xfrm>
            <a:off x="8026400" y="2717800"/>
            <a:ext cx="3467100" cy="318770"/>
          </a:xfrm>
          <a:prstGeom prst="rect">
            <a:avLst/>
          </a:prstGeom>
          <a:noFill/>
        </p:spPr>
        <p:txBody>
          <a:bodyPr wrap="none" lIns="0" rIns="0" tIns="0" bIns="0">
            <a:spAutoFit/>
          </a:bodyPr>
          <a:lstStyle/>
          <a:p>
            <a:pPr>
              <a:defRPr sz="1700" b="0">
                <a:solidFill>
                  <a:srgbClr val="53647B"/>
                </a:solidFill>
                <a:latin typeface="Segoe UI"/>
              </a:defRPr>
            </a:pPr>
            <a:r>
              <a:t>exercises with local photos</a:t>
            </a:r>
          </a:p>
        </p:txBody>
      </p:sp>
      <p:sp>
        <p:nvSpPr>
          <p:cNvPr id="16" name="Rectangle 15"/>
          <p:cNvSpPr/>
          <p:nvPr/>
        </p:nvSpPr>
        <p:spPr>
          <a:xfrm>
            <a:off x="685800" y="3416300"/>
            <a:ext cx="5219700" cy="2235200"/>
          </a:xfrm>
          <a:prstGeom prst="rect">
            <a:avLst/>
          </a:prstGeom>
          <a:solidFill>
            <a:srgbClr val="F2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4400" y="3568700"/>
            <a:ext cx="279400" cy="25400"/>
          </a:xfrm>
          <a:prstGeom prst="rect">
            <a:avLst/>
          </a:prstGeom>
          <a:solidFill>
            <a:srgbClr val="326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708400"/>
            <a:ext cx="4800600" cy="335280"/>
          </a:xfrm>
          <a:prstGeom prst="rect">
            <a:avLst/>
          </a:prstGeom>
          <a:noFill/>
        </p:spPr>
        <p:txBody>
          <a:bodyPr wrap="none" lIns="0" rIns="0" tIns="0" bIns="0">
            <a:spAutoFit/>
          </a:bodyPr>
          <a:lstStyle/>
          <a:p>
            <a:pPr>
              <a:defRPr sz="1800" b="1">
                <a:solidFill>
                  <a:srgbClr val="182B49"/>
                </a:solidFill>
                <a:latin typeface="Segoe UI"/>
              </a:defRPr>
            </a:pPr>
            <a:r>
              <a:t>Exercise catalogue</a:t>
            </a:r>
          </a:p>
        </p:txBody>
      </p:sp>
      <p:sp>
        <p:nvSpPr>
          <p:cNvPr id="19" name="TextBox 18"/>
          <p:cNvSpPr txBox="1"/>
          <p:nvPr/>
        </p:nvSpPr>
        <p:spPr>
          <a:xfrm>
            <a:off x="914400" y="4165600"/>
            <a:ext cx="4800600" cy="302260"/>
          </a:xfrm>
          <a:prstGeom prst="rect">
            <a:avLst/>
          </a:prstGeom>
          <a:noFill/>
        </p:spPr>
        <p:txBody>
          <a:bodyPr wrap="none" lIns="0" rIns="0" tIns="0" bIns="0">
            <a:spAutoFit/>
          </a:bodyPr>
          <a:lstStyle/>
          <a:p>
            <a:pPr>
              <a:defRPr sz="1600" b="0">
                <a:solidFill>
                  <a:srgbClr val="53647B"/>
                </a:solidFill>
                <a:latin typeface="Segoe UI"/>
              </a:defRPr>
            </a:pPr>
            <a:r>
              <a:t>Kaggle exercise descriptions, muscles, equipment,</a:t>
            </a:r>
          </a:p>
        </p:txBody>
      </p:sp>
      <p:sp>
        <p:nvSpPr>
          <p:cNvPr id="20" name="TextBox 19"/>
          <p:cNvSpPr txBox="1"/>
          <p:nvPr/>
        </p:nvSpPr>
        <p:spPr>
          <a:xfrm>
            <a:off x="914400" y="4429760"/>
            <a:ext cx="4800600" cy="302260"/>
          </a:xfrm>
          <a:prstGeom prst="rect">
            <a:avLst/>
          </a:prstGeom>
          <a:noFill/>
        </p:spPr>
        <p:txBody>
          <a:bodyPr wrap="none" lIns="0" rIns="0" tIns="0" bIns="0">
            <a:spAutoFit/>
          </a:bodyPr>
          <a:lstStyle/>
          <a:p>
            <a:pPr>
              <a:defRPr sz="1600" b="0">
                <a:solidFill>
                  <a:srgbClr val="53647B"/>
                </a:solidFill>
                <a:latin typeface="Segoe UI"/>
              </a:defRPr>
            </a:pPr>
            <a:r>
              <a:t>levels and ratings.</a:t>
            </a:r>
          </a:p>
        </p:txBody>
      </p:sp>
      <p:sp>
        <p:nvSpPr>
          <p:cNvPr id="21" name="TextBox 20"/>
          <p:cNvSpPr txBox="1"/>
          <p:nvPr/>
        </p:nvSpPr>
        <p:spPr>
          <a:xfrm>
            <a:off x="914400" y="4693920"/>
            <a:ext cx="4800600" cy="302260"/>
          </a:xfrm>
          <a:prstGeom prst="rect">
            <a:avLst/>
          </a:prstGeom>
          <a:noFill/>
        </p:spPr>
        <p:txBody>
          <a:bodyPr wrap="none" lIns="0" rIns="0" tIns="0" bIns="0">
            <a:spAutoFit/>
          </a:bodyPr>
          <a:lstStyle/>
          <a:p>
            <a:pPr>
              <a:defRPr sz="1600" b="0">
                <a:solidFill>
                  <a:srgbClr val="53647B"/>
                </a:solidFill>
                <a:latin typeface="Segoe UI"/>
              </a:defRPr>
            </a:pPr>
            <a:r>
              <a:t>Detailed instructions are matched from Free Exercise</a:t>
            </a:r>
          </a:p>
        </p:txBody>
      </p:sp>
      <p:sp>
        <p:nvSpPr>
          <p:cNvPr id="22" name="TextBox 21"/>
          <p:cNvSpPr txBox="1"/>
          <p:nvPr/>
        </p:nvSpPr>
        <p:spPr>
          <a:xfrm>
            <a:off x="914400" y="4958080"/>
            <a:ext cx="4800600" cy="302260"/>
          </a:xfrm>
          <a:prstGeom prst="rect">
            <a:avLst/>
          </a:prstGeom>
          <a:noFill/>
        </p:spPr>
        <p:txBody>
          <a:bodyPr wrap="none" lIns="0" rIns="0" tIns="0" bIns="0">
            <a:spAutoFit/>
          </a:bodyPr>
          <a:lstStyle/>
          <a:p>
            <a:pPr>
              <a:defRPr sz="1600" b="0">
                <a:solidFill>
                  <a:srgbClr val="53647B"/>
                </a:solidFill>
                <a:latin typeface="Segoe UI"/>
              </a:defRPr>
            </a:pPr>
            <a:r>
              <a:t>DB.</a:t>
            </a:r>
          </a:p>
        </p:txBody>
      </p:sp>
      <p:sp>
        <p:nvSpPr>
          <p:cNvPr id="23" name="Rectangle 22"/>
          <p:cNvSpPr/>
          <p:nvPr/>
        </p:nvSpPr>
        <p:spPr>
          <a:xfrm>
            <a:off x="6134100" y="3416300"/>
            <a:ext cx="5372100" cy="2235200"/>
          </a:xfrm>
          <a:prstGeom prst="rect">
            <a:avLst/>
          </a:prstGeom>
          <a:solidFill>
            <a:srgbClr val="F2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362700" y="3568700"/>
            <a:ext cx="279400" cy="25400"/>
          </a:xfrm>
          <a:prstGeom prst="rect">
            <a:avLst/>
          </a:prstGeom>
          <a:solidFill>
            <a:srgbClr val="326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62700" y="3708400"/>
            <a:ext cx="4953000" cy="335280"/>
          </a:xfrm>
          <a:prstGeom prst="rect">
            <a:avLst/>
          </a:prstGeom>
          <a:noFill/>
        </p:spPr>
        <p:txBody>
          <a:bodyPr wrap="none" lIns="0" rIns="0" tIns="0" bIns="0">
            <a:spAutoFit/>
          </a:bodyPr>
          <a:lstStyle/>
          <a:p>
            <a:pPr>
              <a:defRPr sz="1800" b="1">
                <a:solidFill>
                  <a:srgbClr val="182B49"/>
                </a:solidFill>
                <a:latin typeface="Segoe UI"/>
              </a:defRPr>
            </a:pPr>
            <a:r>
              <a:t>Feedback and demonstrations</a:t>
            </a:r>
          </a:p>
        </p:txBody>
      </p:sp>
      <p:sp>
        <p:nvSpPr>
          <p:cNvPr id="26" name="TextBox 25"/>
          <p:cNvSpPr txBox="1"/>
          <p:nvPr/>
        </p:nvSpPr>
        <p:spPr>
          <a:xfrm>
            <a:off x="6362700" y="4165600"/>
            <a:ext cx="4953000" cy="302260"/>
          </a:xfrm>
          <a:prstGeom prst="rect">
            <a:avLst/>
          </a:prstGeom>
          <a:noFill/>
        </p:spPr>
        <p:txBody>
          <a:bodyPr wrap="none" lIns="0" rIns="0" tIns="0" bIns="0">
            <a:spAutoFit/>
          </a:bodyPr>
          <a:lstStyle/>
          <a:p>
            <a:pPr>
              <a:defRPr sz="1600" b="0">
                <a:solidFill>
                  <a:srgbClr val="53647B"/>
                </a:solidFill>
                <a:latin typeface="Segoe UI"/>
              </a:defRPr>
            </a:pPr>
            <a:r>
              <a:t>SQLite stores exercise ratings and completion.</a:t>
            </a:r>
          </a:p>
        </p:txBody>
      </p:sp>
      <p:sp>
        <p:nvSpPr>
          <p:cNvPr id="27" name="TextBox 26"/>
          <p:cNvSpPr txBox="1"/>
          <p:nvPr/>
        </p:nvSpPr>
        <p:spPr>
          <a:xfrm>
            <a:off x="6362700" y="4429760"/>
            <a:ext cx="4953000" cy="302260"/>
          </a:xfrm>
          <a:prstGeom prst="rect">
            <a:avLst/>
          </a:prstGeom>
          <a:noFill/>
        </p:spPr>
        <p:txBody>
          <a:bodyPr wrap="none" lIns="0" rIns="0" tIns="0" bIns="0">
            <a:spAutoFit/>
          </a:bodyPr>
          <a:lstStyle/>
          <a:p>
            <a:pPr>
              <a:defRPr sz="1600" b="0">
                <a:solidFill>
                  <a:srgbClr val="53647B"/>
                </a:solidFill>
                <a:latin typeface="Segoe UI"/>
              </a:defRPr>
            </a:pPr>
            <a:r>
              <a:t>48 local photos illustrate 24 matched exercises.</a:t>
            </a:r>
          </a:p>
        </p:txBody>
      </p:sp>
      <p:sp>
        <p:nvSpPr>
          <p:cNvPr id="28" name="TextBox 27"/>
          <p:cNvSpPr txBox="1"/>
          <p:nvPr/>
        </p:nvSpPr>
        <p:spPr>
          <a:xfrm>
            <a:off x="6362700" y="4693920"/>
            <a:ext cx="4953000" cy="302260"/>
          </a:xfrm>
          <a:prstGeom prst="rect">
            <a:avLst/>
          </a:prstGeom>
          <a:noFill/>
        </p:spPr>
        <p:txBody>
          <a:bodyPr wrap="none" lIns="0" rIns="0" tIns="0" bIns="0">
            <a:spAutoFit/>
          </a:bodyPr>
          <a:lstStyle/>
          <a:p>
            <a:pPr>
              <a:defRPr sz="1600" b="0">
                <a:solidFill>
                  <a:srgbClr val="53647B"/>
                </a:solidFill>
                <a:latin typeface="Segoe UI"/>
              </a:defRPr>
            </a:pPr>
            <a:r>
              <a:t>Missing images are clearly marked.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279400"/>
            <a:ext cx="330200" cy="38100"/>
          </a:xfrm>
          <a:prstGeom prst="rect">
            <a:avLst/>
          </a:prstGeom>
          <a:solidFill>
            <a:srgbClr val="326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350000"/>
            <a:ext cx="10820400" cy="12700"/>
          </a:xfrm>
          <a:prstGeom prst="rect">
            <a:avLst/>
          </a:prstGeom>
          <a:solidFill>
            <a:srgbClr val="DFE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406400"/>
            <a:ext cx="10833100" cy="203200"/>
          </a:xfrm>
          <a:prstGeom prst="rect">
            <a:avLst/>
          </a:prstGeom>
          <a:noFill/>
        </p:spPr>
        <p:txBody>
          <a:bodyPr wrap="none" lIns="0" rIns="0" tIns="0" bIns="0">
            <a:spAutoFit/>
          </a:bodyPr>
          <a:lstStyle/>
          <a:p>
            <a:pPr>
              <a:defRPr sz="1000" b="1">
                <a:solidFill>
                  <a:srgbClr val="3268C8"/>
                </a:solidFill>
                <a:latin typeface="Segoe UI"/>
              </a:defRPr>
            </a:pPr>
            <a:r>
              <a:t>04 / LECTURE ALIGNMENT</a:t>
            </a:r>
          </a:p>
        </p:txBody>
      </p:sp>
      <p:sp>
        <p:nvSpPr>
          <p:cNvPr id="6" name="TextBox 5"/>
          <p:cNvSpPr txBox="1"/>
          <p:nvPr/>
        </p:nvSpPr>
        <p:spPr>
          <a:xfrm>
            <a:off x="685800" y="838200"/>
            <a:ext cx="10833100" cy="549910"/>
          </a:xfrm>
          <a:prstGeom prst="rect">
            <a:avLst/>
          </a:prstGeom>
          <a:noFill/>
        </p:spPr>
        <p:txBody>
          <a:bodyPr wrap="none" lIns="0" rIns="0" tIns="0" bIns="0">
            <a:spAutoFit/>
          </a:bodyPr>
          <a:lstStyle/>
          <a:p>
            <a:pPr>
              <a:defRPr sz="3100" b="1">
                <a:solidFill>
                  <a:srgbClr val="182B49"/>
                </a:solidFill>
                <a:latin typeface="Segoe UI"/>
              </a:defRPr>
            </a:pPr>
            <a:r>
              <a:t>Where each part of the app comes from.</a:t>
            </a:r>
          </a:p>
        </p:txBody>
      </p:sp>
      <p:sp>
        <p:nvSpPr>
          <p:cNvPr id="7" name="TextBox 6"/>
          <p:cNvSpPr txBox="1"/>
          <p:nvPr/>
        </p:nvSpPr>
        <p:spPr>
          <a:xfrm>
            <a:off x="685800" y="6489700"/>
            <a:ext cx="3848100" cy="170180"/>
          </a:xfrm>
          <a:prstGeom prst="rect">
            <a:avLst/>
          </a:prstGeom>
          <a:noFill/>
        </p:spPr>
        <p:txBody>
          <a:bodyPr wrap="none" lIns="0" rIns="0" tIns="0" bIns="0">
            <a:spAutoFit/>
          </a:bodyPr>
          <a:lstStyle/>
          <a:p>
            <a:pPr>
              <a:defRPr sz="800" b="0">
                <a:solidFill>
                  <a:srgbClr val="53647B"/>
                </a:solidFill>
                <a:latin typeface="Segoe UI"/>
              </a:defRPr>
            </a:pPr>
            <a:r>
              <a:t>GYM WORKOUT RECOMMENDER</a:t>
            </a:r>
          </a:p>
        </p:txBody>
      </p:sp>
      <p:sp>
        <p:nvSpPr>
          <p:cNvPr id="8" name="TextBox 7"/>
          <p:cNvSpPr txBox="1"/>
          <p:nvPr/>
        </p:nvSpPr>
        <p:spPr>
          <a:xfrm>
            <a:off x="10858500" y="6489700"/>
            <a:ext cx="800100" cy="186690"/>
          </a:xfrm>
          <a:prstGeom prst="rect">
            <a:avLst/>
          </a:prstGeom>
          <a:noFill/>
        </p:spPr>
        <p:txBody>
          <a:bodyPr wrap="none" lIns="0" rIns="0" tIns="0" bIns="0">
            <a:spAutoFit/>
          </a:bodyPr>
          <a:lstStyle/>
          <a:p>
            <a:pPr>
              <a:defRPr sz="900" b="0">
                <a:solidFill>
                  <a:srgbClr val="53647B"/>
                </a:solidFill>
                <a:latin typeface="Segoe UI"/>
              </a:defRPr>
            </a:pPr>
            <a:r>
              <a:t>05 / 16</a:t>
            </a:r>
          </a:p>
        </p:txBody>
      </p:sp>
      <p:sp>
        <p:nvSpPr>
          <p:cNvPr id="9" name="TextBox 8"/>
          <p:cNvSpPr txBox="1"/>
          <p:nvPr/>
        </p:nvSpPr>
        <p:spPr>
          <a:xfrm>
            <a:off x="685800" y="6146800"/>
            <a:ext cx="10642600" cy="186690"/>
          </a:xfrm>
          <a:prstGeom prst="rect">
            <a:avLst/>
          </a:prstGeom>
          <a:noFill/>
        </p:spPr>
        <p:txBody>
          <a:bodyPr wrap="none" lIns="0" rIns="0" tIns="0" bIns="0">
            <a:spAutoFit/>
          </a:bodyPr>
          <a:lstStyle/>
          <a:p>
            <a:pPr>
              <a:defRPr sz="900" b="0">
                <a:solidFill>
                  <a:srgbClr val="53647B"/>
                </a:solidFill>
                <a:latin typeface="Segoe UI"/>
              </a:defRPr>
            </a:pPr>
            <a:r>
              <a:t>Supplied Chapters 3, 4, 7, 8 and 10; engine.py; docs/CHAPTER_MAPPING.md</a:t>
            </a:r>
          </a:p>
        </p:txBody>
      </p:sp>
      <p:sp>
        <p:nvSpPr>
          <p:cNvPr id="10" name="Rectangle 9"/>
          <p:cNvSpPr/>
          <p:nvPr/>
        </p:nvSpPr>
        <p:spPr>
          <a:xfrm>
            <a:off x="685800" y="1841500"/>
            <a:ext cx="4000500" cy="622300"/>
          </a:xfrm>
          <a:prstGeom prst="rect">
            <a:avLst/>
          </a:prstGeom>
          <a:solidFill>
            <a:srgbClr val="F2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0900" y="2019300"/>
            <a:ext cx="3708400" cy="285750"/>
          </a:xfrm>
          <a:prstGeom prst="rect">
            <a:avLst/>
          </a:prstGeom>
          <a:noFill/>
        </p:spPr>
        <p:txBody>
          <a:bodyPr wrap="none" lIns="0" rIns="0" tIns="0" bIns="0">
            <a:spAutoFit/>
          </a:bodyPr>
          <a:lstStyle/>
          <a:p>
            <a:pPr>
              <a:defRPr sz="1500" b="1">
                <a:solidFill>
                  <a:srgbClr val="182B49"/>
                </a:solidFill>
                <a:latin typeface="Segoe UI"/>
              </a:defRPr>
            </a:pPr>
            <a:r>
              <a:t>Lecture topic</a:t>
            </a:r>
          </a:p>
        </p:txBody>
      </p:sp>
      <p:sp>
        <p:nvSpPr>
          <p:cNvPr id="12" name="Rectangle 11"/>
          <p:cNvSpPr/>
          <p:nvPr/>
        </p:nvSpPr>
        <p:spPr>
          <a:xfrm>
            <a:off x="4686300" y="1841500"/>
            <a:ext cx="6819900" cy="622300"/>
          </a:xfrm>
          <a:prstGeom prst="rect">
            <a:avLst/>
          </a:prstGeom>
          <a:solidFill>
            <a:srgbClr val="F2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51400" y="2019300"/>
            <a:ext cx="6527800" cy="285750"/>
          </a:xfrm>
          <a:prstGeom prst="rect">
            <a:avLst/>
          </a:prstGeom>
          <a:noFill/>
        </p:spPr>
        <p:txBody>
          <a:bodyPr wrap="none" lIns="0" rIns="0" tIns="0" bIns="0">
            <a:spAutoFit/>
          </a:bodyPr>
          <a:lstStyle/>
          <a:p>
            <a:pPr>
              <a:defRPr sz="1500" b="1">
                <a:solidFill>
                  <a:srgbClr val="182B49"/>
                </a:solidFill>
                <a:latin typeface="Segoe UI"/>
              </a:defRPr>
            </a:pPr>
            <a:r>
              <a:t>Application use</a:t>
            </a:r>
          </a:p>
        </p:txBody>
      </p:sp>
      <p:sp>
        <p:nvSpPr>
          <p:cNvPr id="14" name="Rectangle 13"/>
          <p:cNvSpPr/>
          <p:nvPr/>
        </p:nvSpPr>
        <p:spPr>
          <a:xfrm>
            <a:off x="685800" y="2463800"/>
            <a:ext cx="4000500" cy="622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900" y="2641600"/>
            <a:ext cx="3708400" cy="285750"/>
          </a:xfrm>
          <a:prstGeom prst="rect">
            <a:avLst/>
          </a:prstGeom>
          <a:noFill/>
        </p:spPr>
        <p:txBody>
          <a:bodyPr wrap="none" lIns="0" rIns="0" tIns="0" bIns="0">
            <a:spAutoFit/>
          </a:bodyPr>
          <a:lstStyle/>
          <a:p>
            <a:pPr>
              <a:defRPr sz="1500" b="0">
                <a:solidFill>
                  <a:srgbClr val="182B49"/>
                </a:solidFill>
                <a:latin typeface="Segoe UI"/>
              </a:defRPr>
            </a:pPr>
            <a:r>
              <a:t>Ch. 4 — Cosine similarity</a:t>
            </a:r>
          </a:p>
        </p:txBody>
      </p:sp>
      <p:sp>
        <p:nvSpPr>
          <p:cNvPr id="16" name="Rectangle 15"/>
          <p:cNvSpPr/>
          <p:nvPr/>
        </p:nvSpPr>
        <p:spPr>
          <a:xfrm>
            <a:off x="4686300" y="2463800"/>
            <a:ext cx="6819900" cy="622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51400" y="2641600"/>
            <a:ext cx="6527800" cy="285750"/>
          </a:xfrm>
          <a:prstGeom prst="rect">
            <a:avLst/>
          </a:prstGeom>
          <a:noFill/>
        </p:spPr>
        <p:txBody>
          <a:bodyPr wrap="none" lIns="0" rIns="0" tIns="0" bIns="0">
            <a:spAutoFit/>
          </a:bodyPr>
          <a:lstStyle/>
          <a:p>
            <a:pPr>
              <a:defRPr sz="1500" b="0">
                <a:solidFill>
                  <a:srgbClr val="182B49"/>
                </a:solidFill>
                <a:latin typeface="Segoe UI"/>
              </a:defRPr>
            </a:pPr>
            <a:r>
              <a:t>Content-based; TF-IDF is our representation choice</a:t>
            </a:r>
          </a:p>
        </p:txBody>
      </p:sp>
      <p:sp>
        <p:nvSpPr>
          <p:cNvPr id="18" name="Rectangle 17"/>
          <p:cNvSpPr/>
          <p:nvPr/>
        </p:nvSpPr>
        <p:spPr>
          <a:xfrm>
            <a:off x="685800" y="3086100"/>
            <a:ext cx="4000500" cy="622300"/>
          </a:xfrm>
          <a:prstGeom prst="rect">
            <a:avLst/>
          </a:prstGeom>
          <a:solidFill>
            <a:srgbClr val="F2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900" y="3263900"/>
            <a:ext cx="3708400" cy="285750"/>
          </a:xfrm>
          <a:prstGeom prst="rect">
            <a:avLst/>
          </a:prstGeom>
          <a:noFill/>
        </p:spPr>
        <p:txBody>
          <a:bodyPr wrap="none" lIns="0" rIns="0" tIns="0" bIns="0">
            <a:spAutoFit/>
          </a:bodyPr>
          <a:lstStyle/>
          <a:p>
            <a:pPr>
              <a:defRPr sz="1500" b="0">
                <a:solidFill>
                  <a:srgbClr val="182B49"/>
                </a:solidFill>
                <a:latin typeface="Segoe UI"/>
              </a:defRPr>
            </a:pPr>
            <a:r>
              <a:t>Ch. 7 — Knowledge-based</a:t>
            </a:r>
          </a:p>
        </p:txBody>
      </p:sp>
      <p:sp>
        <p:nvSpPr>
          <p:cNvPr id="20" name="Rectangle 19"/>
          <p:cNvSpPr/>
          <p:nvPr/>
        </p:nvSpPr>
        <p:spPr>
          <a:xfrm>
            <a:off x="4686300" y="3086100"/>
            <a:ext cx="6819900" cy="622300"/>
          </a:xfrm>
          <a:prstGeom prst="rect">
            <a:avLst/>
          </a:prstGeom>
          <a:solidFill>
            <a:srgbClr val="F2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51400" y="3263900"/>
            <a:ext cx="6527800" cy="285750"/>
          </a:xfrm>
          <a:prstGeom prst="rect">
            <a:avLst/>
          </a:prstGeom>
          <a:noFill/>
        </p:spPr>
        <p:txBody>
          <a:bodyPr wrap="none" lIns="0" rIns="0" tIns="0" bIns="0">
            <a:spAutoFit/>
          </a:bodyPr>
          <a:lstStyle/>
          <a:p>
            <a:pPr>
              <a:defRPr sz="1500" b="0">
                <a:solidFill>
                  <a:srgbClr val="182B49"/>
                </a:solidFill>
                <a:latin typeface="Segoe UI"/>
              </a:defRPr>
            </a:pPr>
            <a:r>
              <a:t>Shared hard constraints and goal/experience rules</a:t>
            </a:r>
          </a:p>
        </p:txBody>
      </p:sp>
      <p:sp>
        <p:nvSpPr>
          <p:cNvPr id="22" name="Rectangle 21"/>
          <p:cNvSpPr/>
          <p:nvPr/>
        </p:nvSpPr>
        <p:spPr>
          <a:xfrm>
            <a:off x="685800" y="3708400"/>
            <a:ext cx="4000500" cy="622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900" y="3886200"/>
            <a:ext cx="3708400" cy="285750"/>
          </a:xfrm>
          <a:prstGeom prst="rect">
            <a:avLst/>
          </a:prstGeom>
          <a:noFill/>
        </p:spPr>
        <p:txBody>
          <a:bodyPr wrap="none" lIns="0" rIns="0" tIns="0" bIns="0">
            <a:spAutoFit/>
          </a:bodyPr>
          <a:lstStyle/>
          <a:p>
            <a:pPr>
              <a:defRPr sz="1500" b="0">
                <a:solidFill>
                  <a:srgbClr val="182B49"/>
                </a:solidFill>
                <a:latin typeface="Segoe UI"/>
              </a:defRPr>
            </a:pPr>
            <a:r>
              <a:t>Ch. 8 — Context-aware</a:t>
            </a:r>
          </a:p>
        </p:txBody>
      </p:sp>
      <p:sp>
        <p:nvSpPr>
          <p:cNvPr id="24" name="Rectangle 23"/>
          <p:cNvSpPr/>
          <p:nvPr/>
        </p:nvSpPr>
        <p:spPr>
          <a:xfrm>
            <a:off x="4686300" y="3708400"/>
            <a:ext cx="6819900" cy="622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51400" y="3886200"/>
            <a:ext cx="6527800" cy="285750"/>
          </a:xfrm>
          <a:prstGeom prst="rect">
            <a:avLst/>
          </a:prstGeom>
          <a:noFill/>
        </p:spPr>
        <p:txBody>
          <a:bodyPr wrap="none" lIns="0" rIns="0" tIns="0" bIns="0">
            <a:spAutoFit/>
          </a:bodyPr>
          <a:lstStyle/>
          <a:p>
            <a:pPr>
              <a:defRPr sz="1500" b="0">
                <a:solidFill>
                  <a:srgbClr val="182B49"/>
                </a:solidFill>
                <a:latin typeface="Segoe UI"/>
              </a:defRPr>
            </a:pPr>
            <a:r>
              <a:t>Workout context; completion-based score adaptation</a:t>
            </a:r>
          </a:p>
        </p:txBody>
      </p:sp>
      <p:sp>
        <p:nvSpPr>
          <p:cNvPr id="26" name="Rectangle 25"/>
          <p:cNvSpPr/>
          <p:nvPr/>
        </p:nvSpPr>
        <p:spPr>
          <a:xfrm>
            <a:off x="685800" y="4330700"/>
            <a:ext cx="4000500" cy="622300"/>
          </a:xfrm>
          <a:prstGeom prst="rect">
            <a:avLst/>
          </a:prstGeom>
          <a:solidFill>
            <a:srgbClr val="F2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900" y="4508500"/>
            <a:ext cx="3708400" cy="285750"/>
          </a:xfrm>
          <a:prstGeom prst="rect">
            <a:avLst/>
          </a:prstGeom>
          <a:noFill/>
        </p:spPr>
        <p:txBody>
          <a:bodyPr wrap="none" lIns="0" rIns="0" tIns="0" bIns="0">
            <a:spAutoFit/>
          </a:bodyPr>
          <a:lstStyle/>
          <a:p>
            <a:pPr>
              <a:defRPr sz="1500" b="0">
                <a:solidFill>
                  <a:srgbClr val="182B49"/>
                </a:solidFill>
                <a:latin typeface="Segoe UI"/>
              </a:defRPr>
            </a:pPr>
            <a:r>
              <a:t>Ch. 10 — Weighted hybrid</a:t>
            </a:r>
          </a:p>
        </p:txBody>
      </p:sp>
      <p:sp>
        <p:nvSpPr>
          <p:cNvPr id="28" name="Rectangle 27"/>
          <p:cNvSpPr/>
          <p:nvPr/>
        </p:nvSpPr>
        <p:spPr>
          <a:xfrm>
            <a:off x="4686300" y="4330700"/>
            <a:ext cx="6819900" cy="622300"/>
          </a:xfrm>
          <a:prstGeom prst="rect">
            <a:avLst/>
          </a:prstGeom>
          <a:solidFill>
            <a:srgbClr val="F2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51400" y="4508500"/>
            <a:ext cx="6527800" cy="285750"/>
          </a:xfrm>
          <a:prstGeom prst="rect">
            <a:avLst/>
          </a:prstGeom>
          <a:noFill/>
        </p:spPr>
        <p:txBody>
          <a:bodyPr wrap="none" lIns="0" rIns="0" tIns="0" bIns="0">
            <a:spAutoFit/>
          </a:bodyPr>
          <a:lstStyle/>
          <a:p>
            <a:pPr>
              <a:defRPr sz="1500" b="0">
                <a:solidFill>
                  <a:srgbClr val="182B49"/>
                </a:solidFill>
                <a:latin typeface="Segoe UI"/>
              </a:defRPr>
            </a:pPr>
            <a:r>
              <a:t>Weighted sum of component scores</a:t>
            </a:r>
          </a:p>
        </p:txBody>
      </p:sp>
      <p:sp>
        <p:nvSpPr>
          <p:cNvPr id="30" name="Rectangle 29"/>
          <p:cNvSpPr/>
          <p:nvPr/>
        </p:nvSpPr>
        <p:spPr>
          <a:xfrm>
            <a:off x="685800" y="4953000"/>
            <a:ext cx="4000500" cy="622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0900" y="5130800"/>
            <a:ext cx="3708400" cy="285750"/>
          </a:xfrm>
          <a:prstGeom prst="rect">
            <a:avLst/>
          </a:prstGeom>
          <a:noFill/>
        </p:spPr>
        <p:txBody>
          <a:bodyPr wrap="none" lIns="0" rIns="0" tIns="0" bIns="0">
            <a:spAutoFit/>
          </a:bodyPr>
          <a:lstStyle/>
          <a:p>
            <a:pPr>
              <a:defRPr sz="1500" b="0">
                <a:solidFill>
                  <a:srgbClr val="182B49"/>
                </a:solidFill>
                <a:latin typeface="Segoe UI"/>
              </a:defRPr>
            </a:pPr>
            <a:r>
              <a:t>Internal rating evidence</a:t>
            </a:r>
          </a:p>
        </p:txBody>
      </p:sp>
      <p:sp>
        <p:nvSpPr>
          <p:cNvPr id="32" name="Rectangle 31"/>
          <p:cNvSpPr/>
          <p:nvPr/>
        </p:nvSpPr>
        <p:spPr>
          <a:xfrm>
            <a:off x="4686300" y="4953000"/>
            <a:ext cx="6819900" cy="622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851400" y="5130800"/>
            <a:ext cx="6527800" cy="285750"/>
          </a:xfrm>
          <a:prstGeom prst="rect">
            <a:avLst/>
          </a:prstGeom>
          <a:noFill/>
        </p:spPr>
        <p:txBody>
          <a:bodyPr wrap="none" lIns="0" rIns="0" tIns="0" bIns="0">
            <a:spAutoFit/>
          </a:bodyPr>
          <a:lstStyle/>
          <a:p>
            <a:pPr>
              <a:defRPr sz="1500" b="0">
                <a:solidFill>
                  <a:srgbClr val="182B49"/>
                </a:solidFill>
                <a:latin typeface="Segoe UI"/>
              </a:defRPr>
            </a:pPr>
            <a:r>
              <a:t>Ch. 3 popularity prior; no separate selectable mode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279400"/>
            <a:ext cx="330200" cy="38100"/>
          </a:xfrm>
          <a:prstGeom prst="rect">
            <a:avLst/>
          </a:prstGeom>
          <a:solidFill>
            <a:srgbClr val="326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350000"/>
            <a:ext cx="10820400" cy="12700"/>
          </a:xfrm>
          <a:prstGeom prst="rect">
            <a:avLst/>
          </a:prstGeom>
          <a:solidFill>
            <a:srgbClr val="DFE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406400"/>
            <a:ext cx="10833100" cy="203200"/>
          </a:xfrm>
          <a:prstGeom prst="rect">
            <a:avLst/>
          </a:prstGeom>
          <a:noFill/>
        </p:spPr>
        <p:txBody>
          <a:bodyPr wrap="none" lIns="0" rIns="0" tIns="0" bIns="0">
            <a:spAutoFit/>
          </a:bodyPr>
          <a:lstStyle/>
          <a:p>
            <a:pPr>
              <a:defRPr sz="1000" b="1">
                <a:solidFill>
                  <a:srgbClr val="3268C8"/>
                </a:solidFill>
                <a:latin typeface="Segoe UI"/>
              </a:defRPr>
            </a:pPr>
            <a:r>
              <a:t>05 / CONTENT-BASED</a:t>
            </a:r>
          </a:p>
        </p:txBody>
      </p:sp>
      <p:sp>
        <p:nvSpPr>
          <p:cNvPr id="6" name="TextBox 5"/>
          <p:cNvSpPr txBox="1"/>
          <p:nvPr/>
        </p:nvSpPr>
        <p:spPr>
          <a:xfrm>
            <a:off x="685800" y="838200"/>
            <a:ext cx="10833100" cy="549910"/>
          </a:xfrm>
          <a:prstGeom prst="rect">
            <a:avLst/>
          </a:prstGeom>
          <a:noFill/>
        </p:spPr>
        <p:txBody>
          <a:bodyPr wrap="none" lIns="0" rIns="0" tIns="0" bIns="0">
            <a:spAutoFit/>
          </a:bodyPr>
          <a:lstStyle/>
          <a:p>
            <a:pPr>
              <a:defRPr sz="3100" b="1">
                <a:solidFill>
                  <a:srgbClr val="182B49"/>
                </a:solidFill>
                <a:latin typeface="Segoe UI"/>
              </a:defRPr>
            </a:pPr>
            <a:r>
              <a:t>Same similarity principle, exercise features.</a:t>
            </a:r>
          </a:p>
        </p:txBody>
      </p:sp>
      <p:sp>
        <p:nvSpPr>
          <p:cNvPr id="7" name="TextBox 6"/>
          <p:cNvSpPr txBox="1"/>
          <p:nvPr/>
        </p:nvSpPr>
        <p:spPr>
          <a:xfrm>
            <a:off x="685800" y="6489700"/>
            <a:ext cx="3848100" cy="170180"/>
          </a:xfrm>
          <a:prstGeom prst="rect">
            <a:avLst/>
          </a:prstGeom>
          <a:noFill/>
        </p:spPr>
        <p:txBody>
          <a:bodyPr wrap="none" lIns="0" rIns="0" tIns="0" bIns="0">
            <a:spAutoFit/>
          </a:bodyPr>
          <a:lstStyle/>
          <a:p>
            <a:pPr>
              <a:defRPr sz="800" b="0">
                <a:solidFill>
                  <a:srgbClr val="53647B"/>
                </a:solidFill>
                <a:latin typeface="Segoe UI"/>
              </a:defRPr>
            </a:pPr>
            <a:r>
              <a:t>GYM WORKOUT RECOMMENDER</a:t>
            </a:r>
          </a:p>
        </p:txBody>
      </p:sp>
      <p:sp>
        <p:nvSpPr>
          <p:cNvPr id="8" name="TextBox 7"/>
          <p:cNvSpPr txBox="1"/>
          <p:nvPr/>
        </p:nvSpPr>
        <p:spPr>
          <a:xfrm>
            <a:off x="10858500" y="6489700"/>
            <a:ext cx="800100" cy="186690"/>
          </a:xfrm>
          <a:prstGeom prst="rect">
            <a:avLst/>
          </a:prstGeom>
          <a:noFill/>
        </p:spPr>
        <p:txBody>
          <a:bodyPr wrap="none" lIns="0" rIns="0" tIns="0" bIns="0">
            <a:spAutoFit/>
          </a:bodyPr>
          <a:lstStyle/>
          <a:p>
            <a:pPr>
              <a:defRPr sz="900" b="0">
                <a:solidFill>
                  <a:srgbClr val="53647B"/>
                </a:solidFill>
                <a:latin typeface="Segoe UI"/>
              </a:defRPr>
            </a:pPr>
            <a:r>
              <a:t>06 / 16</a:t>
            </a:r>
          </a:p>
        </p:txBody>
      </p:sp>
      <p:sp>
        <p:nvSpPr>
          <p:cNvPr id="9" name="TextBox 8"/>
          <p:cNvSpPr txBox="1"/>
          <p:nvPr/>
        </p:nvSpPr>
        <p:spPr>
          <a:xfrm>
            <a:off x="685800" y="6146800"/>
            <a:ext cx="10642600" cy="186690"/>
          </a:xfrm>
          <a:prstGeom prst="rect">
            <a:avLst/>
          </a:prstGeom>
          <a:noFill/>
        </p:spPr>
        <p:txBody>
          <a:bodyPr wrap="none" lIns="0" rIns="0" tIns="0" bIns="0">
            <a:spAutoFit/>
          </a:bodyPr>
          <a:lstStyle/>
          <a:p>
            <a:pPr>
              <a:defRPr sz="900" b="0">
                <a:solidFill>
                  <a:srgbClr val="53647B"/>
                </a:solidFill>
                <a:latin typeface="Segoe UI"/>
              </a:defRPr>
            </a:pPr>
            <a:r>
              <a:t>Chapter 4: cosine_similarity examples and movie-feature code; engine.py: content scoring</a:t>
            </a:r>
          </a:p>
        </p:txBody>
      </p:sp>
      <p:sp>
        <p:nvSpPr>
          <p:cNvPr id="10" name="Rectangle 9"/>
          <p:cNvSpPr/>
          <p:nvPr/>
        </p:nvSpPr>
        <p:spPr>
          <a:xfrm>
            <a:off x="685800" y="1943100"/>
            <a:ext cx="10820400" cy="1270000"/>
          </a:xfrm>
          <a:prstGeom prst="rect">
            <a:avLst/>
          </a:prstGeom>
          <a:solidFill>
            <a:srgbClr val="F2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2500" y="2209800"/>
            <a:ext cx="10325100" cy="450850"/>
          </a:xfrm>
          <a:prstGeom prst="rect">
            <a:avLst/>
          </a:prstGeom>
          <a:noFill/>
        </p:spPr>
        <p:txBody>
          <a:bodyPr wrap="none" lIns="0" rIns="0" tIns="0" bIns="0">
            <a:spAutoFit/>
          </a:bodyPr>
          <a:lstStyle/>
          <a:p>
            <a:pPr>
              <a:defRPr sz="2500" b="0">
                <a:solidFill>
                  <a:srgbClr val="182B49"/>
                </a:solidFill>
                <a:latin typeface="Segoe UI"/>
              </a:defRPr>
            </a:pPr>
            <a:r>
              <a:t>Similarity(q, x) = (q · x) / (||q|| × ||x||)</a:t>
            </a:r>
          </a:p>
        </p:txBody>
      </p:sp>
      <p:sp>
        <p:nvSpPr>
          <p:cNvPr id="12" name="TextBox 11"/>
          <p:cNvSpPr txBox="1"/>
          <p:nvPr/>
        </p:nvSpPr>
        <p:spPr>
          <a:xfrm>
            <a:off x="952500" y="2755900"/>
            <a:ext cx="10325100" cy="236220"/>
          </a:xfrm>
          <a:prstGeom prst="rect">
            <a:avLst/>
          </a:prstGeom>
          <a:noFill/>
        </p:spPr>
        <p:txBody>
          <a:bodyPr wrap="none" lIns="0" rIns="0" tIns="0" bIns="0">
            <a:spAutoFit/>
          </a:bodyPr>
          <a:lstStyle/>
          <a:p>
            <a:pPr>
              <a:defRPr sz="1200" b="0">
                <a:solidFill>
                  <a:srgbClr val="3268C8"/>
                </a:solidFill>
                <a:latin typeface="Segoe UI"/>
              </a:defRPr>
            </a:pPr>
            <a:r>
              <a:t>q = goal/focus vector; x = exercise vector</a:t>
            </a:r>
          </a:p>
        </p:txBody>
      </p:sp>
      <p:sp>
        <p:nvSpPr>
          <p:cNvPr id="13" name="Rectangle 12"/>
          <p:cNvSpPr/>
          <p:nvPr/>
        </p:nvSpPr>
        <p:spPr>
          <a:xfrm>
            <a:off x="685800" y="3492500"/>
            <a:ext cx="5219700" cy="2311400"/>
          </a:xfrm>
          <a:prstGeom prst="rect">
            <a:avLst/>
          </a:prstGeom>
          <a:solidFill>
            <a:srgbClr val="F2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14400" y="3644900"/>
            <a:ext cx="279400" cy="25400"/>
          </a:xfrm>
          <a:prstGeom prst="rect">
            <a:avLst/>
          </a:prstGeom>
          <a:solidFill>
            <a:srgbClr val="326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784600"/>
            <a:ext cx="4800600" cy="335280"/>
          </a:xfrm>
          <a:prstGeom prst="rect">
            <a:avLst/>
          </a:prstGeom>
          <a:noFill/>
        </p:spPr>
        <p:txBody>
          <a:bodyPr wrap="none" lIns="0" rIns="0" tIns="0" bIns="0">
            <a:spAutoFit/>
          </a:bodyPr>
          <a:lstStyle/>
          <a:p>
            <a:pPr>
              <a:defRPr sz="1800" b="1">
                <a:solidFill>
                  <a:srgbClr val="182B49"/>
                </a:solidFill>
                <a:latin typeface="Segoe UI"/>
              </a:defRPr>
            </a:pPr>
            <a:r>
              <a:t>In the lecture</a:t>
            </a:r>
          </a:p>
        </p:txBody>
      </p:sp>
      <p:sp>
        <p:nvSpPr>
          <p:cNvPr id="16" name="TextBox 15"/>
          <p:cNvSpPr txBox="1"/>
          <p:nvPr/>
        </p:nvSpPr>
        <p:spPr>
          <a:xfrm>
            <a:off x="914400" y="4241800"/>
            <a:ext cx="4800600" cy="302260"/>
          </a:xfrm>
          <a:prstGeom prst="rect">
            <a:avLst/>
          </a:prstGeom>
          <a:noFill/>
        </p:spPr>
        <p:txBody>
          <a:bodyPr wrap="none" lIns="0" rIns="0" tIns="0" bIns="0">
            <a:spAutoFit/>
          </a:bodyPr>
          <a:lstStyle/>
          <a:p>
            <a:pPr>
              <a:defRPr sz="1600" b="0">
                <a:solidFill>
                  <a:srgbClr val="53647B"/>
                </a:solidFill>
                <a:latin typeface="Segoe UI"/>
              </a:defRPr>
            </a:pPr>
            <a:r>
              <a:t>Combine movie attributes, build count vectors and</a:t>
            </a:r>
          </a:p>
        </p:txBody>
      </p:sp>
      <p:sp>
        <p:nvSpPr>
          <p:cNvPr id="17" name="TextBox 16"/>
          <p:cNvSpPr txBox="1"/>
          <p:nvPr/>
        </p:nvSpPr>
        <p:spPr>
          <a:xfrm>
            <a:off x="914400" y="4505960"/>
            <a:ext cx="4800600" cy="302260"/>
          </a:xfrm>
          <a:prstGeom prst="rect">
            <a:avLst/>
          </a:prstGeom>
          <a:noFill/>
        </p:spPr>
        <p:txBody>
          <a:bodyPr wrap="none" lIns="0" rIns="0" tIns="0" bIns="0">
            <a:spAutoFit/>
          </a:bodyPr>
          <a:lstStyle/>
          <a:p>
            <a:pPr>
              <a:defRPr sz="1600" b="0">
                <a:solidFill>
                  <a:srgbClr val="53647B"/>
                </a:solidFill>
                <a:latin typeface="Segoe UI"/>
              </a:defRPr>
            </a:pPr>
            <a:r>
              <a:t>compare them with cosine similarity.</a:t>
            </a:r>
          </a:p>
        </p:txBody>
      </p:sp>
      <p:sp>
        <p:nvSpPr>
          <p:cNvPr id="18" name="TextBox 17"/>
          <p:cNvSpPr txBox="1"/>
          <p:nvPr/>
        </p:nvSpPr>
        <p:spPr>
          <a:xfrm>
            <a:off x="914400" y="4770120"/>
            <a:ext cx="4800600" cy="302260"/>
          </a:xfrm>
          <a:prstGeom prst="rect">
            <a:avLst/>
          </a:prstGeom>
          <a:noFill/>
        </p:spPr>
        <p:txBody>
          <a:bodyPr wrap="none" lIns="0" rIns="0" tIns="0" bIns="0">
            <a:spAutoFit/>
          </a:bodyPr>
          <a:lstStyle/>
          <a:p>
            <a:pPr>
              <a:defRPr sz="1600" b="0">
                <a:solidFill>
                  <a:srgbClr val="53647B"/>
                </a:solidFill>
                <a:latin typeface="Segoe UI"/>
              </a:defRPr>
            </a:pPr>
            <a:r>
              <a:t>Rank movies similar to a liked movie.</a:t>
            </a:r>
          </a:p>
        </p:txBody>
      </p:sp>
      <p:sp>
        <p:nvSpPr>
          <p:cNvPr id="19" name="Rectangle 18"/>
          <p:cNvSpPr/>
          <p:nvPr/>
        </p:nvSpPr>
        <p:spPr>
          <a:xfrm>
            <a:off x="6134100" y="3492500"/>
            <a:ext cx="5372100" cy="2311400"/>
          </a:xfrm>
          <a:prstGeom prst="rect">
            <a:avLst/>
          </a:prstGeom>
          <a:solidFill>
            <a:srgbClr val="F2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62700" y="3644900"/>
            <a:ext cx="279400" cy="25400"/>
          </a:xfrm>
          <a:prstGeom prst="rect">
            <a:avLst/>
          </a:prstGeom>
          <a:solidFill>
            <a:srgbClr val="326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62700" y="3784600"/>
            <a:ext cx="4953000" cy="335280"/>
          </a:xfrm>
          <a:prstGeom prst="rect">
            <a:avLst/>
          </a:prstGeom>
          <a:noFill/>
        </p:spPr>
        <p:txBody>
          <a:bodyPr wrap="none" lIns="0" rIns="0" tIns="0" bIns="0">
            <a:spAutoFit/>
          </a:bodyPr>
          <a:lstStyle/>
          <a:p>
            <a:pPr>
              <a:defRPr sz="1800" b="1">
                <a:solidFill>
                  <a:srgbClr val="182B49"/>
                </a:solidFill>
                <a:latin typeface="Segoe UI"/>
              </a:defRPr>
            </a:pPr>
            <a:r>
              <a:t>In our app</a:t>
            </a:r>
          </a:p>
        </p:txBody>
      </p:sp>
      <p:sp>
        <p:nvSpPr>
          <p:cNvPr id="22" name="TextBox 21"/>
          <p:cNvSpPr txBox="1"/>
          <p:nvPr/>
        </p:nvSpPr>
        <p:spPr>
          <a:xfrm>
            <a:off x="6362700" y="4241800"/>
            <a:ext cx="4953000" cy="302260"/>
          </a:xfrm>
          <a:prstGeom prst="rect">
            <a:avLst/>
          </a:prstGeom>
          <a:noFill/>
        </p:spPr>
        <p:txBody>
          <a:bodyPr wrap="none" lIns="0" rIns="0" tIns="0" bIns="0">
            <a:spAutoFit/>
          </a:bodyPr>
          <a:lstStyle/>
          <a:p>
            <a:pPr>
              <a:defRPr sz="1600" b="0">
                <a:solidFill>
                  <a:srgbClr val="53647B"/>
                </a:solidFill>
                <a:latin typeface="Segoe UI"/>
              </a:defRPr>
            </a:pPr>
            <a:r>
              <a:t>TF-IDF encodes exercise attributes. Match goal and</a:t>
            </a:r>
          </a:p>
        </p:txBody>
      </p:sp>
      <p:sp>
        <p:nvSpPr>
          <p:cNvPr id="23" name="TextBox 22"/>
          <p:cNvSpPr txBox="1"/>
          <p:nvPr/>
        </p:nvSpPr>
        <p:spPr>
          <a:xfrm>
            <a:off x="6362700" y="4505960"/>
            <a:ext cx="4953000" cy="302260"/>
          </a:xfrm>
          <a:prstGeom prst="rect">
            <a:avLst/>
          </a:prstGeom>
          <a:noFill/>
        </p:spPr>
        <p:txBody>
          <a:bodyPr wrap="none" lIns="0" rIns="0" tIns="0" bIns="0">
            <a:spAutoFit/>
          </a:bodyPr>
          <a:lstStyle/>
          <a:p>
            <a:pPr>
              <a:defRPr sz="1600" b="0">
                <a:solidFill>
                  <a:srgbClr val="53647B"/>
                </a:solidFill>
                <a:latin typeface="Segoe UI"/>
              </a:defRPr>
            </a:pPr>
            <a:r>
              <a:t>muscle focus.</a:t>
            </a:r>
          </a:p>
        </p:txBody>
      </p:sp>
      <p:sp>
        <p:nvSpPr>
          <p:cNvPr id="24" name="TextBox 23"/>
          <p:cNvSpPr txBox="1"/>
          <p:nvPr/>
        </p:nvSpPr>
        <p:spPr>
          <a:xfrm>
            <a:off x="6362700" y="4770120"/>
            <a:ext cx="4953000" cy="302260"/>
          </a:xfrm>
          <a:prstGeom prst="rect">
            <a:avLst/>
          </a:prstGeom>
          <a:noFill/>
        </p:spPr>
        <p:txBody>
          <a:bodyPr wrap="none" lIns="0" rIns="0" tIns="0" bIns="0">
            <a:spAutoFit/>
          </a:bodyPr>
          <a:lstStyle/>
          <a:p>
            <a:pPr>
              <a:defRPr sz="1600" b="0">
                <a:solidFill>
                  <a:srgbClr val="53647B"/>
                </a:solidFill>
                <a:latin typeface="Segoe UI"/>
              </a:defRPr>
            </a:pPr>
            <a:r>
              <a:t>With ratings ≥ 4: 60% profile similarity + 40%</a:t>
            </a:r>
          </a:p>
        </p:txBody>
      </p:sp>
      <p:sp>
        <p:nvSpPr>
          <p:cNvPr id="25" name="TextBox 24"/>
          <p:cNvSpPr txBox="1"/>
          <p:nvPr/>
        </p:nvSpPr>
        <p:spPr>
          <a:xfrm>
            <a:off x="6362700" y="5034280"/>
            <a:ext cx="4953000" cy="302260"/>
          </a:xfrm>
          <a:prstGeom prst="rect">
            <a:avLst/>
          </a:prstGeom>
          <a:noFill/>
        </p:spPr>
        <p:txBody>
          <a:bodyPr wrap="none" lIns="0" rIns="0" tIns="0" bIns="0">
            <a:spAutoFit/>
          </a:bodyPr>
          <a:lstStyle/>
          <a:p>
            <a:pPr>
              <a:defRPr sz="1600" b="0">
                <a:solidFill>
                  <a:srgbClr val="53647B"/>
                </a:solidFill>
                <a:latin typeface="Segoe UI"/>
              </a:defRPr>
            </a:pPr>
            <a:r>
              <a:t>liked-exercise similarity.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279400"/>
            <a:ext cx="330200" cy="38100"/>
          </a:xfrm>
          <a:prstGeom prst="rect">
            <a:avLst/>
          </a:prstGeom>
          <a:solidFill>
            <a:srgbClr val="326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350000"/>
            <a:ext cx="10820400" cy="12700"/>
          </a:xfrm>
          <a:prstGeom prst="rect">
            <a:avLst/>
          </a:prstGeom>
          <a:solidFill>
            <a:srgbClr val="DFE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406400"/>
            <a:ext cx="10833100" cy="203200"/>
          </a:xfrm>
          <a:prstGeom prst="rect">
            <a:avLst/>
          </a:prstGeom>
          <a:noFill/>
        </p:spPr>
        <p:txBody>
          <a:bodyPr wrap="none" lIns="0" rIns="0" tIns="0" bIns="0">
            <a:spAutoFit/>
          </a:bodyPr>
          <a:lstStyle/>
          <a:p>
            <a:pPr>
              <a:defRPr sz="1000" b="1">
                <a:solidFill>
                  <a:srgbClr val="3268C8"/>
                </a:solidFill>
                <a:latin typeface="Segoe UI"/>
              </a:defRPr>
            </a:pPr>
            <a:r>
              <a:t>06 / CONTEXT</a:t>
            </a:r>
          </a:p>
        </p:txBody>
      </p:sp>
      <p:sp>
        <p:nvSpPr>
          <p:cNvPr id="6" name="TextBox 5"/>
          <p:cNvSpPr txBox="1"/>
          <p:nvPr/>
        </p:nvSpPr>
        <p:spPr>
          <a:xfrm>
            <a:off x="685800" y="838200"/>
            <a:ext cx="10833100" cy="549910"/>
          </a:xfrm>
          <a:prstGeom prst="rect">
            <a:avLst/>
          </a:prstGeom>
          <a:noFill/>
        </p:spPr>
        <p:txBody>
          <a:bodyPr wrap="none" lIns="0" rIns="0" tIns="0" bIns="0">
            <a:spAutoFit/>
          </a:bodyPr>
          <a:lstStyle/>
          <a:p>
            <a:pPr>
              <a:defRPr sz="3100" b="1">
                <a:solidFill>
                  <a:srgbClr val="182B49"/>
                </a:solidFill>
                <a:latin typeface="Segoe UI"/>
              </a:defRPr>
            </a:pPr>
            <a:r>
              <a:t>Adapt the context concept to a workout.</a:t>
            </a:r>
          </a:p>
        </p:txBody>
      </p:sp>
      <p:sp>
        <p:nvSpPr>
          <p:cNvPr id="7" name="TextBox 6"/>
          <p:cNvSpPr txBox="1"/>
          <p:nvPr/>
        </p:nvSpPr>
        <p:spPr>
          <a:xfrm>
            <a:off x="685800" y="6489700"/>
            <a:ext cx="3848100" cy="170180"/>
          </a:xfrm>
          <a:prstGeom prst="rect">
            <a:avLst/>
          </a:prstGeom>
          <a:noFill/>
        </p:spPr>
        <p:txBody>
          <a:bodyPr wrap="none" lIns="0" rIns="0" tIns="0" bIns="0">
            <a:spAutoFit/>
          </a:bodyPr>
          <a:lstStyle/>
          <a:p>
            <a:pPr>
              <a:defRPr sz="800" b="0">
                <a:solidFill>
                  <a:srgbClr val="53647B"/>
                </a:solidFill>
                <a:latin typeface="Segoe UI"/>
              </a:defRPr>
            </a:pPr>
            <a:r>
              <a:t>GYM WORKOUT RECOMMENDER</a:t>
            </a:r>
          </a:p>
        </p:txBody>
      </p:sp>
      <p:sp>
        <p:nvSpPr>
          <p:cNvPr id="8" name="TextBox 7"/>
          <p:cNvSpPr txBox="1"/>
          <p:nvPr/>
        </p:nvSpPr>
        <p:spPr>
          <a:xfrm>
            <a:off x="10858500" y="6489700"/>
            <a:ext cx="800100" cy="186690"/>
          </a:xfrm>
          <a:prstGeom prst="rect">
            <a:avLst/>
          </a:prstGeom>
          <a:noFill/>
        </p:spPr>
        <p:txBody>
          <a:bodyPr wrap="none" lIns="0" rIns="0" tIns="0" bIns="0">
            <a:spAutoFit/>
          </a:bodyPr>
          <a:lstStyle/>
          <a:p>
            <a:pPr>
              <a:defRPr sz="900" b="0">
                <a:solidFill>
                  <a:srgbClr val="53647B"/>
                </a:solidFill>
                <a:latin typeface="Segoe UI"/>
              </a:defRPr>
            </a:pPr>
            <a:r>
              <a:t>07 / 16</a:t>
            </a:r>
          </a:p>
        </p:txBody>
      </p:sp>
      <p:sp>
        <p:nvSpPr>
          <p:cNvPr id="9" name="TextBox 8"/>
          <p:cNvSpPr txBox="1"/>
          <p:nvPr/>
        </p:nvSpPr>
        <p:spPr>
          <a:xfrm>
            <a:off x="685800" y="6146800"/>
            <a:ext cx="10642600" cy="186690"/>
          </a:xfrm>
          <a:prstGeom prst="rect">
            <a:avLst/>
          </a:prstGeom>
          <a:noFill/>
        </p:spPr>
        <p:txBody>
          <a:bodyPr wrap="none" lIns="0" rIns="0" tIns="0" bIns="0">
            <a:spAutoFit/>
          </a:bodyPr>
          <a:lstStyle/>
          <a:p>
            <a:pPr>
              <a:defRPr sz="900" b="0">
                <a:solidFill>
                  <a:srgbClr val="53647B"/>
                </a:solidFill>
                <a:latin typeface="Segoe UI"/>
              </a:defRPr>
            </a:pPr>
            <a:r>
              <a:t>Chapter 8: time/location-aware examples; engine.py: constraints, Context and make_plan</a:t>
            </a:r>
          </a:p>
        </p:txBody>
      </p:sp>
      <p:sp>
        <p:nvSpPr>
          <p:cNvPr id="10" name="Rectangle 9"/>
          <p:cNvSpPr/>
          <p:nvPr/>
        </p:nvSpPr>
        <p:spPr>
          <a:xfrm>
            <a:off x="685800" y="1917700"/>
            <a:ext cx="5219700" cy="2984500"/>
          </a:xfrm>
          <a:prstGeom prst="rect">
            <a:avLst/>
          </a:prstGeom>
          <a:solidFill>
            <a:srgbClr val="F2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14400" y="2070100"/>
            <a:ext cx="279400" cy="25400"/>
          </a:xfrm>
          <a:prstGeom prst="rect">
            <a:avLst/>
          </a:prstGeom>
          <a:solidFill>
            <a:srgbClr val="326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209800"/>
            <a:ext cx="4800600" cy="335280"/>
          </a:xfrm>
          <a:prstGeom prst="rect">
            <a:avLst/>
          </a:prstGeom>
          <a:noFill/>
        </p:spPr>
        <p:txBody>
          <a:bodyPr wrap="none" lIns="0" rIns="0" tIns="0" bIns="0">
            <a:spAutoFit/>
          </a:bodyPr>
          <a:lstStyle/>
          <a:p>
            <a:pPr>
              <a:defRPr sz="1800" b="1">
                <a:solidFill>
                  <a:srgbClr val="182B49"/>
                </a:solidFill>
                <a:latin typeface="Segoe UI"/>
              </a:defRPr>
            </a:pPr>
            <a:r>
              <a:t>In the lecture</a:t>
            </a:r>
          </a:p>
        </p:txBody>
      </p:sp>
      <p:sp>
        <p:nvSpPr>
          <p:cNvPr id="13" name="TextBox 12"/>
          <p:cNvSpPr txBox="1"/>
          <p:nvPr/>
        </p:nvSpPr>
        <p:spPr>
          <a:xfrm>
            <a:off x="914400" y="2667000"/>
            <a:ext cx="4800600" cy="302260"/>
          </a:xfrm>
          <a:prstGeom prst="rect">
            <a:avLst/>
          </a:prstGeom>
          <a:noFill/>
        </p:spPr>
        <p:txBody>
          <a:bodyPr wrap="none" lIns="0" rIns="0" tIns="0" bIns="0">
            <a:spAutoFit/>
          </a:bodyPr>
          <a:lstStyle/>
          <a:p>
            <a:pPr>
              <a:defRPr sz="1600" b="0">
                <a:solidFill>
                  <a:srgbClr val="53647B"/>
                </a:solidFill>
                <a:latin typeface="Segoe UI"/>
              </a:defRPr>
            </a:pPr>
            <a:r>
              <a:t>Filter items by time or location availability.</a:t>
            </a:r>
          </a:p>
        </p:txBody>
      </p:sp>
      <p:sp>
        <p:nvSpPr>
          <p:cNvPr id="14" name="TextBox 13"/>
          <p:cNvSpPr txBox="1"/>
          <p:nvPr/>
        </p:nvSpPr>
        <p:spPr>
          <a:xfrm>
            <a:off x="914400" y="2931160"/>
            <a:ext cx="4800600" cy="302260"/>
          </a:xfrm>
          <a:prstGeom prst="rect">
            <a:avLst/>
          </a:prstGeom>
          <a:noFill/>
        </p:spPr>
        <p:txBody>
          <a:bodyPr wrap="none" lIns="0" rIns="0" tIns="0" bIns="0">
            <a:spAutoFit/>
          </a:bodyPr>
          <a:lstStyle/>
          <a:p>
            <a:pPr>
              <a:defRPr sz="1600" b="0">
                <a:solidFill>
                  <a:srgbClr val="53647B"/>
                </a:solidFill>
                <a:latin typeface="Segoe UI"/>
              </a:defRPr>
            </a:pPr>
          </a:p>
        </p:txBody>
      </p:sp>
      <p:sp>
        <p:nvSpPr>
          <p:cNvPr id="15" name="TextBox 14"/>
          <p:cNvSpPr txBox="1"/>
          <p:nvPr/>
        </p:nvSpPr>
        <p:spPr>
          <a:xfrm>
            <a:off x="914400" y="3195320"/>
            <a:ext cx="4800600" cy="302260"/>
          </a:xfrm>
          <a:prstGeom prst="rect">
            <a:avLst/>
          </a:prstGeom>
          <a:noFill/>
        </p:spPr>
        <p:txBody>
          <a:bodyPr wrap="none" lIns="0" rIns="0" tIns="0" bIns="0">
            <a:spAutoFit/>
          </a:bodyPr>
          <a:lstStyle/>
          <a:p>
            <a:pPr>
              <a:defRPr sz="1600" b="0">
                <a:solidFill>
                  <a:srgbClr val="53647B"/>
                </a:solidFill>
                <a:latin typeface="Segoe UI"/>
              </a:defRPr>
            </a:pPr>
            <a:r>
              <a:t>The time-aware food example ranks by preference</a:t>
            </a:r>
          </a:p>
        </p:txBody>
      </p:sp>
      <p:sp>
        <p:nvSpPr>
          <p:cNvPr id="16" name="TextBox 15"/>
          <p:cNvSpPr txBox="1"/>
          <p:nvPr/>
        </p:nvSpPr>
        <p:spPr>
          <a:xfrm>
            <a:off x="914400" y="3459479"/>
            <a:ext cx="4800600" cy="302260"/>
          </a:xfrm>
          <a:prstGeom prst="rect">
            <a:avLst/>
          </a:prstGeom>
          <a:noFill/>
        </p:spPr>
        <p:txBody>
          <a:bodyPr wrap="none" lIns="0" rIns="0" tIns="0" bIns="0">
            <a:spAutoFit/>
          </a:bodyPr>
          <a:lstStyle/>
          <a:p>
            <a:pPr>
              <a:defRPr sz="1600" b="0">
                <a:solidFill>
                  <a:srgbClr val="53647B"/>
                </a:solidFill>
                <a:latin typeface="Segoe UI"/>
              </a:defRPr>
            </a:pPr>
            <a:r>
              <a:t>score × time relevance.</a:t>
            </a:r>
          </a:p>
        </p:txBody>
      </p:sp>
      <p:sp>
        <p:nvSpPr>
          <p:cNvPr id="17" name="TextBox 16"/>
          <p:cNvSpPr txBox="1"/>
          <p:nvPr/>
        </p:nvSpPr>
        <p:spPr>
          <a:xfrm>
            <a:off x="914400" y="3723640"/>
            <a:ext cx="4800600" cy="302260"/>
          </a:xfrm>
          <a:prstGeom prst="rect">
            <a:avLst/>
          </a:prstGeom>
          <a:noFill/>
        </p:spPr>
        <p:txBody>
          <a:bodyPr wrap="none" lIns="0" rIns="0" tIns="0" bIns="0">
            <a:spAutoFit/>
          </a:bodyPr>
          <a:lstStyle/>
          <a:p>
            <a:pPr>
              <a:defRPr sz="1600" b="0">
                <a:solidFill>
                  <a:srgbClr val="53647B"/>
                </a:solidFill>
                <a:latin typeface="Segoe UI"/>
              </a:defRPr>
            </a:pPr>
          </a:p>
        </p:txBody>
      </p:sp>
      <p:sp>
        <p:nvSpPr>
          <p:cNvPr id="18" name="TextBox 17"/>
          <p:cNvSpPr txBox="1"/>
          <p:nvPr/>
        </p:nvSpPr>
        <p:spPr>
          <a:xfrm>
            <a:off x="914400" y="3987800"/>
            <a:ext cx="4800600" cy="302260"/>
          </a:xfrm>
          <a:prstGeom prst="rect">
            <a:avLst/>
          </a:prstGeom>
          <a:noFill/>
        </p:spPr>
        <p:txBody>
          <a:bodyPr wrap="none" lIns="0" rIns="0" tIns="0" bIns="0">
            <a:spAutoFit/>
          </a:bodyPr>
          <a:lstStyle/>
          <a:p>
            <a:pPr>
              <a:defRPr sz="1600" b="0">
                <a:solidFill>
                  <a:srgbClr val="53647B"/>
                </a:solidFill>
                <a:latin typeface="Segoe UI"/>
              </a:defRPr>
            </a:pPr>
            <a:r>
              <a:t>Context changes what is suitable.</a:t>
            </a:r>
          </a:p>
        </p:txBody>
      </p:sp>
      <p:sp>
        <p:nvSpPr>
          <p:cNvPr id="19" name="Rectangle 18"/>
          <p:cNvSpPr/>
          <p:nvPr/>
        </p:nvSpPr>
        <p:spPr>
          <a:xfrm>
            <a:off x="6134100" y="1917700"/>
            <a:ext cx="5372100" cy="2984500"/>
          </a:xfrm>
          <a:prstGeom prst="rect">
            <a:avLst/>
          </a:prstGeom>
          <a:solidFill>
            <a:srgbClr val="F2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62700" y="2070100"/>
            <a:ext cx="279400" cy="25400"/>
          </a:xfrm>
          <a:prstGeom prst="rect">
            <a:avLst/>
          </a:prstGeom>
          <a:solidFill>
            <a:srgbClr val="326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62700" y="2209800"/>
            <a:ext cx="4953000" cy="335280"/>
          </a:xfrm>
          <a:prstGeom prst="rect">
            <a:avLst/>
          </a:prstGeom>
          <a:noFill/>
        </p:spPr>
        <p:txBody>
          <a:bodyPr wrap="none" lIns="0" rIns="0" tIns="0" bIns="0">
            <a:spAutoFit/>
          </a:bodyPr>
          <a:lstStyle/>
          <a:p>
            <a:pPr>
              <a:defRPr sz="1800" b="1">
                <a:solidFill>
                  <a:srgbClr val="182B49"/>
                </a:solidFill>
                <a:latin typeface="Segoe UI"/>
              </a:defRPr>
            </a:pPr>
            <a:r>
              <a:t>In our app</a:t>
            </a:r>
          </a:p>
        </p:txBody>
      </p:sp>
      <p:sp>
        <p:nvSpPr>
          <p:cNvPr id="22" name="TextBox 21"/>
          <p:cNvSpPr txBox="1"/>
          <p:nvPr/>
        </p:nvSpPr>
        <p:spPr>
          <a:xfrm>
            <a:off x="6362700" y="2667000"/>
            <a:ext cx="4953000" cy="302260"/>
          </a:xfrm>
          <a:prstGeom prst="rect">
            <a:avLst/>
          </a:prstGeom>
          <a:noFill/>
        </p:spPr>
        <p:txBody>
          <a:bodyPr wrap="none" lIns="0" rIns="0" tIns="0" bIns="0">
            <a:spAutoFit/>
          </a:bodyPr>
          <a:lstStyle/>
          <a:p>
            <a:pPr>
              <a:defRPr sz="1600" b="0">
                <a:solidFill>
                  <a:srgbClr val="53647B"/>
                </a:solidFill>
                <a:latin typeface="Segoe UI"/>
              </a:defRPr>
            </a:pPr>
            <a:r>
              <a:t>Location restricts equipment; low energy limits</a:t>
            </a:r>
          </a:p>
        </p:txBody>
      </p:sp>
      <p:sp>
        <p:nvSpPr>
          <p:cNvPr id="23" name="TextBox 22"/>
          <p:cNvSpPr txBox="1"/>
          <p:nvPr/>
        </p:nvSpPr>
        <p:spPr>
          <a:xfrm>
            <a:off x="6362700" y="2931160"/>
            <a:ext cx="4953000" cy="302260"/>
          </a:xfrm>
          <a:prstGeom prst="rect">
            <a:avLst/>
          </a:prstGeom>
          <a:noFill/>
        </p:spPr>
        <p:txBody>
          <a:bodyPr wrap="none" lIns="0" rIns="0" tIns="0" bIns="0">
            <a:spAutoFit/>
          </a:bodyPr>
          <a:lstStyle/>
          <a:p>
            <a:pPr>
              <a:defRPr sz="1600" b="0">
                <a:solidFill>
                  <a:srgbClr val="53647B"/>
                </a:solidFill>
                <a:latin typeface="Segoe UI"/>
              </a:defRPr>
            </a:pPr>
            <a:r>
              <a:t>difficulty.</a:t>
            </a:r>
          </a:p>
        </p:txBody>
      </p:sp>
      <p:sp>
        <p:nvSpPr>
          <p:cNvPr id="24" name="TextBox 23"/>
          <p:cNvSpPr txBox="1"/>
          <p:nvPr/>
        </p:nvSpPr>
        <p:spPr>
          <a:xfrm>
            <a:off x="6362700" y="3195320"/>
            <a:ext cx="4953000" cy="302260"/>
          </a:xfrm>
          <a:prstGeom prst="rect">
            <a:avLst/>
          </a:prstGeom>
          <a:noFill/>
        </p:spPr>
        <p:txBody>
          <a:bodyPr wrap="none" lIns="0" rIns="0" tIns="0" bIns="0">
            <a:spAutoFit/>
          </a:bodyPr>
          <a:lstStyle/>
          <a:p>
            <a:pPr>
              <a:defRPr sz="1600" b="0">
                <a:solidFill>
                  <a:srgbClr val="53647B"/>
                </a:solidFill>
                <a:latin typeface="Segoe UI"/>
              </a:defRPr>
            </a:pPr>
          </a:p>
        </p:txBody>
      </p:sp>
      <p:sp>
        <p:nvSpPr>
          <p:cNvPr id="25" name="TextBox 24"/>
          <p:cNvSpPr txBox="1"/>
          <p:nvPr/>
        </p:nvSpPr>
        <p:spPr>
          <a:xfrm>
            <a:off x="6362700" y="3459479"/>
            <a:ext cx="4953000" cy="302260"/>
          </a:xfrm>
          <a:prstGeom prst="rect">
            <a:avLst/>
          </a:prstGeom>
          <a:noFill/>
        </p:spPr>
        <p:txBody>
          <a:bodyPr wrap="none" lIns="0" rIns="0" tIns="0" bIns="0">
            <a:spAutoFit/>
          </a:bodyPr>
          <a:lstStyle/>
          <a:p>
            <a:pPr>
              <a:defRPr sz="1600" b="0">
                <a:solidFill>
                  <a:srgbClr val="53647B"/>
                </a:solidFill>
                <a:latin typeface="Segoe UI"/>
              </a:defRPr>
            </a:pPr>
            <a:r>
              <a:t>The Context score combines knowledge rules with</a:t>
            </a:r>
          </a:p>
        </p:txBody>
      </p:sp>
      <p:sp>
        <p:nvSpPr>
          <p:cNvPr id="26" name="TextBox 25"/>
          <p:cNvSpPr txBox="1"/>
          <p:nvPr/>
        </p:nvSpPr>
        <p:spPr>
          <a:xfrm>
            <a:off x="6362700" y="3723640"/>
            <a:ext cx="4953000" cy="302260"/>
          </a:xfrm>
          <a:prstGeom prst="rect">
            <a:avLst/>
          </a:prstGeom>
          <a:noFill/>
        </p:spPr>
        <p:txBody>
          <a:bodyPr wrap="none" lIns="0" rIns="0" tIns="0" bIns="0">
            <a:spAutoFit/>
          </a:bodyPr>
          <a:lstStyle/>
          <a:p>
            <a:pPr>
              <a:defRPr sz="1600" b="0">
                <a:solidFill>
                  <a:srgbClr val="53647B"/>
                </a:solidFill>
                <a:latin typeface="Segoe UI"/>
              </a:defRPr>
            </a:pPr>
            <a:r>
              <a:t>personal completion history.</a:t>
            </a:r>
          </a:p>
        </p:txBody>
      </p:sp>
      <p:sp>
        <p:nvSpPr>
          <p:cNvPr id="27" name="TextBox 26"/>
          <p:cNvSpPr txBox="1"/>
          <p:nvPr/>
        </p:nvSpPr>
        <p:spPr>
          <a:xfrm>
            <a:off x="6362700" y="3987800"/>
            <a:ext cx="4953000" cy="302260"/>
          </a:xfrm>
          <a:prstGeom prst="rect">
            <a:avLst/>
          </a:prstGeom>
          <a:noFill/>
        </p:spPr>
        <p:txBody>
          <a:bodyPr wrap="none" lIns="0" rIns="0" tIns="0" bIns="0">
            <a:spAutoFit/>
          </a:bodyPr>
          <a:lstStyle/>
          <a:p>
            <a:pPr>
              <a:defRPr sz="1600" b="0">
                <a:solidFill>
                  <a:srgbClr val="53647B"/>
                </a:solidFill>
                <a:latin typeface="Segoe UI"/>
              </a:defRPr>
            </a:pPr>
          </a:p>
        </p:txBody>
      </p:sp>
      <p:sp>
        <p:nvSpPr>
          <p:cNvPr id="28" name="TextBox 27"/>
          <p:cNvSpPr txBox="1"/>
          <p:nvPr/>
        </p:nvSpPr>
        <p:spPr>
          <a:xfrm>
            <a:off x="6362700" y="4251960"/>
            <a:ext cx="4953000" cy="302260"/>
          </a:xfrm>
          <a:prstGeom prst="rect">
            <a:avLst/>
          </a:prstGeom>
          <a:noFill/>
        </p:spPr>
        <p:txBody>
          <a:bodyPr wrap="none" lIns="0" rIns="0" tIns="0" bIns="0">
            <a:spAutoFit/>
          </a:bodyPr>
          <a:lstStyle/>
          <a:p>
            <a:pPr>
              <a:defRPr sz="1600" b="0">
                <a:solidFill>
                  <a:srgbClr val="53647B"/>
                </a:solidFill>
                <a:latin typeface="Segoe UI"/>
              </a:defRPr>
            </a:pPr>
            <a:r>
              <a:t>Time budget controls plan allocation.</a:t>
            </a:r>
          </a:p>
        </p:txBody>
      </p:sp>
      <p:sp>
        <p:nvSpPr>
          <p:cNvPr id="29" name="Rectangle 28"/>
          <p:cNvSpPr/>
          <p:nvPr/>
        </p:nvSpPr>
        <p:spPr>
          <a:xfrm>
            <a:off x="685800" y="5397500"/>
            <a:ext cx="10820400" cy="546100"/>
          </a:xfrm>
          <a:prstGeom prst="rect">
            <a:avLst/>
          </a:prstGeom>
          <a:solidFill>
            <a:srgbClr val="F2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76300" y="5537200"/>
            <a:ext cx="10477500" cy="302260"/>
          </a:xfrm>
          <a:prstGeom prst="rect">
            <a:avLst/>
          </a:prstGeom>
          <a:noFill/>
        </p:spPr>
        <p:txBody>
          <a:bodyPr wrap="none" lIns="0" rIns="0" tIns="0" bIns="0">
            <a:spAutoFit/>
          </a:bodyPr>
          <a:lstStyle/>
          <a:p>
            <a:pPr>
              <a:defRPr sz="1600" b="0">
                <a:solidFill>
                  <a:srgbClr val="182B49"/>
                </a:solidFill>
                <a:latin typeface="Segoe UI"/>
              </a:defRPr>
            </a:pPr>
            <a:r>
              <a:t>Conceptual adaptation: the app does not use the lecture’s time-of-day scoring formula.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279400"/>
            <a:ext cx="330200" cy="38100"/>
          </a:xfrm>
          <a:prstGeom prst="rect">
            <a:avLst/>
          </a:prstGeom>
          <a:solidFill>
            <a:srgbClr val="326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350000"/>
            <a:ext cx="10820400" cy="12700"/>
          </a:xfrm>
          <a:prstGeom prst="rect">
            <a:avLst/>
          </a:prstGeom>
          <a:solidFill>
            <a:srgbClr val="DFE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406400"/>
            <a:ext cx="10833100" cy="203200"/>
          </a:xfrm>
          <a:prstGeom prst="rect">
            <a:avLst/>
          </a:prstGeom>
          <a:noFill/>
        </p:spPr>
        <p:txBody>
          <a:bodyPr wrap="none" lIns="0" rIns="0" tIns="0" bIns="0">
            <a:spAutoFit/>
          </a:bodyPr>
          <a:lstStyle/>
          <a:p>
            <a:pPr>
              <a:defRPr sz="1000" b="1">
                <a:solidFill>
                  <a:srgbClr val="3268C8"/>
                </a:solidFill>
                <a:latin typeface="Segoe UI"/>
              </a:defRPr>
            </a:pPr>
            <a:r>
              <a:t>07 / KNOWLEDGE AND CONSTRAINTS</a:t>
            </a:r>
          </a:p>
        </p:txBody>
      </p:sp>
      <p:sp>
        <p:nvSpPr>
          <p:cNvPr id="6" name="TextBox 5"/>
          <p:cNvSpPr txBox="1"/>
          <p:nvPr/>
        </p:nvSpPr>
        <p:spPr>
          <a:xfrm>
            <a:off x="685800" y="838200"/>
            <a:ext cx="10833100" cy="549910"/>
          </a:xfrm>
          <a:prstGeom prst="rect">
            <a:avLst/>
          </a:prstGeom>
          <a:noFill/>
        </p:spPr>
        <p:txBody>
          <a:bodyPr wrap="none" lIns="0" rIns="0" tIns="0" bIns="0">
            <a:spAutoFit/>
          </a:bodyPr>
          <a:lstStyle/>
          <a:p>
            <a:pPr>
              <a:defRPr sz="3100" b="1">
                <a:solidFill>
                  <a:srgbClr val="182B49"/>
                </a:solidFill>
                <a:latin typeface="Segoe UI"/>
              </a:defRPr>
            </a:pPr>
            <a:r>
              <a:t>Apply feasibility rules across every method.</a:t>
            </a:r>
          </a:p>
        </p:txBody>
      </p:sp>
      <p:sp>
        <p:nvSpPr>
          <p:cNvPr id="7" name="TextBox 6"/>
          <p:cNvSpPr txBox="1"/>
          <p:nvPr/>
        </p:nvSpPr>
        <p:spPr>
          <a:xfrm>
            <a:off x="685800" y="6489700"/>
            <a:ext cx="3848100" cy="170180"/>
          </a:xfrm>
          <a:prstGeom prst="rect">
            <a:avLst/>
          </a:prstGeom>
          <a:noFill/>
        </p:spPr>
        <p:txBody>
          <a:bodyPr wrap="none" lIns="0" rIns="0" tIns="0" bIns="0">
            <a:spAutoFit/>
          </a:bodyPr>
          <a:lstStyle/>
          <a:p>
            <a:pPr>
              <a:defRPr sz="800" b="0">
                <a:solidFill>
                  <a:srgbClr val="53647B"/>
                </a:solidFill>
                <a:latin typeface="Segoe UI"/>
              </a:defRPr>
            </a:pPr>
            <a:r>
              <a:t>GYM WORKOUT RECOMMENDER</a:t>
            </a:r>
          </a:p>
        </p:txBody>
      </p:sp>
      <p:sp>
        <p:nvSpPr>
          <p:cNvPr id="8" name="TextBox 7"/>
          <p:cNvSpPr txBox="1"/>
          <p:nvPr/>
        </p:nvSpPr>
        <p:spPr>
          <a:xfrm>
            <a:off x="10858500" y="6489700"/>
            <a:ext cx="800100" cy="186690"/>
          </a:xfrm>
          <a:prstGeom prst="rect">
            <a:avLst/>
          </a:prstGeom>
          <a:noFill/>
        </p:spPr>
        <p:txBody>
          <a:bodyPr wrap="none" lIns="0" rIns="0" tIns="0" bIns="0">
            <a:spAutoFit/>
          </a:bodyPr>
          <a:lstStyle/>
          <a:p>
            <a:pPr>
              <a:defRPr sz="900" b="0">
                <a:solidFill>
                  <a:srgbClr val="53647B"/>
                </a:solidFill>
                <a:latin typeface="Segoe UI"/>
              </a:defRPr>
            </a:pPr>
            <a:r>
              <a:t>08 / 16</a:t>
            </a:r>
          </a:p>
        </p:txBody>
      </p:sp>
      <p:sp>
        <p:nvSpPr>
          <p:cNvPr id="9" name="TextBox 8"/>
          <p:cNvSpPr txBox="1"/>
          <p:nvPr/>
        </p:nvSpPr>
        <p:spPr>
          <a:xfrm>
            <a:off x="685800" y="6146800"/>
            <a:ext cx="10642600" cy="186690"/>
          </a:xfrm>
          <a:prstGeom prst="rect">
            <a:avLst/>
          </a:prstGeom>
          <a:noFill/>
        </p:spPr>
        <p:txBody>
          <a:bodyPr wrap="none" lIns="0" rIns="0" tIns="0" bIns="0">
            <a:spAutoFit/>
          </a:bodyPr>
          <a:lstStyle/>
          <a:p>
            <a:pPr>
              <a:defRPr sz="900" b="0">
                <a:solidFill>
                  <a:srgbClr val="53647B"/>
                </a:solidFill>
                <a:latin typeface="Segoe UI"/>
              </a:defRPr>
            </a:pPr>
            <a:r>
              <a:t>Chapter 7: constraint-based recommendation; engine.py: recommend and make_plan</a:t>
            </a:r>
          </a:p>
        </p:txBody>
      </p:sp>
      <p:sp>
        <p:nvSpPr>
          <p:cNvPr id="10" name="TextBox 9"/>
          <p:cNvSpPr txBox="1"/>
          <p:nvPr/>
        </p:nvSpPr>
        <p:spPr>
          <a:xfrm>
            <a:off x="685800" y="1879600"/>
            <a:ext cx="609600" cy="368300"/>
          </a:xfrm>
          <a:prstGeom prst="rect">
            <a:avLst/>
          </a:prstGeom>
          <a:noFill/>
        </p:spPr>
        <p:txBody>
          <a:bodyPr wrap="none" lIns="0" rIns="0" tIns="0" bIns="0">
            <a:spAutoFit/>
          </a:bodyPr>
          <a:lstStyle/>
          <a:p>
            <a:pPr>
              <a:defRPr sz="2000" b="1">
                <a:solidFill>
                  <a:srgbClr val="3268C8"/>
                </a:solidFill>
                <a:latin typeface="Segoe UI"/>
              </a:defRPr>
            </a:pPr>
            <a:r>
              <a:t>01</a:t>
            </a:r>
          </a:p>
        </p:txBody>
      </p:sp>
      <p:sp>
        <p:nvSpPr>
          <p:cNvPr id="11" name="TextBox 10"/>
          <p:cNvSpPr txBox="1"/>
          <p:nvPr/>
        </p:nvSpPr>
        <p:spPr>
          <a:xfrm>
            <a:off x="1422400" y="1879600"/>
            <a:ext cx="2578100" cy="335280"/>
          </a:xfrm>
          <a:prstGeom prst="rect">
            <a:avLst/>
          </a:prstGeom>
          <a:noFill/>
        </p:spPr>
        <p:txBody>
          <a:bodyPr wrap="none" lIns="0" rIns="0" tIns="0" bIns="0">
            <a:spAutoFit/>
          </a:bodyPr>
          <a:lstStyle/>
          <a:p>
            <a:pPr>
              <a:defRPr sz="1800" b="1">
                <a:solidFill>
                  <a:srgbClr val="182B49"/>
                </a:solidFill>
                <a:latin typeface="Segoe UI"/>
              </a:defRPr>
            </a:pPr>
            <a:r>
              <a:t>Equipment</a:t>
            </a:r>
          </a:p>
        </p:txBody>
      </p:sp>
      <p:sp>
        <p:nvSpPr>
          <p:cNvPr id="12" name="TextBox 11"/>
          <p:cNvSpPr txBox="1"/>
          <p:nvPr/>
        </p:nvSpPr>
        <p:spPr>
          <a:xfrm>
            <a:off x="4038600" y="1879600"/>
            <a:ext cx="7404100" cy="302260"/>
          </a:xfrm>
          <a:prstGeom prst="rect">
            <a:avLst/>
          </a:prstGeom>
          <a:noFill/>
        </p:spPr>
        <p:txBody>
          <a:bodyPr wrap="none" lIns="0" rIns="0" tIns="0" bIns="0">
            <a:spAutoFit/>
          </a:bodyPr>
          <a:lstStyle/>
          <a:p>
            <a:pPr>
              <a:defRPr sz="1600" b="0">
                <a:solidFill>
                  <a:srgbClr val="53647B"/>
                </a:solidFill>
                <a:latin typeface="Segoe UI"/>
              </a:defRPr>
            </a:pPr>
            <a:r>
              <a:t>Required equipment must be available; bodyweight is always included.</a:t>
            </a:r>
          </a:p>
        </p:txBody>
      </p:sp>
      <p:sp>
        <p:nvSpPr>
          <p:cNvPr id="13" name="TextBox 12"/>
          <p:cNvSpPr txBox="1"/>
          <p:nvPr/>
        </p:nvSpPr>
        <p:spPr>
          <a:xfrm>
            <a:off x="685800" y="2654300"/>
            <a:ext cx="609600" cy="368300"/>
          </a:xfrm>
          <a:prstGeom prst="rect">
            <a:avLst/>
          </a:prstGeom>
          <a:noFill/>
        </p:spPr>
        <p:txBody>
          <a:bodyPr wrap="none" lIns="0" rIns="0" tIns="0" bIns="0">
            <a:spAutoFit/>
          </a:bodyPr>
          <a:lstStyle/>
          <a:p>
            <a:pPr>
              <a:defRPr sz="2000" b="1">
                <a:solidFill>
                  <a:srgbClr val="3268C8"/>
                </a:solidFill>
                <a:latin typeface="Segoe UI"/>
              </a:defRPr>
            </a:pPr>
            <a:r>
              <a:t>02</a:t>
            </a:r>
          </a:p>
        </p:txBody>
      </p:sp>
      <p:sp>
        <p:nvSpPr>
          <p:cNvPr id="14" name="TextBox 13"/>
          <p:cNvSpPr txBox="1"/>
          <p:nvPr/>
        </p:nvSpPr>
        <p:spPr>
          <a:xfrm>
            <a:off x="1422400" y="2654300"/>
            <a:ext cx="2578100" cy="335280"/>
          </a:xfrm>
          <a:prstGeom prst="rect">
            <a:avLst/>
          </a:prstGeom>
          <a:noFill/>
        </p:spPr>
        <p:txBody>
          <a:bodyPr wrap="none" lIns="0" rIns="0" tIns="0" bIns="0">
            <a:spAutoFit/>
          </a:bodyPr>
          <a:lstStyle/>
          <a:p>
            <a:pPr>
              <a:defRPr sz="1800" b="1">
                <a:solidFill>
                  <a:srgbClr val="182B49"/>
                </a:solidFill>
                <a:latin typeface="Segoe UI"/>
              </a:defRPr>
            </a:pPr>
            <a:r>
              <a:t>Experience</a:t>
            </a:r>
          </a:p>
        </p:txBody>
      </p:sp>
      <p:sp>
        <p:nvSpPr>
          <p:cNvPr id="15" name="TextBox 14"/>
          <p:cNvSpPr txBox="1"/>
          <p:nvPr/>
        </p:nvSpPr>
        <p:spPr>
          <a:xfrm>
            <a:off x="4038600" y="2654300"/>
            <a:ext cx="7404100" cy="302260"/>
          </a:xfrm>
          <a:prstGeom prst="rect">
            <a:avLst/>
          </a:prstGeom>
          <a:noFill/>
        </p:spPr>
        <p:txBody>
          <a:bodyPr wrap="none" lIns="0" rIns="0" tIns="0" bIns="0">
            <a:spAutoFit/>
          </a:bodyPr>
          <a:lstStyle/>
          <a:p>
            <a:pPr>
              <a:defRPr sz="1600" b="0">
                <a:solidFill>
                  <a:srgbClr val="53647B"/>
                </a:solidFill>
                <a:latin typeface="Segoe UI"/>
              </a:defRPr>
            </a:pPr>
            <a:r>
              <a:t>Reject exercises above the experience limit; low energy caps it at beginner.</a:t>
            </a:r>
          </a:p>
        </p:txBody>
      </p:sp>
      <p:sp>
        <p:nvSpPr>
          <p:cNvPr id="16" name="TextBox 15"/>
          <p:cNvSpPr txBox="1"/>
          <p:nvPr/>
        </p:nvSpPr>
        <p:spPr>
          <a:xfrm>
            <a:off x="685800" y="3429000"/>
            <a:ext cx="609600" cy="368300"/>
          </a:xfrm>
          <a:prstGeom prst="rect">
            <a:avLst/>
          </a:prstGeom>
          <a:noFill/>
        </p:spPr>
        <p:txBody>
          <a:bodyPr wrap="none" lIns="0" rIns="0" tIns="0" bIns="0">
            <a:spAutoFit/>
          </a:bodyPr>
          <a:lstStyle/>
          <a:p>
            <a:pPr>
              <a:defRPr sz="2000" b="1">
                <a:solidFill>
                  <a:srgbClr val="3268C8"/>
                </a:solidFill>
                <a:latin typeface="Segoe UI"/>
              </a:defRPr>
            </a:pPr>
            <a:r>
              <a:t>03</a:t>
            </a:r>
          </a:p>
        </p:txBody>
      </p:sp>
      <p:sp>
        <p:nvSpPr>
          <p:cNvPr id="17" name="TextBox 16"/>
          <p:cNvSpPr txBox="1"/>
          <p:nvPr/>
        </p:nvSpPr>
        <p:spPr>
          <a:xfrm>
            <a:off x="1422400" y="3429000"/>
            <a:ext cx="2578100" cy="335280"/>
          </a:xfrm>
          <a:prstGeom prst="rect">
            <a:avLst/>
          </a:prstGeom>
          <a:noFill/>
        </p:spPr>
        <p:txBody>
          <a:bodyPr wrap="none" lIns="0" rIns="0" tIns="0" bIns="0">
            <a:spAutoFit/>
          </a:bodyPr>
          <a:lstStyle/>
          <a:p>
            <a:pPr>
              <a:defRPr sz="1800" b="1">
                <a:solidFill>
                  <a:srgbClr val="182B49"/>
                </a:solidFill>
                <a:latin typeface="Segoe UI"/>
              </a:defRPr>
            </a:pPr>
            <a:r>
              <a:t>Muscle preferences</a:t>
            </a:r>
          </a:p>
        </p:txBody>
      </p:sp>
      <p:sp>
        <p:nvSpPr>
          <p:cNvPr id="18" name="TextBox 17"/>
          <p:cNvSpPr txBox="1"/>
          <p:nvPr/>
        </p:nvSpPr>
        <p:spPr>
          <a:xfrm>
            <a:off x="4038600" y="3429000"/>
            <a:ext cx="7404100" cy="302260"/>
          </a:xfrm>
          <a:prstGeom prst="rect">
            <a:avLst/>
          </a:prstGeom>
          <a:noFill/>
        </p:spPr>
        <p:txBody>
          <a:bodyPr wrap="none" lIns="0" rIns="0" tIns="0" bIns="0">
            <a:spAutoFit/>
          </a:bodyPr>
          <a:lstStyle/>
          <a:p>
            <a:pPr>
              <a:defRPr sz="1600" b="0">
                <a:solidFill>
                  <a:srgbClr val="53647B"/>
                </a:solidFill>
                <a:latin typeface="Segoe UI"/>
              </a:defRPr>
            </a:pPr>
            <a:r>
              <a:t>Respect focus and excluded primary muscles.</a:t>
            </a:r>
          </a:p>
        </p:txBody>
      </p:sp>
      <p:sp>
        <p:nvSpPr>
          <p:cNvPr id="19" name="TextBox 18"/>
          <p:cNvSpPr txBox="1"/>
          <p:nvPr/>
        </p:nvSpPr>
        <p:spPr>
          <a:xfrm>
            <a:off x="685800" y="4203700"/>
            <a:ext cx="609600" cy="368300"/>
          </a:xfrm>
          <a:prstGeom prst="rect">
            <a:avLst/>
          </a:prstGeom>
          <a:noFill/>
        </p:spPr>
        <p:txBody>
          <a:bodyPr wrap="none" lIns="0" rIns="0" tIns="0" bIns="0">
            <a:spAutoFit/>
          </a:bodyPr>
          <a:lstStyle/>
          <a:p>
            <a:pPr>
              <a:defRPr sz="2000" b="1">
                <a:solidFill>
                  <a:srgbClr val="3268C8"/>
                </a:solidFill>
                <a:latin typeface="Segoe UI"/>
              </a:defRPr>
            </a:pPr>
            <a:r>
              <a:t>04</a:t>
            </a:r>
          </a:p>
        </p:txBody>
      </p:sp>
      <p:sp>
        <p:nvSpPr>
          <p:cNvPr id="20" name="TextBox 19"/>
          <p:cNvSpPr txBox="1"/>
          <p:nvPr/>
        </p:nvSpPr>
        <p:spPr>
          <a:xfrm>
            <a:off x="1422400" y="4203700"/>
            <a:ext cx="2578100" cy="335280"/>
          </a:xfrm>
          <a:prstGeom prst="rect">
            <a:avLst/>
          </a:prstGeom>
          <a:noFill/>
        </p:spPr>
        <p:txBody>
          <a:bodyPr wrap="none" lIns="0" rIns="0" tIns="0" bIns="0">
            <a:spAutoFit/>
          </a:bodyPr>
          <a:lstStyle/>
          <a:p>
            <a:pPr>
              <a:defRPr sz="1800" b="1">
                <a:solidFill>
                  <a:srgbClr val="182B49"/>
                </a:solidFill>
                <a:latin typeface="Segoe UI"/>
              </a:defRPr>
            </a:pPr>
            <a:r>
              <a:t>Diversity</a:t>
            </a:r>
          </a:p>
        </p:txBody>
      </p:sp>
      <p:sp>
        <p:nvSpPr>
          <p:cNvPr id="21" name="TextBox 20"/>
          <p:cNvSpPr txBox="1"/>
          <p:nvPr/>
        </p:nvSpPr>
        <p:spPr>
          <a:xfrm>
            <a:off x="4038600" y="4203700"/>
            <a:ext cx="7404100" cy="302260"/>
          </a:xfrm>
          <a:prstGeom prst="rect">
            <a:avLst/>
          </a:prstGeom>
          <a:noFill/>
        </p:spPr>
        <p:txBody>
          <a:bodyPr wrap="none" lIns="0" rIns="0" tIns="0" bIns="0">
            <a:spAutoFit/>
          </a:bodyPr>
          <a:lstStyle/>
          <a:p>
            <a:pPr>
              <a:defRPr sz="1600" b="0">
                <a:solidFill>
                  <a:srgbClr val="53647B"/>
                </a:solidFill>
                <a:latin typeface="Segoe UI"/>
              </a:defRPr>
            </a:pPr>
            <a:r>
              <a:t>Subtract 0.10 per already-selected exercise with the same primary muscle.</a:t>
            </a:r>
          </a:p>
        </p:txBody>
      </p:sp>
      <p:sp>
        <p:nvSpPr>
          <p:cNvPr id="22" name="TextBox 21"/>
          <p:cNvSpPr txBox="1"/>
          <p:nvPr/>
        </p:nvSpPr>
        <p:spPr>
          <a:xfrm>
            <a:off x="685800" y="4978400"/>
            <a:ext cx="609600" cy="368300"/>
          </a:xfrm>
          <a:prstGeom prst="rect">
            <a:avLst/>
          </a:prstGeom>
          <a:noFill/>
        </p:spPr>
        <p:txBody>
          <a:bodyPr wrap="none" lIns="0" rIns="0" tIns="0" bIns="0">
            <a:spAutoFit/>
          </a:bodyPr>
          <a:lstStyle/>
          <a:p>
            <a:pPr>
              <a:defRPr sz="2000" b="1">
                <a:solidFill>
                  <a:srgbClr val="3268C8"/>
                </a:solidFill>
                <a:latin typeface="Segoe UI"/>
              </a:defRPr>
            </a:pPr>
            <a:r>
              <a:t>05</a:t>
            </a:r>
          </a:p>
        </p:txBody>
      </p:sp>
      <p:sp>
        <p:nvSpPr>
          <p:cNvPr id="23" name="TextBox 22"/>
          <p:cNvSpPr txBox="1"/>
          <p:nvPr/>
        </p:nvSpPr>
        <p:spPr>
          <a:xfrm>
            <a:off x="1422400" y="4978400"/>
            <a:ext cx="2578100" cy="335280"/>
          </a:xfrm>
          <a:prstGeom prst="rect">
            <a:avLst/>
          </a:prstGeom>
          <a:noFill/>
        </p:spPr>
        <p:txBody>
          <a:bodyPr wrap="none" lIns="0" rIns="0" tIns="0" bIns="0">
            <a:spAutoFit/>
          </a:bodyPr>
          <a:lstStyle/>
          <a:p>
            <a:pPr>
              <a:defRPr sz="1800" b="1">
                <a:solidFill>
                  <a:srgbClr val="182B49"/>
                </a:solidFill>
                <a:latin typeface="Segoe UI"/>
              </a:defRPr>
            </a:pPr>
            <a:r>
              <a:t>Time allocation</a:t>
            </a:r>
          </a:p>
        </p:txBody>
      </p:sp>
      <p:sp>
        <p:nvSpPr>
          <p:cNvPr id="24" name="TextBox 23"/>
          <p:cNvSpPr txBox="1"/>
          <p:nvPr/>
        </p:nvSpPr>
        <p:spPr>
          <a:xfrm>
            <a:off x="4038600" y="4978400"/>
            <a:ext cx="7404100" cy="302260"/>
          </a:xfrm>
          <a:prstGeom prst="rect">
            <a:avLst/>
          </a:prstGeom>
          <a:noFill/>
        </p:spPr>
        <p:txBody>
          <a:bodyPr wrap="none" lIns="0" rIns="0" tIns="0" bIns="0">
            <a:spAutoFit/>
          </a:bodyPr>
          <a:lstStyle/>
          <a:p>
            <a:pPr>
              <a:defRPr sz="1600" b="0">
                <a:solidFill>
                  <a:srgbClr val="53647B"/>
                </a:solidFill>
                <a:latin typeface="Segoe UI"/>
              </a:defRPr>
            </a:pPr>
            <a:r>
              <a:t>Reserve 5 minutes; allocate 5- or 7-minute exercise blocks as applicable.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279400"/>
            <a:ext cx="330200" cy="38100"/>
          </a:xfrm>
          <a:prstGeom prst="rect">
            <a:avLst/>
          </a:prstGeom>
          <a:solidFill>
            <a:srgbClr val="326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350000"/>
            <a:ext cx="10820400" cy="12700"/>
          </a:xfrm>
          <a:prstGeom prst="rect">
            <a:avLst/>
          </a:prstGeom>
          <a:solidFill>
            <a:srgbClr val="DFE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406400"/>
            <a:ext cx="10833100" cy="203200"/>
          </a:xfrm>
          <a:prstGeom prst="rect">
            <a:avLst/>
          </a:prstGeom>
          <a:noFill/>
        </p:spPr>
        <p:txBody>
          <a:bodyPr wrap="none" lIns="0" rIns="0" tIns="0" bIns="0">
            <a:spAutoFit/>
          </a:bodyPr>
          <a:lstStyle/>
          <a:p>
            <a:pPr>
              <a:defRPr sz="1000" b="1">
                <a:solidFill>
                  <a:srgbClr val="3268C8"/>
                </a:solidFill>
                <a:latin typeface="Segoe UI"/>
              </a:defRPr>
            </a:pPr>
            <a:r>
              <a:t>08 / WEIGHTED HYBRID</a:t>
            </a:r>
          </a:p>
        </p:txBody>
      </p:sp>
      <p:sp>
        <p:nvSpPr>
          <p:cNvPr id="6" name="TextBox 5"/>
          <p:cNvSpPr txBox="1"/>
          <p:nvPr/>
        </p:nvSpPr>
        <p:spPr>
          <a:xfrm>
            <a:off x="685800" y="838200"/>
            <a:ext cx="10833100" cy="549910"/>
          </a:xfrm>
          <a:prstGeom prst="rect">
            <a:avLst/>
          </a:prstGeom>
          <a:noFill/>
        </p:spPr>
        <p:txBody>
          <a:bodyPr wrap="none" lIns="0" rIns="0" tIns="0" bIns="0">
            <a:spAutoFit/>
          </a:bodyPr>
          <a:lstStyle/>
          <a:p>
            <a:pPr>
              <a:defRPr sz="3100" b="1">
                <a:solidFill>
                  <a:srgbClr val="182B49"/>
                </a:solidFill>
                <a:latin typeface="Segoe UI"/>
              </a:defRPr>
            </a:pPr>
            <a:r>
              <a:t>Chapter 10: add weighted score contributions.</a:t>
            </a:r>
          </a:p>
        </p:txBody>
      </p:sp>
      <p:sp>
        <p:nvSpPr>
          <p:cNvPr id="7" name="TextBox 6"/>
          <p:cNvSpPr txBox="1"/>
          <p:nvPr/>
        </p:nvSpPr>
        <p:spPr>
          <a:xfrm>
            <a:off x="685800" y="6489700"/>
            <a:ext cx="3848100" cy="170180"/>
          </a:xfrm>
          <a:prstGeom prst="rect">
            <a:avLst/>
          </a:prstGeom>
          <a:noFill/>
        </p:spPr>
        <p:txBody>
          <a:bodyPr wrap="none" lIns="0" rIns="0" tIns="0" bIns="0">
            <a:spAutoFit/>
          </a:bodyPr>
          <a:lstStyle/>
          <a:p>
            <a:pPr>
              <a:defRPr sz="800" b="0">
                <a:solidFill>
                  <a:srgbClr val="53647B"/>
                </a:solidFill>
                <a:latin typeface="Segoe UI"/>
              </a:defRPr>
            </a:pPr>
            <a:r>
              <a:t>GYM WORKOUT RECOMMENDER</a:t>
            </a:r>
          </a:p>
        </p:txBody>
      </p:sp>
      <p:sp>
        <p:nvSpPr>
          <p:cNvPr id="8" name="TextBox 7"/>
          <p:cNvSpPr txBox="1"/>
          <p:nvPr/>
        </p:nvSpPr>
        <p:spPr>
          <a:xfrm>
            <a:off x="10858500" y="6489700"/>
            <a:ext cx="800100" cy="186690"/>
          </a:xfrm>
          <a:prstGeom prst="rect">
            <a:avLst/>
          </a:prstGeom>
          <a:noFill/>
        </p:spPr>
        <p:txBody>
          <a:bodyPr wrap="none" lIns="0" rIns="0" tIns="0" bIns="0">
            <a:spAutoFit/>
          </a:bodyPr>
          <a:lstStyle/>
          <a:p>
            <a:pPr>
              <a:defRPr sz="900" b="0">
                <a:solidFill>
                  <a:srgbClr val="53647B"/>
                </a:solidFill>
                <a:latin typeface="Segoe UI"/>
              </a:defRPr>
            </a:pPr>
            <a:r>
              <a:t>09 / 16</a:t>
            </a:r>
          </a:p>
        </p:txBody>
      </p:sp>
      <p:sp>
        <p:nvSpPr>
          <p:cNvPr id="9" name="TextBox 8"/>
          <p:cNvSpPr txBox="1"/>
          <p:nvPr/>
        </p:nvSpPr>
        <p:spPr>
          <a:xfrm>
            <a:off x="685800" y="6146800"/>
            <a:ext cx="10642600" cy="186690"/>
          </a:xfrm>
          <a:prstGeom prst="rect">
            <a:avLst/>
          </a:prstGeom>
          <a:noFill/>
        </p:spPr>
        <p:txBody>
          <a:bodyPr wrap="none" lIns="0" rIns="0" tIns="0" bIns="0">
            <a:spAutoFit/>
          </a:bodyPr>
          <a:lstStyle/>
          <a:p>
            <a:pPr>
              <a:defRPr sz="900" b="0">
                <a:solidFill>
                  <a:srgbClr val="53647B"/>
                </a:solidFill>
                <a:latin typeface="Segoe UI"/>
              </a:defRPr>
            </a:pPr>
            <a:r>
              <a:t>Chapter 10: weighted_hybrid and hybrid_recommender examples, code cells 35–57</a:t>
            </a:r>
          </a:p>
        </p:txBody>
      </p:sp>
      <p:sp>
        <p:nvSpPr>
          <p:cNvPr id="10" name="Rectangle 9"/>
          <p:cNvSpPr/>
          <p:nvPr/>
        </p:nvSpPr>
        <p:spPr>
          <a:xfrm>
            <a:off x="685800" y="1943100"/>
            <a:ext cx="10820400" cy="1270000"/>
          </a:xfrm>
          <a:prstGeom prst="rect">
            <a:avLst/>
          </a:prstGeom>
          <a:solidFill>
            <a:srgbClr val="F2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2500" y="2209800"/>
            <a:ext cx="10325100" cy="450850"/>
          </a:xfrm>
          <a:prstGeom prst="rect">
            <a:avLst/>
          </a:prstGeom>
          <a:noFill/>
        </p:spPr>
        <p:txBody>
          <a:bodyPr wrap="none" lIns="0" rIns="0" tIns="0" bIns="0">
            <a:spAutoFit/>
          </a:bodyPr>
          <a:lstStyle/>
          <a:p>
            <a:pPr>
              <a:defRPr sz="2500" b="0">
                <a:solidFill>
                  <a:srgbClr val="182B49"/>
                </a:solidFill>
                <a:latin typeface="Segoe UI"/>
              </a:defRPr>
            </a:pPr>
            <a:r>
              <a:t>Hybrid score = Σ weight × component score</a:t>
            </a:r>
          </a:p>
        </p:txBody>
      </p:sp>
      <p:sp>
        <p:nvSpPr>
          <p:cNvPr id="12" name="TextBox 11"/>
          <p:cNvSpPr txBox="1"/>
          <p:nvPr/>
        </p:nvSpPr>
        <p:spPr>
          <a:xfrm>
            <a:off x="952500" y="2755900"/>
            <a:ext cx="10325100" cy="236220"/>
          </a:xfrm>
          <a:prstGeom prst="rect">
            <a:avLst/>
          </a:prstGeom>
          <a:noFill/>
        </p:spPr>
        <p:txBody>
          <a:bodyPr wrap="none" lIns="0" rIns="0" tIns="0" bIns="0">
            <a:spAutoFit/>
          </a:bodyPr>
          <a:lstStyle/>
          <a:p>
            <a:pPr>
              <a:defRPr sz="1200" b="0">
                <a:solidFill>
                  <a:srgbClr val="3268C8"/>
                </a:solidFill>
                <a:latin typeface="Segoe UI"/>
              </a:defRPr>
            </a:pPr>
            <a:r>
              <a:t>Each component contributes to a shared score; example weights sum to 1.</a:t>
            </a:r>
          </a:p>
        </p:txBody>
      </p:sp>
      <p:sp>
        <p:nvSpPr>
          <p:cNvPr id="13" name="Rectangle 12"/>
          <p:cNvSpPr/>
          <p:nvPr/>
        </p:nvSpPr>
        <p:spPr>
          <a:xfrm>
            <a:off x="685800" y="3492500"/>
            <a:ext cx="5219700" cy="2311400"/>
          </a:xfrm>
          <a:prstGeom prst="rect">
            <a:avLst/>
          </a:prstGeom>
          <a:solidFill>
            <a:srgbClr val="F2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14400" y="3644900"/>
            <a:ext cx="279400" cy="25400"/>
          </a:xfrm>
          <a:prstGeom prst="rect">
            <a:avLst/>
          </a:prstGeom>
          <a:solidFill>
            <a:srgbClr val="326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784600"/>
            <a:ext cx="4800600" cy="335280"/>
          </a:xfrm>
          <a:prstGeom prst="rect">
            <a:avLst/>
          </a:prstGeom>
          <a:noFill/>
        </p:spPr>
        <p:txBody>
          <a:bodyPr wrap="none" lIns="0" rIns="0" tIns="0" bIns="0">
            <a:spAutoFit/>
          </a:bodyPr>
          <a:lstStyle/>
          <a:p>
            <a:pPr>
              <a:defRPr sz="1800" b="1">
                <a:solidFill>
                  <a:srgbClr val="182B49"/>
                </a:solidFill>
                <a:latin typeface="Segoe UI"/>
              </a:defRPr>
            </a:pPr>
            <a:r>
              <a:t>Two-component lecture example</a:t>
            </a:r>
          </a:p>
        </p:txBody>
      </p:sp>
      <p:sp>
        <p:nvSpPr>
          <p:cNvPr id="16" name="TextBox 15"/>
          <p:cNvSpPr txBox="1"/>
          <p:nvPr/>
        </p:nvSpPr>
        <p:spPr>
          <a:xfrm>
            <a:off x="914400" y="4241800"/>
            <a:ext cx="4800600" cy="302260"/>
          </a:xfrm>
          <a:prstGeom prst="rect">
            <a:avLst/>
          </a:prstGeom>
          <a:noFill/>
        </p:spPr>
        <p:txBody>
          <a:bodyPr wrap="none" lIns="0" rIns="0" tIns="0" bIns="0">
            <a:spAutoFit/>
          </a:bodyPr>
          <a:lstStyle/>
          <a:p>
            <a:pPr>
              <a:defRPr sz="1600" b="0">
                <a:solidFill>
                  <a:srgbClr val="53647B"/>
                </a:solidFill>
                <a:latin typeface="Segoe UI"/>
              </a:defRPr>
            </a:pPr>
            <a:r>
              <a:t>Hybrid = 0.60 CF + 0.40 Content</a:t>
            </a:r>
          </a:p>
        </p:txBody>
      </p:sp>
      <p:sp>
        <p:nvSpPr>
          <p:cNvPr id="17" name="TextBox 16"/>
          <p:cNvSpPr txBox="1"/>
          <p:nvPr/>
        </p:nvSpPr>
        <p:spPr>
          <a:xfrm>
            <a:off x="914400" y="4505960"/>
            <a:ext cx="4800600" cy="302260"/>
          </a:xfrm>
          <a:prstGeom prst="rect">
            <a:avLst/>
          </a:prstGeom>
          <a:noFill/>
        </p:spPr>
        <p:txBody>
          <a:bodyPr wrap="none" lIns="0" rIns="0" tIns="0" bIns="0">
            <a:spAutoFit/>
          </a:bodyPr>
          <a:lstStyle/>
          <a:p>
            <a:pPr>
              <a:defRPr sz="1600" b="0">
                <a:solidFill>
                  <a:srgbClr val="53647B"/>
                </a:solidFill>
                <a:latin typeface="Segoe UI"/>
              </a:defRPr>
            </a:pPr>
          </a:p>
        </p:txBody>
      </p:sp>
      <p:sp>
        <p:nvSpPr>
          <p:cNvPr id="18" name="TextBox 17"/>
          <p:cNvSpPr txBox="1"/>
          <p:nvPr/>
        </p:nvSpPr>
        <p:spPr>
          <a:xfrm>
            <a:off x="914400" y="4770120"/>
            <a:ext cx="4800600" cy="302260"/>
          </a:xfrm>
          <a:prstGeom prst="rect">
            <a:avLst/>
          </a:prstGeom>
          <a:noFill/>
        </p:spPr>
        <p:txBody>
          <a:bodyPr wrap="none" lIns="0" rIns="0" tIns="0" bIns="0">
            <a:spAutoFit/>
          </a:bodyPr>
          <a:lstStyle/>
          <a:p>
            <a:pPr>
              <a:defRPr sz="1600" b="0">
                <a:solidFill>
                  <a:srgbClr val="53647B"/>
                </a:solidFill>
                <a:latin typeface="Segoe UI"/>
              </a:defRPr>
            </a:pPr>
            <a:r>
              <a:t>For CF = 4.8 and Content = 4.2:</a:t>
            </a:r>
          </a:p>
        </p:txBody>
      </p:sp>
      <p:sp>
        <p:nvSpPr>
          <p:cNvPr id="19" name="TextBox 18"/>
          <p:cNvSpPr txBox="1"/>
          <p:nvPr/>
        </p:nvSpPr>
        <p:spPr>
          <a:xfrm>
            <a:off x="914400" y="5034280"/>
            <a:ext cx="4800600" cy="302260"/>
          </a:xfrm>
          <a:prstGeom prst="rect">
            <a:avLst/>
          </a:prstGeom>
          <a:noFill/>
        </p:spPr>
        <p:txBody>
          <a:bodyPr wrap="none" lIns="0" rIns="0" tIns="0" bIns="0">
            <a:spAutoFit/>
          </a:bodyPr>
          <a:lstStyle/>
          <a:p>
            <a:pPr>
              <a:defRPr sz="1600" b="0">
                <a:solidFill>
                  <a:srgbClr val="53647B"/>
                </a:solidFill>
                <a:latin typeface="Segoe UI"/>
              </a:defRPr>
            </a:pPr>
            <a:r>
              <a:t>Hybrid = 2.88 + 1.68 = 4.56.</a:t>
            </a:r>
          </a:p>
        </p:txBody>
      </p:sp>
      <p:sp>
        <p:nvSpPr>
          <p:cNvPr id="20" name="Rectangle 19"/>
          <p:cNvSpPr/>
          <p:nvPr/>
        </p:nvSpPr>
        <p:spPr>
          <a:xfrm>
            <a:off x="6134100" y="3492500"/>
            <a:ext cx="5372100" cy="2311400"/>
          </a:xfrm>
          <a:prstGeom prst="rect">
            <a:avLst/>
          </a:prstGeom>
          <a:solidFill>
            <a:srgbClr val="F2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62700" y="3644900"/>
            <a:ext cx="279400" cy="25400"/>
          </a:xfrm>
          <a:prstGeom prst="rect">
            <a:avLst/>
          </a:prstGeom>
          <a:solidFill>
            <a:srgbClr val="326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2700" y="3784600"/>
            <a:ext cx="4953000" cy="335280"/>
          </a:xfrm>
          <a:prstGeom prst="rect">
            <a:avLst/>
          </a:prstGeom>
          <a:noFill/>
        </p:spPr>
        <p:txBody>
          <a:bodyPr wrap="none" lIns="0" rIns="0" tIns="0" bIns="0">
            <a:spAutoFit/>
          </a:bodyPr>
          <a:lstStyle/>
          <a:p>
            <a:pPr>
              <a:defRPr sz="1800" b="1">
                <a:solidFill>
                  <a:srgbClr val="182B49"/>
                </a:solidFill>
                <a:latin typeface="Segoe UI"/>
              </a:defRPr>
            </a:pPr>
            <a:r>
              <a:t>Generalized lecture example</a:t>
            </a:r>
          </a:p>
        </p:txBody>
      </p:sp>
      <p:sp>
        <p:nvSpPr>
          <p:cNvPr id="23" name="TextBox 22"/>
          <p:cNvSpPr txBox="1"/>
          <p:nvPr/>
        </p:nvSpPr>
        <p:spPr>
          <a:xfrm>
            <a:off x="6362700" y="4241800"/>
            <a:ext cx="4953000" cy="302260"/>
          </a:xfrm>
          <a:prstGeom prst="rect">
            <a:avLst/>
          </a:prstGeom>
          <a:noFill/>
        </p:spPr>
        <p:txBody>
          <a:bodyPr wrap="none" lIns="0" rIns="0" tIns="0" bIns="0">
            <a:spAutoFit/>
          </a:bodyPr>
          <a:lstStyle/>
          <a:p>
            <a:pPr>
              <a:defRPr sz="1600" b="0">
                <a:solidFill>
                  <a:srgbClr val="53647B"/>
                </a:solidFill>
                <a:latin typeface="Segoe UI"/>
              </a:defRPr>
            </a:pPr>
            <a:r>
              <a:t>Hybrid = 0.50 CF + 0.30 Content + 0.20 Context</a:t>
            </a:r>
          </a:p>
        </p:txBody>
      </p:sp>
      <p:sp>
        <p:nvSpPr>
          <p:cNvPr id="24" name="TextBox 23"/>
          <p:cNvSpPr txBox="1"/>
          <p:nvPr/>
        </p:nvSpPr>
        <p:spPr>
          <a:xfrm>
            <a:off x="6362700" y="4505960"/>
            <a:ext cx="4953000" cy="302260"/>
          </a:xfrm>
          <a:prstGeom prst="rect">
            <a:avLst/>
          </a:prstGeom>
          <a:noFill/>
        </p:spPr>
        <p:txBody>
          <a:bodyPr wrap="none" lIns="0" rIns="0" tIns="0" bIns="0">
            <a:spAutoFit/>
          </a:bodyPr>
          <a:lstStyle/>
          <a:p>
            <a:pPr>
              <a:defRPr sz="1600" b="0">
                <a:solidFill>
                  <a:srgbClr val="53647B"/>
                </a:solidFill>
                <a:latin typeface="Segoe UI"/>
              </a:defRPr>
            </a:pPr>
          </a:p>
        </p:txBody>
      </p:sp>
      <p:sp>
        <p:nvSpPr>
          <p:cNvPr id="25" name="TextBox 24"/>
          <p:cNvSpPr txBox="1"/>
          <p:nvPr/>
        </p:nvSpPr>
        <p:spPr>
          <a:xfrm>
            <a:off x="6362700" y="4770120"/>
            <a:ext cx="4953000" cy="302260"/>
          </a:xfrm>
          <a:prstGeom prst="rect">
            <a:avLst/>
          </a:prstGeom>
          <a:noFill/>
        </p:spPr>
        <p:txBody>
          <a:bodyPr wrap="none" lIns="0" rIns="0" tIns="0" bIns="0">
            <a:spAutoFit/>
          </a:bodyPr>
          <a:lstStyle/>
          <a:p>
            <a:pPr>
              <a:defRPr sz="1600" b="0">
                <a:solidFill>
                  <a:srgbClr val="53647B"/>
                </a:solidFill>
                <a:latin typeface="Segoe UI"/>
              </a:defRPr>
            </a:pPr>
            <a:r>
              <a:t>The lecture also accepts a dictionary of score columns</a:t>
            </a:r>
          </a:p>
        </p:txBody>
      </p:sp>
      <p:sp>
        <p:nvSpPr>
          <p:cNvPr id="26" name="TextBox 25"/>
          <p:cNvSpPr txBox="1"/>
          <p:nvPr/>
        </p:nvSpPr>
        <p:spPr>
          <a:xfrm>
            <a:off x="6362700" y="5034280"/>
            <a:ext cx="4953000" cy="302260"/>
          </a:xfrm>
          <a:prstGeom prst="rect">
            <a:avLst/>
          </a:prstGeom>
          <a:noFill/>
        </p:spPr>
        <p:txBody>
          <a:bodyPr wrap="none" lIns="0" rIns="0" tIns="0" bIns="0">
            <a:spAutoFit/>
          </a:bodyPr>
          <a:lstStyle/>
          <a:p>
            <a:pPr>
              <a:defRPr sz="1600" b="0">
                <a:solidFill>
                  <a:srgbClr val="53647B"/>
                </a:solidFill>
                <a:latin typeface="Segoe UI"/>
              </a:defRPr>
            </a:pPr>
            <a:r>
              <a:t>and weights.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279400"/>
            <a:ext cx="330200" cy="38100"/>
          </a:xfrm>
          <a:prstGeom prst="rect">
            <a:avLst/>
          </a:prstGeom>
          <a:solidFill>
            <a:srgbClr val="326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350000"/>
            <a:ext cx="10820400" cy="12700"/>
          </a:xfrm>
          <a:prstGeom prst="rect">
            <a:avLst/>
          </a:prstGeom>
          <a:solidFill>
            <a:srgbClr val="DFE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406400"/>
            <a:ext cx="10833100" cy="203200"/>
          </a:xfrm>
          <a:prstGeom prst="rect">
            <a:avLst/>
          </a:prstGeom>
          <a:noFill/>
        </p:spPr>
        <p:txBody>
          <a:bodyPr wrap="none" lIns="0" rIns="0" tIns="0" bIns="0">
            <a:spAutoFit/>
          </a:bodyPr>
          <a:lstStyle/>
          <a:p>
            <a:pPr>
              <a:defRPr sz="1000" b="1">
                <a:solidFill>
                  <a:srgbClr val="3268C8"/>
                </a:solidFill>
                <a:latin typeface="Segoe UI"/>
              </a:defRPr>
            </a:pPr>
            <a:r>
              <a:t>09 / OUR WEIGHTED HYBRID</a:t>
            </a:r>
          </a:p>
        </p:txBody>
      </p:sp>
      <p:sp>
        <p:nvSpPr>
          <p:cNvPr id="6" name="TextBox 5"/>
          <p:cNvSpPr txBox="1"/>
          <p:nvPr/>
        </p:nvSpPr>
        <p:spPr>
          <a:xfrm>
            <a:off x="685800" y="838200"/>
            <a:ext cx="10833100" cy="549910"/>
          </a:xfrm>
          <a:prstGeom prst="rect">
            <a:avLst/>
          </a:prstGeom>
          <a:noFill/>
        </p:spPr>
        <p:txBody>
          <a:bodyPr wrap="none" lIns="0" rIns="0" tIns="0" bIns="0">
            <a:spAutoFit/>
          </a:bodyPr>
          <a:lstStyle/>
          <a:p>
            <a:pPr>
              <a:defRPr sz="3100" b="1">
                <a:solidFill>
                  <a:srgbClr val="182B49"/>
                </a:solidFill>
                <a:latin typeface="Segoe UI"/>
              </a:defRPr>
            </a:pPr>
            <a:r>
              <a:t>The lecture mechanism, adapted to gym signals.</a:t>
            </a:r>
          </a:p>
        </p:txBody>
      </p:sp>
      <p:sp>
        <p:nvSpPr>
          <p:cNvPr id="7" name="TextBox 6"/>
          <p:cNvSpPr txBox="1"/>
          <p:nvPr/>
        </p:nvSpPr>
        <p:spPr>
          <a:xfrm>
            <a:off x="685800" y="6489700"/>
            <a:ext cx="3848100" cy="170180"/>
          </a:xfrm>
          <a:prstGeom prst="rect">
            <a:avLst/>
          </a:prstGeom>
          <a:noFill/>
        </p:spPr>
        <p:txBody>
          <a:bodyPr wrap="none" lIns="0" rIns="0" tIns="0" bIns="0">
            <a:spAutoFit/>
          </a:bodyPr>
          <a:lstStyle/>
          <a:p>
            <a:pPr>
              <a:defRPr sz="800" b="0">
                <a:solidFill>
                  <a:srgbClr val="53647B"/>
                </a:solidFill>
                <a:latin typeface="Segoe UI"/>
              </a:defRPr>
            </a:pPr>
            <a:r>
              <a:t>GYM WORKOUT RECOMMENDER</a:t>
            </a:r>
          </a:p>
        </p:txBody>
      </p:sp>
      <p:sp>
        <p:nvSpPr>
          <p:cNvPr id="8" name="TextBox 7"/>
          <p:cNvSpPr txBox="1"/>
          <p:nvPr/>
        </p:nvSpPr>
        <p:spPr>
          <a:xfrm>
            <a:off x="10858500" y="6489700"/>
            <a:ext cx="800100" cy="186690"/>
          </a:xfrm>
          <a:prstGeom prst="rect">
            <a:avLst/>
          </a:prstGeom>
          <a:noFill/>
        </p:spPr>
        <p:txBody>
          <a:bodyPr wrap="none" lIns="0" rIns="0" tIns="0" bIns="0">
            <a:spAutoFit/>
          </a:bodyPr>
          <a:lstStyle/>
          <a:p>
            <a:pPr>
              <a:defRPr sz="900" b="0">
                <a:solidFill>
                  <a:srgbClr val="53647B"/>
                </a:solidFill>
                <a:latin typeface="Segoe UI"/>
              </a:defRPr>
            </a:pPr>
            <a:r>
              <a:t>10 / 16</a:t>
            </a:r>
          </a:p>
        </p:txBody>
      </p:sp>
      <p:sp>
        <p:nvSpPr>
          <p:cNvPr id="9" name="TextBox 8"/>
          <p:cNvSpPr txBox="1"/>
          <p:nvPr/>
        </p:nvSpPr>
        <p:spPr>
          <a:xfrm>
            <a:off x="685800" y="6146800"/>
            <a:ext cx="10642600" cy="186690"/>
          </a:xfrm>
          <a:prstGeom prst="rect">
            <a:avLst/>
          </a:prstGeom>
          <a:noFill/>
        </p:spPr>
        <p:txBody>
          <a:bodyPr wrap="none" lIns="0" rIns="0" tIns="0" bIns="0">
            <a:spAutoFit/>
          </a:bodyPr>
          <a:lstStyle/>
          <a:p>
            <a:pPr>
              <a:defRPr sz="900" b="0">
                <a:solidFill>
                  <a:srgbClr val="53647B"/>
                </a:solidFill>
                <a:latin typeface="Segoe UI"/>
              </a:defRPr>
            </a:pPr>
            <a:r>
              <a:t>engine.py: Hybrid score; Chapter 10: generalized weighted sum</a:t>
            </a:r>
          </a:p>
        </p:txBody>
      </p:sp>
      <p:sp>
        <p:nvSpPr>
          <p:cNvPr id="10" name="Rectangle 9"/>
          <p:cNvSpPr/>
          <p:nvPr/>
        </p:nvSpPr>
        <p:spPr>
          <a:xfrm>
            <a:off x="685800" y="1917700"/>
            <a:ext cx="4328160" cy="520700"/>
          </a:xfrm>
          <a:prstGeom prst="rect">
            <a:avLst/>
          </a:prstGeom>
          <a:solidFill>
            <a:srgbClr val="326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0900" y="2032000"/>
            <a:ext cx="4112260" cy="335280"/>
          </a:xfrm>
          <a:prstGeom prst="rect">
            <a:avLst/>
          </a:prstGeom>
          <a:noFill/>
        </p:spPr>
        <p:txBody>
          <a:bodyPr wrap="none" lIns="0" rIns="0" tIns="0" bIns="0">
            <a:spAutoFit/>
          </a:bodyPr>
          <a:lstStyle/>
          <a:p>
            <a:pPr>
              <a:defRPr sz="1800" b="1">
                <a:solidFill>
                  <a:srgbClr val="FFFFFF"/>
                </a:solidFill>
                <a:latin typeface="Segoe UI"/>
              </a:defRPr>
            </a:pPr>
            <a:r>
              <a:t>40%</a:t>
            </a:r>
          </a:p>
        </p:txBody>
      </p:sp>
      <p:sp>
        <p:nvSpPr>
          <p:cNvPr id="12" name="Rectangle 11"/>
          <p:cNvSpPr/>
          <p:nvPr/>
        </p:nvSpPr>
        <p:spPr>
          <a:xfrm>
            <a:off x="5013960" y="1917700"/>
            <a:ext cx="2164080" cy="520700"/>
          </a:xfrm>
          <a:prstGeom prst="rect">
            <a:avLst/>
          </a:prstGeom>
          <a:solidFill>
            <a:srgbClr val="5A8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79060" y="2032000"/>
            <a:ext cx="1948180" cy="335280"/>
          </a:xfrm>
          <a:prstGeom prst="rect">
            <a:avLst/>
          </a:prstGeom>
          <a:noFill/>
        </p:spPr>
        <p:txBody>
          <a:bodyPr wrap="none" lIns="0" rIns="0" tIns="0" bIns="0">
            <a:spAutoFit/>
          </a:bodyPr>
          <a:lstStyle/>
          <a:p>
            <a:pPr>
              <a:defRPr sz="1800" b="1">
                <a:solidFill>
                  <a:srgbClr val="FFFFFF"/>
                </a:solidFill>
                <a:latin typeface="Segoe UI"/>
              </a:defRPr>
            </a:pPr>
            <a:r>
              <a:t>20%</a:t>
            </a:r>
          </a:p>
        </p:txBody>
      </p:sp>
      <p:sp>
        <p:nvSpPr>
          <p:cNvPr id="14" name="Rectangle 13"/>
          <p:cNvSpPr/>
          <p:nvPr/>
        </p:nvSpPr>
        <p:spPr>
          <a:xfrm>
            <a:off x="7178040" y="1917700"/>
            <a:ext cx="2705100" cy="520700"/>
          </a:xfrm>
          <a:prstGeom prst="rect">
            <a:avLst/>
          </a:prstGeom>
          <a:solidFill>
            <a:srgbClr val="86A6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43140" y="2032000"/>
            <a:ext cx="2489200" cy="335280"/>
          </a:xfrm>
          <a:prstGeom prst="rect">
            <a:avLst/>
          </a:prstGeom>
          <a:noFill/>
        </p:spPr>
        <p:txBody>
          <a:bodyPr wrap="none" lIns="0" rIns="0" tIns="0" bIns="0">
            <a:spAutoFit/>
          </a:bodyPr>
          <a:lstStyle/>
          <a:p>
            <a:pPr>
              <a:defRPr sz="1800" b="1">
                <a:solidFill>
                  <a:srgbClr val="FFFFFF"/>
                </a:solidFill>
                <a:latin typeface="Segoe UI"/>
              </a:defRPr>
            </a:pPr>
            <a:r>
              <a:t>25%</a:t>
            </a:r>
          </a:p>
        </p:txBody>
      </p:sp>
      <p:sp>
        <p:nvSpPr>
          <p:cNvPr id="16" name="Rectangle 15"/>
          <p:cNvSpPr/>
          <p:nvPr/>
        </p:nvSpPr>
        <p:spPr>
          <a:xfrm>
            <a:off x="9883140" y="1917700"/>
            <a:ext cx="1623060" cy="520700"/>
          </a:xfrm>
          <a:prstGeom prst="rect">
            <a:avLst/>
          </a:prstGeom>
          <a:solidFill>
            <a:srgbClr val="B6C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48240" y="2032000"/>
            <a:ext cx="1407160" cy="335280"/>
          </a:xfrm>
          <a:prstGeom prst="rect">
            <a:avLst/>
          </a:prstGeom>
          <a:noFill/>
        </p:spPr>
        <p:txBody>
          <a:bodyPr wrap="none" lIns="0" rIns="0" tIns="0" bIns="0">
            <a:spAutoFit/>
          </a:bodyPr>
          <a:lstStyle/>
          <a:p>
            <a:pPr>
              <a:defRPr sz="1800" b="1">
                <a:solidFill>
                  <a:srgbClr val="182B49"/>
                </a:solidFill>
                <a:latin typeface="Segoe UI"/>
              </a:defRPr>
            </a:pPr>
            <a:r>
              <a:t>15%</a:t>
            </a:r>
          </a:p>
        </p:txBody>
      </p:sp>
      <p:sp>
        <p:nvSpPr>
          <p:cNvPr id="18" name="TextBox 17"/>
          <p:cNvSpPr txBox="1"/>
          <p:nvPr/>
        </p:nvSpPr>
        <p:spPr>
          <a:xfrm>
            <a:off x="685800" y="2832100"/>
            <a:ext cx="2578100" cy="335280"/>
          </a:xfrm>
          <a:prstGeom prst="rect">
            <a:avLst/>
          </a:prstGeom>
          <a:noFill/>
        </p:spPr>
        <p:txBody>
          <a:bodyPr wrap="none" lIns="0" rIns="0" tIns="0" bIns="0">
            <a:spAutoFit/>
          </a:bodyPr>
          <a:lstStyle/>
          <a:p>
            <a:pPr>
              <a:defRPr sz="1800" b="1">
                <a:solidFill>
                  <a:srgbClr val="182B49"/>
                </a:solidFill>
                <a:latin typeface="Segoe UI"/>
              </a:defRPr>
            </a:pPr>
            <a:r>
              <a:t>Content</a:t>
            </a:r>
          </a:p>
        </p:txBody>
      </p:sp>
      <p:sp>
        <p:nvSpPr>
          <p:cNvPr id="19" name="TextBox 18"/>
          <p:cNvSpPr txBox="1"/>
          <p:nvPr/>
        </p:nvSpPr>
        <p:spPr>
          <a:xfrm>
            <a:off x="3302000" y="2832100"/>
            <a:ext cx="8166100" cy="335280"/>
          </a:xfrm>
          <a:prstGeom prst="rect">
            <a:avLst/>
          </a:prstGeom>
          <a:noFill/>
        </p:spPr>
        <p:txBody>
          <a:bodyPr wrap="none" lIns="0" rIns="0" tIns="0" bIns="0">
            <a:spAutoFit/>
          </a:bodyPr>
          <a:lstStyle/>
          <a:p>
            <a:pPr>
              <a:defRPr sz="1800" b="0">
                <a:solidFill>
                  <a:srgbClr val="53647B"/>
                </a:solidFill>
                <a:latin typeface="Segoe UI"/>
              </a:defRPr>
            </a:pPr>
            <a:r>
              <a:t>Goal/focus and liked items</a:t>
            </a:r>
          </a:p>
        </p:txBody>
      </p:sp>
      <p:sp>
        <p:nvSpPr>
          <p:cNvPr id="20" name="TextBox 19"/>
          <p:cNvSpPr txBox="1"/>
          <p:nvPr/>
        </p:nvSpPr>
        <p:spPr>
          <a:xfrm>
            <a:off x="685800" y="3390900"/>
            <a:ext cx="2578100" cy="335280"/>
          </a:xfrm>
          <a:prstGeom prst="rect">
            <a:avLst/>
          </a:prstGeom>
          <a:noFill/>
        </p:spPr>
        <p:txBody>
          <a:bodyPr wrap="none" lIns="0" rIns="0" tIns="0" bIns="0">
            <a:spAutoFit/>
          </a:bodyPr>
          <a:lstStyle/>
          <a:p>
            <a:pPr>
              <a:defRPr sz="1800" b="1">
                <a:solidFill>
                  <a:srgbClr val="182B49"/>
                </a:solidFill>
                <a:latin typeface="Segoe UI"/>
              </a:defRPr>
            </a:pPr>
            <a:r>
              <a:t>Popularity</a:t>
            </a:r>
          </a:p>
        </p:txBody>
      </p:sp>
      <p:sp>
        <p:nvSpPr>
          <p:cNvPr id="21" name="TextBox 20"/>
          <p:cNvSpPr txBox="1"/>
          <p:nvPr/>
        </p:nvSpPr>
        <p:spPr>
          <a:xfrm>
            <a:off x="3302000" y="3390900"/>
            <a:ext cx="8166100" cy="335280"/>
          </a:xfrm>
          <a:prstGeom prst="rect">
            <a:avLst/>
          </a:prstGeom>
          <a:noFill/>
        </p:spPr>
        <p:txBody>
          <a:bodyPr wrap="none" lIns="0" rIns="0" tIns="0" bIns="0">
            <a:spAutoFit/>
          </a:bodyPr>
          <a:lstStyle/>
          <a:p>
            <a:pPr>
              <a:defRPr sz="1800" b="0">
                <a:solidFill>
                  <a:srgbClr val="53647B"/>
                </a:solidFill>
                <a:latin typeface="Segoe UI"/>
              </a:defRPr>
            </a:pPr>
            <a:r>
              <a:t>Source prior and local ratings</a:t>
            </a:r>
          </a:p>
        </p:txBody>
      </p:sp>
      <p:sp>
        <p:nvSpPr>
          <p:cNvPr id="22" name="TextBox 21"/>
          <p:cNvSpPr txBox="1"/>
          <p:nvPr/>
        </p:nvSpPr>
        <p:spPr>
          <a:xfrm>
            <a:off x="685800" y="3949700"/>
            <a:ext cx="2578100" cy="335280"/>
          </a:xfrm>
          <a:prstGeom prst="rect">
            <a:avLst/>
          </a:prstGeom>
          <a:noFill/>
        </p:spPr>
        <p:txBody>
          <a:bodyPr wrap="none" lIns="0" rIns="0" tIns="0" bIns="0">
            <a:spAutoFit/>
          </a:bodyPr>
          <a:lstStyle/>
          <a:p>
            <a:pPr>
              <a:defRPr sz="1800" b="1">
                <a:solidFill>
                  <a:srgbClr val="182B49"/>
                </a:solidFill>
                <a:latin typeface="Segoe UI"/>
              </a:defRPr>
            </a:pPr>
            <a:r>
              <a:t>Knowledge</a:t>
            </a:r>
          </a:p>
        </p:txBody>
      </p:sp>
      <p:sp>
        <p:nvSpPr>
          <p:cNvPr id="23" name="TextBox 22"/>
          <p:cNvSpPr txBox="1"/>
          <p:nvPr/>
        </p:nvSpPr>
        <p:spPr>
          <a:xfrm>
            <a:off x="3302000" y="3949700"/>
            <a:ext cx="8166100" cy="335280"/>
          </a:xfrm>
          <a:prstGeom prst="rect">
            <a:avLst/>
          </a:prstGeom>
          <a:noFill/>
        </p:spPr>
        <p:txBody>
          <a:bodyPr wrap="none" lIns="0" rIns="0" tIns="0" bIns="0">
            <a:spAutoFit/>
          </a:bodyPr>
          <a:lstStyle/>
          <a:p>
            <a:pPr>
              <a:defRPr sz="1800" b="0">
                <a:solidFill>
                  <a:srgbClr val="53647B"/>
                </a:solidFill>
                <a:latin typeface="Segoe UI"/>
              </a:defRPr>
            </a:pPr>
            <a:r>
              <a:t>Goal/category and experience</a:t>
            </a:r>
          </a:p>
        </p:txBody>
      </p:sp>
      <p:sp>
        <p:nvSpPr>
          <p:cNvPr id="24" name="TextBox 23"/>
          <p:cNvSpPr txBox="1"/>
          <p:nvPr/>
        </p:nvSpPr>
        <p:spPr>
          <a:xfrm>
            <a:off x="685800" y="4508500"/>
            <a:ext cx="2578100" cy="335280"/>
          </a:xfrm>
          <a:prstGeom prst="rect">
            <a:avLst/>
          </a:prstGeom>
          <a:noFill/>
        </p:spPr>
        <p:txBody>
          <a:bodyPr wrap="none" lIns="0" rIns="0" tIns="0" bIns="0">
            <a:spAutoFit/>
          </a:bodyPr>
          <a:lstStyle/>
          <a:p>
            <a:pPr>
              <a:defRPr sz="1800" b="1">
                <a:solidFill>
                  <a:srgbClr val="182B49"/>
                </a:solidFill>
                <a:latin typeface="Segoe UI"/>
              </a:defRPr>
            </a:pPr>
            <a:r>
              <a:t>Context</a:t>
            </a:r>
          </a:p>
        </p:txBody>
      </p:sp>
      <p:sp>
        <p:nvSpPr>
          <p:cNvPr id="25" name="TextBox 24"/>
          <p:cNvSpPr txBox="1"/>
          <p:nvPr/>
        </p:nvSpPr>
        <p:spPr>
          <a:xfrm>
            <a:off x="3302000" y="4508500"/>
            <a:ext cx="8166100" cy="335280"/>
          </a:xfrm>
          <a:prstGeom prst="rect">
            <a:avLst/>
          </a:prstGeom>
          <a:noFill/>
        </p:spPr>
        <p:txBody>
          <a:bodyPr wrap="none" lIns="0" rIns="0" tIns="0" bIns="0">
            <a:spAutoFit/>
          </a:bodyPr>
          <a:lstStyle/>
          <a:p>
            <a:pPr>
              <a:defRPr sz="1800" b="0">
                <a:solidFill>
                  <a:srgbClr val="53647B"/>
                </a:solidFill>
                <a:latin typeface="Segoe UI"/>
              </a:defRPr>
            </a:pPr>
            <a:r>
              <a:t>Knowledge plus completion</a:t>
            </a:r>
          </a:p>
        </p:txBody>
      </p:sp>
      <p:sp>
        <p:nvSpPr>
          <p:cNvPr id="26" name="Rectangle 25"/>
          <p:cNvSpPr/>
          <p:nvPr/>
        </p:nvSpPr>
        <p:spPr>
          <a:xfrm>
            <a:off x="685800" y="5397500"/>
            <a:ext cx="10820400" cy="546100"/>
          </a:xfrm>
          <a:prstGeom prst="rect">
            <a:avLst/>
          </a:prstGeom>
          <a:solidFill>
            <a:srgbClr val="F2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6300" y="5537200"/>
            <a:ext cx="10477500" cy="302260"/>
          </a:xfrm>
          <a:prstGeom prst="rect">
            <a:avLst/>
          </a:prstGeom>
          <a:noFill/>
        </p:spPr>
        <p:txBody>
          <a:bodyPr wrap="none" lIns="0" rIns="0" tIns="0" bIns="0">
            <a:spAutoFit/>
          </a:bodyPr>
          <a:lstStyle/>
          <a:p>
            <a:pPr>
              <a:defRPr sz="1600" b="0">
                <a:solidFill>
                  <a:srgbClr val="182B49"/>
                </a:solidFill>
                <a:latin typeface="Segoe UI"/>
              </a:defRPr>
            </a:pPr>
            <a:r>
              <a:t>B = 0.40C + 0.20P + 0.25K + 0.15X • Weights are project defaults.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279400"/>
            <a:ext cx="330200" cy="38100"/>
          </a:xfrm>
          <a:prstGeom prst="rect">
            <a:avLst/>
          </a:prstGeom>
          <a:solidFill>
            <a:srgbClr val="326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350000"/>
            <a:ext cx="10820400" cy="12700"/>
          </a:xfrm>
          <a:prstGeom prst="rect">
            <a:avLst/>
          </a:prstGeom>
          <a:solidFill>
            <a:srgbClr val="DFE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406400"/>
            <a:ext cx="10833100" cy="203200"/>
          </a:xfrm>
          <a:prstGeom prst="rect">
            <a:avLst/>
          </a:prstGeom>
          <a:noFill/>
        </p:spPr>
        <p:txBody>
          <a:bodyPr wrap="none" lIns="0" rIns="0" tIns="0" bIns="0">
            <a:spAutoFit/>
          </a:bodyPr>
          <a:lstStyle/>
          <a:p>
            <a:pPr>
              <a:defRPr sz="1000" b="1">
                <a:solidFill>
                  <a:srgbClr val="3268C8"/>
                </a:solidFill>
                <a:latin typeface="Segoe UI"/>
              </a:defRPr>
            </a:pPr>
            <a:r>
              <a:t>10 / WORKED EXAMPLE</a:t>
            </a:r>
          </a:p>
        </p:txBody>
      </p:sp>
      <p:sp>
        <p:nvSpPr>
          <p:cNvPr id="6" name="TextBox 5"/>
          <p:cNvSpPr txBox="1"/>
          <p:nvPr/>
        </p:nvSpPr>
        <p:spPr>
          <a:xfrm>
            <a:off x="685800" y="838200"/>
            <a:ext cx="10833100" cy="549910"/>
          </a:xfrm>
          <a:prstGeom prst="rect">
            <a:avLst/>
          </a:prstGeom>
          <a:noFill/>
        </p:spPr>
        <p:txBody>
          <a:bodyPr wrap="none" lIns="0" rIns="0" tIns="0" bIns="0">
            <a:spAutoFit/>
          </a:bodyPr>
          <a:lstStyle/>
          <a:p>
            <a:pPr>
              <a:defRPr sz="3100" b="1">
                <a:solidFill>
                  <a:srgbClr val="182B49"/>
                </a:solidFill>
                <a:latin typeface="Segoe UI"/>
              </a:defRPr>
            </a:pPr>
            <a:r>
              <a:t>Inspect how each signal contributes.</a:t>
            </a:r>
          </a:p>
        </p:txBody>
      </p:sp>
      <p:sp>
        <p:nvSpPr>
          <p:cNvPr id="7" name="TextBox 6"/>
          <p:cNvSpPr txBox="1"/>
          <p:nvPr/>
        </p:nvSpPr>
        <p:spPr>
          <a:xfrm>
            <a:off x="685800" y="6489700"/>
            <a:ext cx="3848100" cy="170180"/>
          </a:xfrm>
          <a:prstGeom prst="rect">
            <a:avLst/>
          </a:prstGeom>
          <a:noFill/>
        </p:spPr>
        <p:txBody>
          <a:bodyPr wrap="none" lIns="0" rIns="0" tIns="0" bIns="0">
            <a:spAutoFit/>
          </a:bodyPr>
          <a:lstStyle/>
          <a:p>
            <a:pPr>
              <a:defRPr sz="800" b="0">
                <a:solidFill>
                  <a:srgbClr val="53647B"/>
                </a:solidFill>
                <a:latin typeface="Segoe UI"/>
              </a:defRPr>
            </a:pPr>
            <a:r>
              <a:t>GYM WORKOUT RECOMMENDER</a:t>
            </a:r>
          </a:p>
        </p:txBody>
      </p:sp>
      <p:sp>
        <p:nvSpPr>
          <p:cNvPr id="8" name="TextBox 7"/>
          <p:cNvSpPr txBox="1"/>
          <p:nvPr/>
        </p:nvSpPr>
        <p:spPr>
          <a:xfrm>
            <a:off x="10858500" y="6489700"/>
            <a:ext cx="800100" cy="186690"/>
          </a:xfrm>
          <a:prstGeom prst="rect">
            <a:avLst/>
          </a:prstGeom>
          <a:noFill/>
        </p:spPr>
        <p:txBody>
          <a:bodyPr wrap="none" lIns="0" rIns="0" tIns="0" bIns="0">
            <a:spAutoFit/>
          </a:bodyPr>
          <a:lstStyle/>
          <a:p>
            <a:pPr>
              <a:defRPr sz="900" b="0">
                <a:solidFill>
                  <a:srgbClr val="53647B"/>
                </a:solidFill>
                <a:latin typeface="Segoe UI"/>
              </a:defRPr>
            </a:pPr>
            <a:r>
              <a:t>11 / 16</a:t>
            </a:r>
          </a:p>
        </p:txBody>
      </p:sp>
      <p:sp>
        <p:nvSpPr>
          <p:cNvPr id="9" name="TextBox 8"/>
          <p:cNvSpPr txBox="1"/>
          <p:nvPr/>
        </p:nvSpPr>
        <p:spPr>
          <a:xfrm>
            <a:off x="685800" y="6146800"/>
            <a:ext cx="10642600" cy="186690"/>
          </a:xfrm>
          <a:prstGeom prst="rect">
            <a:avLst/>
          </a:prstGeom>
          <a:noFill/>
        </p:spPr>
        <p:txBody>
          <a:bodyPr wrap="none" lIns="0" rIns="0" tIns="0" bIns="0">
            <a:spAutoFit/>
          </a:bodyPr>
          <a:lstStyle/>
          <a:p>
            <a:pPr>
              <a:defRPr sz="900" b="0">
                <a:solidFill>
                  <a:srgbClr val="53647B"/>
                </a:solidFill>
                <a:latin typeface="Segoe UI"/>
              </a:defRPr>
            </a:pPr>
            <a:r>
              <a:t>Illustrative inputs using the actual engine.py formula; these are not measured recommendations.</a:t>
            </a:r>
          </a:p>
        </p:txBody>
      </p:sp>
      <p:sp>
        <p:nvSpPr>
          <p:cNvPr id="10" name="Rectangle 9"/>
          <p:cNvSpPr/>
          <p:nvPr/>
        </p:nvSpPr>
        <p:spPr>
          <a:xfrm>
            <a:off x="685800" y="1905000"/>
            <a:ext cx="2705100" cy="571500"/>
          </a:xfrm>
          <a:prstGeom prst="rect">
            <a:avLst/>
          </a:prstGeom>
          <a:solidFill>
            <a:srgbClr val="F2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9000" y="2057400"/>
            <a:ext cx="2324100" cy="318770"/>
          </a:xfrm>
          <a:prstGeom prst="rect">
            <a:avLst/>
          </a:prstGeom>
          <a:noFill/>
        </p:spPr>
        <p:txBody>
          <a:bodyPr wrap="none" lIns="0" rIns="0" tIns="0" bIns="0">
            <a:spAutoFit/>
          </a:bodyPr>
          <a:lstStyle/>
          <a:p>
            <a:pPr>
              <a:defRPr sz="1700" b="1">
                <a:solidFill>
                  <a:srgbClr val="182B49"/>
                </a:solidFill>
                <a:latin typeface="Segoe UI"/>
              </a:defRPr>
            </a:pPr>
            <a:r>
              <a:t>Signal</a:t>
            </a:r>
          </a:p>
        </p:txBody>
      </p:sp>
      <p:sp>
        <p:nvSpPr>
          <p:cNvPr id="12" name="Rectangle 11"/>
          <p:cNvSpPr/>
          <p:nvPr/>
        </p:nvSpPr>
        <p:spPr>
          <a:xfrm>
            <a:off x="3390900" y="1905000"/>
            <a:ext cx="2705100" cy="571500"/>
          </a:xfrm>
          <a:prstGeom prst="rect">
            <a:avLst/>
          </a:prstGeom>
          <a:solidFill>
            <a:srgbClr val="F2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94100" y="2057400"/>
            <a:ext cx="2324100" cy="318770"/>
          </a:xfrm>
          <a:prstGeom prst="rect">
            <a:avLst/>
          </a:prstGeom>
          <a:noFill/>
        </p:spPr>
        <p:txBody>
          <a:bodyPr wrap="none" lIns="0" rIns="0" tIns="0" bIns="0">
            <a:spAutoFit/>
          </a:bodyPr>
          <a:lstStyle/>
          <a:p>
            <a:pPr>
              <a:defRPr sz="1700" b="1">
                <a:solidFill>
                  <a:srgbClr val="182B49"/>
                </a:solidFill>
                <a:latin typeface="Segoe UI"/>
              </a:defRPr>
            </a:pPr>
            <a:r>
              <a:t>Input</a:t>
            </a:r>
          </a:p>
        </p:txBody>
      </p:sp>
      <p:sp>
        <p:nvSpPr>
          <p:cNvPr id="14" name="Rectangle 13"/>
          <p:cNvSpPr/>
          <p:nvPr/>
        </p:nvSpPr>
        <p:spPr>
          <a:xfrm>
            <a:off x="6096000" y="1905000"/>
            <a:ext cx="2705100" cy="571500"/>
          </a:xfrm>
          <a:prstGeom prst="rect">
            <a:avLst/>
          </a:prstGeom>
          <a:solidFill>
            <a:srgbClr val="F2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99200" y="2057400"/>
            <a:ext cx="2324100" cy="318770"/>
          </a:xfrm>
          <a:prstGeom prst="rect">
            <a:avLst/>
          </a:prstGeom>
          <a:noFill/>
        </p:spPr>
        <p:txBody>
          <a:bodyPr wrap="none" lIns="0" rIns="0" tIns="0" bIns="0">
            <a:spAutoFit/>
          </a:bodyPr>
          <a:lstStyle/>
          <a:p>
            <a:pPr>
              <a:defRPr sz="1700" b="1">
                <a:solidFill>
                  <a:srgbClr val="182B49"/>
                </a:solidFill>
                <a:latin typeface="Segoe UI"/>
              </a:defRPr>
            </a:pPr>
            <a:r>
              <a:t>Weight</a:t>
            </a:r>
          </a:p>
        </p:txBody>
      </p:sp>
      <p:sp>
        <p:nvSpPr>
          <p:cNvPr id="16" name="Rectangle 15"/>
          <p:cNvSpPr/>
          <p:nvPr/>
        </p:nvSpPr>
        <p:spPr>
          <a:xfrm>
            <a:off x="8801100" y="1905000"/>
            <a:ext cx="2705100" cy="571500"/>
          </a:xfrm>
          <a:prstGeom prst="rect">
            <a:avLst/>
          </a:prstGeom>
          <a:solidFill>
            <a:srgbClr val="F2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04300" y="2057400"/>
            <a:ext cx="2324100" cy="318770"/>
          </a:xfrm>
          <a:prstGeom prst="rect">
            <a:avLst/>
          </a:prstGeom>
          <a:noFill/>
        </p:spPr>
        <p:txBody>
          <a:bodyPr wrap="none" lIns="0" rIns="0" tIns="0" bIns="0">
            <a:spAutoFit/>
          </a:bodyPr>
          <a:lstStyle/>
          <a:p>
            <a:pPr>
              <a:defRPr sz="1700" b="1">
                <a:solidFill>
                  <a:srgbClr val="182B49"/>
                </a:solidFill>
                <a:latin typeface="Segoe UI"/>
              </a:defRPr>
            </a:pPr>
            <a:r>
              <a:t>Contribution</a:t>
            </a:r>
          </a:p>
        </p:txBody>
      </p:sp>
      <p:sp>
        <p:nvSpPr>
          <p:cNvPr id="18" name="Rectangle 17"/>
          <p:cNvSpPr/>
          <p:nvPr/>
        </p:nvSpPr>
        <p:spPr>
          <a:xfrm>
            <a:off x="685800" y="2476500"/>
            <a:ext cx="2705100"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9000" y="2628900"/>
            <a:ext cx="2324100" cy="318770"/>
          </a:xfrm>
          <a:prstGeom prst="rect">
            <a:avLst/>
          </a:prstGeom>
          <a:noFill/>
        </p:spPr>
        <p:txBody>
          <a:bodyPr wrap="none" lIns="0" rIns="0" tIns="0" bIns="0">
            <a:spAutoFit/>
          </a:bodyPr>
          <a:lstStyle/>
          <a:p>
            <a:pPr>
              <a:defRPr sz="1700" b="0">
                <a:solidFill>
                  <a:srgbClr val="182B49"/>
                </a:solidFill>
                <a:latin typeface="Segoe UI"/>
              </a:defRPr>
            </a:pPr>
            <a:r>
              <a:t>Content C</a:t>
            </a:r>
          </a:p>
        </p:txBody>
      </p:sp>
      <p:sp>
        <p:nvSpPr>
          <p:cNvPr id="20" name="Rectangle 19"/>
          <p:cNvSpPr/>
          <p:nvPr/>
        </p:nvSpPr>
        <p:spPr>
          <a:xfrm>
            <a:off x="3390900" y="2476500"/>
            <a:ext cx="2705100"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94100" y="2628900"/>
            <a:ext cx="2324100" cy="318770"/>
          </a:xfrm>
          <a:prstGeom prst="rect">
            <a:avLst/>
          </a:prstGeom>
          <a:noFill/>
        </p:spPr>
        <p:txBody>
          <a:bodyPr wrap="none" lIns="0" rIns="0" tIns="0" bIns="0">
            <a:spAutoFit/>
          </a:bodyPr>
          <a:lstStyle/>
          <a:p>
            <a:pPr>
              <a:defRPr sz="1700" b="0">
                <a:solidFill>
                  <a:srgbClr val="182B49"/>
                </a:solidFill>
                <a:latin typeface="Segoe UI"/>
              </a:defRPr>
            </a:pPr>
            <a:r>
              <a:t>0.60</a:t>
            </a:r>
          </a:p>
        </p:txBody>
      </p:sp>
      <p:sp>
        <p:nvSpPr>
          <p:cNvPr id="22" name="Rectangle 21"/>
          <p:cNvSpPr/>
          <p:nvPr/>
        </p:nvSpPr>
        <p:spPr>
          <a:xfrm>
            <a:off x="6096000" y="2476500"/>
            <a:ext cx="2705100"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99200" y="2628900"/>
            <a:ext cx="2324100" cy="318770"/>
          </a:xfrm>
          <a:prstGeom prst="rect">
            <a:avLst/>
          </a:prstGeom>
          <a:noFill/>
        </p:spPr>
        <p:txBody>
          <a:bodyPr wrap="none" lIns="0" rIns="0" tIns="0" bIns="0">
            <a:spAutoFit/>
          </a:bodyPr>
          <a:lstStyle/>
          <a:p>
            <a:pPr>
              <a:defRPr sz="1700" b="0">
                <a:solidFill>
                  <a:srgbClr val="182B49"/>
                </a:solidFill>
                <a:latin typeface="Segoe UI"/>
              </a:defRPr>
            </a:pPr>
            <a:r>
              <a:t>0.40</a:t>
            </a:r>
          </a:p>
        </p:txBody>
      </p:sp>
      <p:sp>
        <p:nvSpPr>
          <p:cNvPr id="24" name="Rectangle 23"/>
          <p:cNvSpPr/>
          <p:nvPr/>
        </p:nvSpPr>
        <p:spPr>
          <a:xfrm>
            <a:off x="8801100" y="2476500"/>
            <a:ext cx="2705100"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04300" y="2628900"/>
            <a:ext cx="2324100" cy="318770"/>
          </a:xfrm>
          <a:prstGeom prst="rect">
            <a:avLst/>
          </a:prstGeom>
          <a:noFill/>
        </p:spPr>
        <p:txBody>
          <a:bodyPr wrap="none" lIns="0" rIns="0" tIns="0" bIns="0">
            <a:spAutoFit/>
          </a:bodyPr>
          <a:lstStyle/>
          <a:p>
            <a:pPr>
              <a:defRPr sz="1700" b="0">
                <a:solidFill>
                  <a:srgbClr val="182B49"/>
                </a:solidFill>
                <a:latin typeface="Segoe UI"/>
              </a:defRPr>
            </a:pPr>
            <a:r>
              <a:t>0.24</a:t>
            </a:r>
          </a:p>
        </p:txBody>
      </p:sp>
      <p:sp>
        <p:nvSpPr>
          <p:cNvPr id="26" name="Rectangle 25"/>
          <p:cNvSpPr/>
          <p:nvPr/>
        </p:nvSpPr>
        <p:spPr>
          <a:xfrm>
            <a:off x="685800" y="3048000"/>
            <a:ext cx="2705100" cy="571500"/>
          </a:xfrm>
          <a:prstGeom prst="rect">
            <a:avLst/>
          </a:prstGeom>
          <a:solidFill>
            <a:srgbClr val="F2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89000" y="3200400"/>
            <a:ext cx="2324100" cy="318770"/>
          </a:xfrm>
          <a:prstGeom prst="rect">
            <a:avLst/>
          </a:prstGeom>
          <a:noFill/>
        </p:spPr>
        <p:txBody>
          <a:bodyPr wrap="none" lIns="0" rIns="0" tIns="0" bIns="0">
            <a:spAutoFit/>
          </a:bodyPr>
          <a:lstStyle/>
          <a:p>
            <a:pPr>
              <a:defRPr sz="1700" b="0">
                <a:solidFill>
                  <a:srgbClr val="182B49"/>
                </a:solidFill>
                <a:latin typeface="Segoe UI"/>
              </a:defRPr>
            </a:pPr>
            <a:r>
              <a:t>Popularity P</a:t>
            </a:r>
          </a:p>
        </p:txBody>
      </p:sp>
      <p:sp>
        <p:nvSpPr>
          <p:cNvPr id="28" name="Rectangle 27"/>
          <p:cNvSpPr/>
          <p:nvPr/>
        </p:nvSpPr>
        <p:spPr>
          <a:xfrm>
            <a:off x="3390900" y="3048000"/>
            <a:ext cx="2705100" cy="571500"/>
          </a:xfrm>
          <a:prstGeom prst="rect">
            <a:avLst/>
          </a:prstGeom>
          <a:solidFill>
            <a:srgbClr val="F2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594100" y="3200400"/>
            <a:ext cx="2324100" cy="318770"/>
          </a:xfrm>
          <a:prstGeom prst="rect">
            <a:avLst/>
          </a:prstGeom>
          <a:noFill/>
        </p:spPr>
        <p:txBody>
          <a:bodyPr wrap="none" lIns="0" rIns="0" tIns="0" bIns="0">
            <a:spAutoFit/>
          </a:bodyPr>
          <a:lstStyle/>
          <a:p>
            <a:pPr>
              <a:defRPr sz="1700" b="0">
                <a:solidFill>
                  <a:srgbClr val="182B49"/>
                </a:solidFill>
                <a:latin typeface="Segoe UI"/>
              </a:defRPr>
            </a:pPr>
            <a:r>
              <a:t>0.70</a:t>
            </a:r>
          </a:p>
        </p:txBody>
      </p:sp>
      <p:sp>
        <p:nvSpPr>
          <p:cNvPr id="30" name="Rectangle 29"/>
          <p:cNvSpPr/>
          <p:nvPr/>
        </p:nvSpPr>
        <p:spPr>
          <a:xfrm>
            <a:off x="6096000" y="3048000"/>
            <a:ext cx="2705100" cy="571500"/>
          </a:xfrm>
          <a:prstGeom prst="rect">
            <a:avLst/>
          </a:prstGeom>
          <a:solidFill>
            <a:srgbClr val="F2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99200" y="3200400"/>
            <a:ext cx="2324100" cy="318770"/>
          </a:xfrm>
          <a:prstGeom prst="rect">
            <a:avLst/>
          </a:prstGeom>
          <a:noFill/>
        </p:spPr>
        <p:txBody>
          <a:bodyPr wrap="none" lIns="0" rIns="0" tIns="0" bIns="0">
            <a:spAutoFit/>
          </a:bodyPr>
          <a:lstStyle/>
          <a:p>
            <a:pPr>
              <a:defRPr sz="1700" b="0">
                <a:solidFill>
                  <a:srgbClr val="182B49"/>
                </a:solidFill>
                <a:latin typeface="Segoe UI"/>
              </a:defRPr>
            </a:pPr>
            <a:r>
              <a:t>0.20</a:t>
            </a:r>
          </a:p>
        </p:txBody>
      </p:sp>
      <p:sp>
        <p:nvSpPr>
          <p:cNvPr id="32" name="Rectangle 31"/>
          <p:cNvSpPr/>
          <p:nvPr/>
        </p:nvSpPr>
        <p:spPr>
          <a:xfrm>
            <a:off x="8801100" y="3048000"/>
            <a:ext cx="2705100" cy="571500"/>
          </a:xfrm>
          <a:prstGeom prst="rect">
            <a:avLst/>
          </a:prstGeom>
          <a:solidFill>
            <a:srgbClr val="F2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004300" y="3200400"/>
            <a:ext cx="2324100" cy="318770"/>
          </a:xfrm>
          <a:prstGeom prst="rect">
            <a:avLst/>
          </a:prstGeom>
          <a:noFill/>
        </p:spPr>
        <p:txBody>
          <a:bodyPr wrap="none" lIns="0" rIns="0" tIns="0" bIns="0">
            <a:spAutoFit/>
          </a:bodyPr>
          <a:lstStyle/>
          <a:p>
            <a:pPr>
              <a:defRPr sz="1700" b="0">
                <a:solidFill>
                  <a:srgbClr val="182B49"/>
                </a:solidFill>
                <a:latin typeface="Segoe UI"/>
              </a:defRPr>
            </a:pPr>
            <a:r>
              <a:t>0.14</a:t>
            </a:r>
          </a:p>
        </p:txBody>
      </p:sp>
      <p:sp>
        <p:nvSpPr>
          <p:cNvPr id="34" name="Rectangle 33"/>
          <p:cNvSpPr/>
          <p:nvPr/>
        </p:nvSpPr>
        <p:spPr>
          <a:xfrm>
            <a:off x="685800" y="3619500"/>
            <a:ext cx="2705100"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89000" y="3771900"/>
            <a:ext cx="2324100" cy="318770"/>
          </a:xfrm>
          <a:prstGeom prst="rect">
            <a:avLst/>
          </a:prstGeom>
          <a:noFill/>
        </p:spPr>
        <p:txBody>
          <a:bodyPr wrap="none" lIns="0" rIns="0" tIns="0" bIns="0">
            <a:spAutoFit/>
          </a:bodyPr>
          <a:lstStyle/>
          <a:p>
            <a:pPr>
              <a:defRPr sz="1700" b="0">
                <a:solidFill>
                  <a:srgbClr val="182B49"/>
                </a:solidFill>
                <a:latin typeface="Segoe UI"/>
              </a:defRPr>
            </a:pPr>
            <a:r>
              <a:t>Knowledge K</a:t>
            </a:r>
          </a:p>
        </p:txBody>
      </p:sp>
      <p:sp>
        <p:nvSpPr>
          <p:cNvPr id="36" name="Rectangle 35"/>
          <p:cNvSpPr/>
          <p:nvPr/>
        </p:nvSpPr>
        <p:spPr>
          <a:xfrm>
            <a:off x="3390900" y="3619500"/>
            <a:ext cx="2705100"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594100" y="3771900"/>
            <a:ext cx="2324100" cy="318770"/>
          </a:xfrm>
          <a:prstGeom prst="rect">
            <a:avLst/>
          </a:prstGeom>
          <a:noFill/>
        </p:spPr>
        <p:txBody>
          <a:bodyPr wrap="none" lIns="0" rIns="0" tIns="0" bIns="0">
            <a:spAutoFit/>
          </a:bodyPr>
          <a:lstStyle/>
          <a:p>
            <a:pPr>
              <a:defRPr sz="1700" b="0">
                <a:solidFill>
                  <a:srgbClr val="182B49"/>
                </a:solidFill>
                <a:latin typeface="Segoe UI"/>
              </a:defRPr>
            </a:pPr>
            <a:r>
              <a:t>1.00</a:t>
            </a:r>
          </a:p>
        </p:txBody>
      </p:sp>
      <p:sp>
        <p:nvSpPr>
          <p:cNvPr id="38" name="Rectangle 37"/>
          <p:cNvSpPr/>
          <p:nvPr/>
        </p:nvSpPr>
        <p:spPr>
          <a:xfrm>
            <a:off x="6096000" y="3619500"/>
            <a:ext cx="2705100"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99200" y="3771900"/>
            <a:ext cx="2324100" cy="318770"/>
          </a:xfrm>
          <a:prstGeom prst="rect">
            <a:avLst/>
          </a:prstGeom>
          <a:noFill/>
        </p:spPr>
        <p:txBody>
          <a:bodyPr wrap="none" lIns="0" rIns="0" tIns="0" bIns="0">
            <a:spAutoFit/>
          </a:bodyPr>
          <a:lstStyle/>
          <a:p>
            <a:pPr>
              <a:defRPr sz="1700" b="0">
                <a:solidFill>
                  <a:srgbClr val="182B49"/>
                </a:solidFill>
                <a:latin typeface="Segoe UI"/>
              </a:defRPr>
            </a:pPr>
            <a:r>
              <a:t>0.25</a:t>
            </a:r>
          </a:p>
        </p:txBody>
      </p:sp>
      <p:sp>
        <p:nvSpPr>
          <p:cNvPr id="40" name="Rectangle 39"/>
          <p:cNvSpPr/>
          <p:nvPr/>
        </p:nvSpPr>
        <p:spPr>
          <a:xfrm>
            <a:off x="8801100" y="3619500"/>
            <a:ext cx="2705100"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004300" y="3771900"/>
            <a:ext cx="2324100" cy="318770"/>
          </a:xfrm>
          <a:prstGeom prst="rect">
            <a:avLst/>
          </a:prstGeom>
          <a:noFill/>
        </p:spPr>
        <p:txBody>
          <a:bodyPr wrap="none" lIns="0" rIns="0" tIns="0" bIns="0">
            <a:spAutoFit/>
          </a:bodyPr>
          <a:lstStyle/>
          <a:p>
            <a:pPr>
              <a:defRPr sz="1700" b="0">
                <a:solidFill>
                  <a:srgbClr val="182B49"/>
                </a:solidFill>
                <a:latin typeface="Segoe UI"/>
              </a:defRPr>
            </a:pPr>
            <a:r>
              <a:t>0.25</a:t>
            </a:r>
          </a:p>
        </p:txBody>
      </p:sp>
      <p:sp>
        <p:nvSpPr>
          <p:cNvPr id="42" name="Rectangle 41"/>
          <p:cNvSpPr/>
          <p:nvPr/>
        </p:nvSpPr>
        <p:spPr>
          <a:xfrm>
            <a:off x="685800" y="4191000"/>
            <a:ext cx="2705100" cy="571500"/>
          </a:xfrm>
          <a:prstGeom prst="rect">
            <a:avLst/>
          </a:prstGeom>
          <a:solidFill>
            <a:srgbClr val="F2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89000" y="4343400"/>
            <a:ext cx="2324100" cy="318770"/>
          </a:xfrm>
          <a:prstGeom prst="rect">
            <a:avLst/>
          </a:prstGeom>
          <a:noFill/>
        </p:spPr>
        <p:txBody>
          <a:bodyPr wrap="none" lIns="0" rIns="0" tIns="0" bIns="0">
            <a:spAutoFit/>
          </a:bodyPr>
          <a:lstStyle/>
          <a:p>
            <a:pPr>
              <a:defRPr sz="1700" b="0">
                <a:solidFill>
                  <a:srgbClr val="182B49"/>
                </a:solidFill>
                <a:latin typeface="Segoe UI"/>
              </a:defRPr>
            </a:pPr>
            <a:r>
              <a:t>Context X</a:t>
            </a:r>
          </a:p>
        </p:txBody>
      </p:sp>
      <p:sp>
        <p:nvSpPr>
          <p:cNvPr id="44" name="Rectangle 43"/>
          <p:cNvSpPr/>
          <p:nvPr/>
        </p:nvSpPr>
        <p:spPr>
          <a:xfrm>
            <a:off x="3390900" y="4191000"/>
            <a:ext cx="2705100" cy="571500"/>
          </a:xfrm>
          <a:prstGeom prst="rect">
            <a:avLst/>
          </a:prstGeom>
          <a:solidFill>
            <a:srgbClr val="F2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594100" y="4343400"/>
            <a:ext cx="2324100" cy="318770"/>
          </a:xfrm>
          <a:prstGeom prst="rect">
            <a:avLst/>
          </a:prstGeom>
          <a:noFill/>
        </p:spPr>
        <p:txBody>
          <a:bodyPr wrap="none" lIns="0" rIns="0" tIns="0" bIns="0">
            <a:spAutoFit/>
          </a:bodyPr>
          <a:lstStyle/>
          <a:p>
            <a:pPr>
              <a:defRPr sz="1700" b="0">
                <a:solidFill>
                  <a:srgbClr val="182B49"/>
                </a:solidFill>
                <a:latin typeface="Segoe UI"/>
              </a:defRPr>
            </a:pPr>
            <a:r>
              <a:t>0.80</a:t>
            </a:r>
          </a:p>
        </p:txBody>
      </p:sp>
      <p:sp>
        <p:nvSpPr>
          <p:cNvPr id="46" name="Rectangle 45"/>
          <p:cNvSpPr/>
          <p:nvPr/>
        </p:nvSpPr>
        <p:spPr>
          <a:xfrm>
            <a:off x="6096000" y="4191000"/>
            <a:ext cx="2705100" cy="571500"/>
          </a:xfrm>
          <a:prstGeom prst="rect">
            <a:avLst/>
          </a:prstGeom>
          <a:solidFill>
            <a:srgbClr val="F2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99200" y="4343400"/>
            <a:ext cx="2324100" cy="318770"/>
          </a:xfrm>
          <a:prstGeom prst="rect">
            <a:avLst/>
          </a:prstGeom>
          <a:noFill/>
        </p:spPr>
        <p:txBody>
          <a:bodyPr wrap="none" lIns="0" rIns="0" tIns="0" bIns="0">
            <a:spAutoFit/>
          </a:bodyPr>
          <a:lstStyle/>
          <a:p>
            <a:pPr>
              <a:defRPr sz="1700" b="0">
                <a:solidFill>
                  <a:srgbClr val="182B49"/>
                </a:solidFill>
                <a:latin typeface="Segoe UI"/>
              </a:defRPr>
            </a:pPr>
            <a:r>
              <a:t>0.15</a:t>
            </a:r>
          </a:p>
        </p:txBody>
      </p:sp>
      <p:sp>
        <p:nvSpPr>
          <p:cNvPr id="48" name="Rectangle 47"/>
          <p:cNvSpPr/>
          <p:nvPr/>
        </p:nvSpPr>
        <p:spPr>
          <a:xfrm>
            <a:off x="8801100" y="4191000"/>
            <a:ext cx="2705100" cy="571500"/>
          </a:xfrm>
          <a:prstGeom prst="rect">
            <a:avLst/>
          </a:prstGeom>
          <a:solidFill>
            <a:srgbClr val="F2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004300" y="4343400"/>
            <a:ext cx="2324100" cy="318770"/>
          </a:xfrm>
          <a:prstGeom prst="rect">
            <a:avLst/>
          </a:prstGeom>
          <a:noFill/>
        </p:spPr>
        <p:txBody>
          <a:bodyPr wrap="none" lIns="0" rIns="0" tIns="0" bIns="0">
            <a:spAutoFit/>
          </a:bodyPr>
          <a:lstStyle/>
          <a:p>
            <a:pPr>
              <a:defRPr sz="1700" b="0">
                <a:solidFill>
                  <a:srgbClr val="182B49"/>
                </a:solidFill>
                <a:latin typeface="Segoe UI"/>
              </a:defRPr>
            </a:pPr>
            <a:r>
              <a:t>0.12</a:t>
            </a:r>
          </a:p>
        </p:txBody>
      </p:sp>
      <p:sp>
        <p:nvSpPr>
          <p:cNvPr id="50" name="TextBox 49"/>
          <p:cNvSpPr txBox="1"/>
          <p:nvPr/>
        </p:nvSpPr>
        <p:spPr>
          <a:xfrm>
            <a:off x="685800" y="5143500"/>
            <a:ext cx="8293100" cy="434340"/>
          </a:xfrm>
          <a:prstGeom prst="rect">
            <a:avLst/>
          </a:prstGeom>
          <a:noFill/>
        </p:spPr>
        <p:txBody>
          <a:bodyPr wrap="none" lIns="0" rIns="0" tIns="0" bIns="0">
            <a:spAutoFit/>
          </a:bodyPr>
          <a:lstStyle/>
          <a:p>
            <a:pPr>
              <a:defRPr sz="2400" b="1">
                <a:solidFill>
                  <a:srgbClr val="182B49"/>
                </a:solidFill>
                <a:latin typeface="Segoe UI"/>
              </a:defRPr>
            </a:pPr>
            <a:r>
              <a:t>Base hybrid score</a:t>
            </a:r>
          </a:p>
        </p:txBody>
      </p:sp>
      <p:sp>
        <p:nvSpPr>
          <p:cNvPr id="51" name="TextBox 50"/>
          <p:cNvSpPr txBox="1"/>
          <p:nvPr/>
        </p:nvSpPr>
        <p:spPr>
          <a:xfrm>
            <a:off x="9359900" y="4940300"/>
            <a:ext cx="2184400" cy="764540"/>
          </a:xfrm>
          <a:prstGeom prst="rect">
            <a:avLst/>
          </a:prstGeom>
          <a:noFill/>
        </p:spPr>
        <p:txBody>
          <a:bodyPr wrap="none" lIns="0" rIns="0" tIns="0" bIns="0">
            <a:spAutoFit/>
          </a:bodyPr>
          <a:lstStyle/>
          <a:p>
            <a:pPr>
              <a:defRPr sz="4400" b="1">
                <a:solidFill>
                  <a:srgbClr val="3268C8"/>
                </a:solidFill>
                <a:latin typeface="Segoe UI"/>
              </a:defRPr>
            </a:pPr>
            <a:r>
              <a:t>0.75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279400"/>
            <a:ext cx="330200" cy="38100"/>
          </a:xfrm>
          <a:prstGeom prst="rect">
            <a:avLst/>
          </a:prstGeom>
          <a:solidFill>
            <a:srgbClr val="326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350000"/>
            <a:ext cx="10820400" cy="12700"/>
          </a:xfrm>
          <a:prstGeom prst="rect">
            <a:avLst/>
          </a:prstGeom>
          <a:solidFill>
            <a:srgbClr val="DFE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406400"/>
            <a:ext cx="10833100" cy="203200"/>
          </a:xfrm>
          <a:prstGeom prst="rect">
            <a:avLst/>
          </a:prstGeom>
          <a:noFill/>
        </p:spPr>
        <p:txBody>
          <a:bodyPr wrap="none" lIns="0" rIns="0" tIns="0" bIns="0">
            <a:spAutoFit/>
          </a:bodyPr>
          <a:lstStyle/>
          <a:p>
            <a:pPr>
              <a:defRPr sz="1000" b="1">
                <a:solidFill>
                  <a:srgbClr val="3268C8"/>
                </a:solidFill>
                <a:latin typeface="Segoe UI"/>
              </a:defRPr>
            </a:pPr>
            <a:r>
              <a:t>11 / FEEDBACK</a:t>
            </a:r>
          </a:p>
        </p:txBody>
      </p:sp>
      <p:sp>
        <p:nvSpPr>
          <p:cNvPr id="6" name="TextBox 5"/>
          <p:cNvSpPr txBox="1"/>
          <p:nvPr/>
        </p:nvSpPr>
        <p:spPr>
          <a:xfrm>
            <a:off x="685800" y="838200"/>
            <a:ext cx="10833100" cy="549910"/>
          </a:xfrm>
          <a:prstGeom prst="rect">
            <a:avLst/>
          </a:prstGeom>
          <a:noFill/>
        </p:spPr>
        <p:txBody>
          <a:bodyPr wrap="none" lIns="0" rIns="0" tIns="0" bIns="0">
            <a:spAutoFit/>
          </a:bodyPr>
          <a:lstStyle/>
          <a:p>
            <a:pPr>
              <a:defRPr sz="3100" b="1">
                <a:solidFill>
                  <a:srgbClr val="182B49"/>
                </a:solidFill>
                <a:latin typeface="Segoe UI"/>
              </a:defRPr>
            </a:pPr>
            <a:r>
              <a:t>Feedback changes scores, not the selected method.</a:t>
            </a:r>
          </a:p>
        </p:txBody>
      </p:sp>
      <p:sp>
        <p:nvSpPr>
          <p:cNvPr id="7" name="TextBox 6"/>
          <p:cNvSpPr txBox="1"/>
          <p:nvPr/>
        </p:nvSpPr>
        <p:spPr>
          <a:xfrm>
            <a:off x="685800" y="6489700"/>
            <a:ext cx="3848100" cy="170180"/>
          </a:xfrm>
          <a:prstGeom prst="rect">
            <a:avLst/>
          </a:prstGeom>
          <a:noFill/>
        </p:spPr>
        <p:txBody>
          <a:bodyPr wrap="none" lIns="0" rIns="0" tIns="0" bIns="0">
            <a:spAutoFit/>
          </a:bodyPr>
          <a:lstStyle/>
          <a:p>
            <a:pPr>
              <a:defRPr sz="800" b="0">
                <a:solidFill>
                  <a:srgbClr val="53647B"/>
                </a:solidFill>
                <a:latin typeface="Segoe UI"/>
              </a:defRPr>
            </a:pPr>
            <a:r>
              <a:t>GYM WORKOUT RECOMMENDER</a:t>
            </a:r>
          </a:p>
        </p:txBody>
      </p:sp>
      <p:sp>
        <p:nvSpPr>
          <p:cNvPr id="8" name="TextBox 7"/>
          <p:cNvSpPr txBox="1"/>
          <p:nvPr/>
        </p:nvSpPr>
        <p:spPr>
          <a:xfrm>
            <a:off x="10858500" y="6489700"/>
            <a:ext cx="800100" cy="186690"/>
          </a:xfrm>
          <a:prstGeom prst="rect">
            <a:avLst/>
          </a:prstGeom>
          <a:noFill/>
        </p:spPr>
        <p:txBody>
          <a:bodyPr wrap="none" lIns="0" rIns="0" tIns="0" bIns="0">
            <a:spAutoFit/>
          </a:bodyPr>
          <a:lstStyle/>
          <a:p>
            <a:pPr>
              <a:defRPr sz="900" b="0">
                <a:solidFill>
                  <a:srgbClr val="53647B"/>
                </a:solidFill>
                <a:latin typeface="Segoe UI"/>
              </a:defRPr>
            </a:pPr>
            <a:r>
              <a:t>12 / 16</a:t>
            </a:r>
          </a:p>
        </p:txBody>
      </p:sp>
      <p:sp>
        <p:nvSpPr>
          <p:cNvPr id="9" name="TextBox 8"/>
          <p:cNvSpPr txBox="1"/>
          <p:nvPr/>
        </p:nvSpPr>
        <p:spPr>
          <a:xfrm>
            <a:off x="685800" y="6146800"/>
            <a:ext cx="10642600" cy="186690"/>
          </a:xfrm>
          <a:prstGeom prst="rect">
            <a:avLst/>
          </a:prstGeom>
          <a:noFill/>
        </p:spPr>
        <p:txBody>
          <a:bodyPr wrap="none" lIns="0" rIns="0" tIns="0" bIns="0">
            <a:spAutoFit/>
          </a:bodyPr>
          <a:lstStyle/>
          <a:p>
            <a:pPr>
              <a:defRPr sz="900" b="0">
                <a:solidFill>
                  <a:srgbClr val="53647B"/>
                </a:solidFill>
                <a:latin typeface="Segoe UI"/>
              </a:defRPr>
            </a:pPr>
            <a:r>
              <a:t>engine.py — content, rating prior, completion history and fixed Hybrid formula</a:t>
            </a:r>
          </a:p>
        </p:txBody>
      </p:sp>
      <p:sp>
        <p:nvSpPr>
          <p:cNvPr id="10" name="Rectangle 9"/>
          <p:cNvSpPr/>
          <p:nvPr/>
        </p:nvSpPr>
        <p:spPr>
          <a:xfrm>
            <a:off x="685800" y="1917700"/>
            <a:ext cx="5219700" cy="3111500"/>
          </a:xfrm>
          <a:prstGeom prst="rect">
            <a:avLst/>
          </a:prstGeom>
          <a:solidFill>
            <a:srgbClr val="F2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14400" y="2070100"/>
            <a:ext cx="279400" cy="25400"/>
          </a:xfrm>
          <a:prstGeom prst="rect">
            <a:avLst/>
          </a:prstGeom>
          <a:solidFill>
            <a:srgbClr val="326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209800"/>
            <a:ext cx="4800600" cy="335280"/>
          </a:xfrm>
          <a:prstGeom prst="rect">
            <a:avLst/>
          </a:prstGeom>
          <a:noFill/>
        </p:spPr>
        <p:txBody>
          <a:bodyPr wrap="none" lIns="0" rIns="0" tIns="0" bIns="0">
            <a:spAutoFit/>
          </a:bodyPr>
          <a:lstStyle/>
          <a:p>
            <a:pPr>
              <a:defRPr sz="1800" b="1">
                <a:solidFill>
                  <a:srgbClr val="182B49"/>
                </a:solidFill>
                <a:latin typeface="Segoe UI"/>
              </a:defRPr>
            </a:pPr>
            <a:r>
              <a:t>With no exercise history</a:t>
            </a:r>
          </a:p>
        </p:txBody>
      </p:sp>
      <p:sp>
        <p:nvSpPr>
          <p:cNvPr id="13" name="TextBox 12"/>
          <p:cNvSpPr txBox="1"/>
          <p:nvPr/>
        </p:nvSpPr>
        <p:spPr>
          <a:xfrm>
            <a:off x="914400" y="2667000"/>
            <a:ext cx="4800600" cy="302260"/>
          </a:xfrm>
          <a:prstGeom prst="rect">
            <a:avLst/>
          </a:prstGeom>
          <a:noFill/>
        </p:spPr>
        <p:txBody>
          <a:bodyPr wrap="none" lIns="0" rIns="0" tIns="0" bIns="0">
            <a:spAutoFit/>
          </a:bodyPr>
          <a:lstStyle/>
          <a:p>
            <a:pPr>
              <a:defRPr sz="1600" b="0">
                <a:solidFill>
                  <a:srgbClr val="53647B"/>
                </a:solidFill>
                <a:latin typeface="Segoe UI"/>
              </a:defRPr>
            </a:pPr>
            <a:r>
              <a:t>Content uses the goal/focus query.</a:t>
            </a:r>
          </a:p>
        </p:txBody>
      </p:sp>
      <p:sp>
        <p:nvSpPr>
          <p:cNvPr id="14" name="TextBox 13"/>
          <p:cNvSpPr txBox="1"/>
          <p:nvPr/>
        </p:nvSpPr>
        <p:spPr>
          <a:xfrm>
            <a:off x="914400" y="2931160"/>
            <a:ext cx="4800600" cy="302260"/>
          </a:xfrm>
          <a:prstGeom prst="rect">
            <a:avLst/>
          </a:prstGeom>
          <a:noFill/>
        </p:spPr>
        <p:txBody>
          <a:bodyPr wrap="none" lIns="0" rIns="0" tIns="0" bIns="0">
            <a:spAutoFit/>
          </a:bodyPr>
          <a:lstStyle/>
          <a:p>
            <a:pPr>
              <a:defRPr sz="1600" b="0">
                <a:solidFill>
                  <a:srgbClr val="53647B"/>
                </a:solidFill>
                <a:latin typeface="Segoe UI"/>
              </a:defRPr>
            </a:pPr>
            <a:r>
              <a:t>Popularity uses a source-rating prior.</a:t>
            </a:r>
          </a:p>
        </p:txBody>
      </p:sp>
      <p:sp>
        <p:nvSpPr>
          <p:cNvPr id="15" name="TextBox 14"/>
          <p:cNvSpPr txBox="1"/>
          <p:nvPr/>
        </p:nvSpPr>
        <p:spPr>
          <a:xfrm>
            <a:off x="914400" y="3195320"/>
            <a:ext cx="4800600" cy="302260"/>
          </a:xfrm>
          <a:prstGeom prst="rect">
            <a:avLst/>
          </a:prstGeom>
          <a:noFill/>
        </p:spPr>
        <p:txBody>
          <a:bodyPr wrap="none" lIns="0" rIns="0" tIns="0" bIns="0">
            <a:spAutoFit/>
          </a:bodyPr>
          <a:lstStyle/>
          <a:p>
            <a:pPr>
              <a:defRPr sz="1600" b="0">
                <a:solidFill>
                  <a:srgbClr val="53647B"/>
                </a:solidFill>
                <a:latin typeface="Segoe UI"/>
              </a:defRPr>
            </a:pPr>
            <a:r>
              <a:t>Completion defaults to 0.5.</a:t>
            </a:r>
          </a:p>
        </p:txBody>
      </p:sp>
      <p:sp>
        <p:nvSpPr>
          <p:cNvPr id="16" name="TextBox 15"/>
          <p:cNvSpPr txBox="1"/>
          <p:nvPr/>
        </p:nvSpPr>
        <p:spPr>
          <a:xfrm>
            <a:off x="914400" y="3459479"/>
            <a:ext cx="4800600" cy="302260"/>
          </a:xfrm>
          <a:prstGeom prst="rect">
            <a:avLst/>
          </a:prstGeom>
          <a:noFill/>
        </p:spPr>
        <p:txBody>
          <a:bodyPr wrap="none" lIns="0" rIns="0" tIns="0" bIns="0">
            <a:spAutoFit/>
          </a:bodyPr>
          <a:lstStyle/>
          <a:p>
            <a:pPr>
              <a:defRPr sz="1600" b="0">
                <a:solidFill>
                  <a:srgbClr val="53647B"/>
                </a:solidFill>
                <a:latin typeface="Segoe UI"/>
              </a:defRPr>
            </a:pPr>
          </a:p>
        </p:txBody>
      </p:sp>
      <p:sp>
        <p:nvSpPr>
          <p:cNvPr id="17" name="TextBox 16"/>
          <p:cNvSpPr txBox="1"/>
          <p:nvPr/>
        </p:nvSpPr>
        <p:spPr>
          <a:xfrm>
            <a:off x="914400" y="3723640"/>
            <a:ext cx="4800600" cy="302260"/>
          </a:xfrm>
          <a:prstGeom prst="rect">
            <a:avLst/>
          </a:prstGeom>
          <a:noFill/>
        </p:spPr>
        <p:txBody>
          <a:bodyPr wrap="none" lIns="0" rIns="0" tIns="0" bIns="0">
            <a:spAutoFit/>
          </a:bodyPr>
          <a:lstStyle/>
          <a:p>
            <a:pPr>
              <a:defRPr sz="1600" b="0">
                <a:solidFill>
                  <a:srgbClr val="53647B"/>
                </a:solidFill>
                <a:latin typeface="Segoe UI"/>
              </a:defRPr>
            </a:pPr>
            <a:r>
              <a:t>All three methods can produce a workout from the</a:t>
            </a:r>
          </a:p>
        </p:txBody>
      </p:sp>
      <p:sp>
        <p:nvSpPr>
          <p:cNvPr id="18" name="TextBox 17"/>
          <p:cNvSpPr txBox="1"/>
          <p:nvPr/>
        </p:nvSpPr>
        <p:spPr>
          <a:xfrm>
            <a:off x="914400" y="3987800"/>
            <a:ext cx="4800600" cy="302260"/>
          </a:xfrm>
          <a:prstGeom prst="rect">
            <a:avLst/>
          </a:prstGeom>
          <a:noFill/>
        </p:spPr>
        <p:txBody>
          <a:bodyPr wrap="none" lIns="0" rIns="0" tIns="0" bIns="0">
            <a:spAutoFit/>
          </a:bodyPr>
          <a:lstStyle/>
          <a:p>
            <a:pPr>
              <a:defRPr sz="1600" b="0">
                <a:solidFill>
                  <a:srgbClr val="53647B"/>
                </a:solidFill>
                <a:latin typeface="Segoe UI"/>
              </a:defRPr>
            </a:pPr>
            <a:r>
              <a:t>profile alone.</a:t>
            </a:r>
          </a:p>
        </p:txBody>
      </p:sp>
      <p:sp>
        <p:nvSpPr>
          <p:cNvPr id="19" name="Rectangle 18"/>
          <p:cNvSpPr/>
          <p:nvPr/>
        </p:nvSpPr>
        <p:spPr>
          <a:xfrm>
            <a:off x="6134100" y="1917700"/>
            <a:ext cx="5372100" cy="3111500"/>
          </a:xfrm>
          <a:prstGeom prst="rect">
            <a:avLst/>
          </a:prstGeom>
          <a:solidFill>
            <a:srgbClr val="F2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62700" y="2070100"/>
            <a:ext cx="279400" cy="25400"/>
          </a:xfrm>
          <a:prstGeom prst="rect">
            <a:avLst/>
          </a:prstGeom>
          <a:solidFill>
            <a:srgbClr val="326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62700" y="2209800"/>
            <a:ext cx="4953000" cy="335280"/>
          </a:xfrm>
          <a:prstGeom prst="rect">
            <a:avLst/>
          </a:prstGeom>
          <a:noFill/>
        </p:spPr>
        <p:txBody>
          <a:bodyPr wrap="none" lIns="0" rIns="0" tIns="0" bIns="0">
            <a:spAutoFit/>
          </a:bodyPr>
          <a:lstStyle/>
          <a:p>
            <a:pPr>
              <a:defRPr sz="1800" b="1">
                <a:solidFill>
                  <a:srgbClr val="182B49"/>
                </a:solidFill>
                <a:latin typeface="Segoe UI"/>
              </a:defRPr>
            </a:pPr>
            <a:r>
              <a:t>After logging activity</a:t>
            </a:r>
          </a:p>
        </p:txBody>
      </p:sp>
      <p:sp>
        <p:nvSpPr>
          <p:cNvPr id="22" name="TextBox 21"/>
          <p:cNvSpPr txBox="1"/>
          <p:nvPr/>
        </p:nvSpPr>
        <p:spPr>
          <a:xfrm>
            <a:off x="6362700" y="2667000"/>
            <a:ext cx="4953000" cy="302260"/>
          </a:xfrm>
          <a:prstGeom prst="rect">
            <a:avLst/>
          </a:prstGeom>
          <a:noFill/>
        </p:spPr>
        <p:txBody>
          <a:bodyPr wrap="none" lIns="0" rIns="0" tIns="0" bIns="0">
            <a:spAutoFit/>
          </a:bodyPr>
          <a:lstStyle/>
          <a:p>
            <a:pPr>
              <a:defRPr sz="1600" b="0">
                <a:solidFill>
                  <a:srgbClr val="53647B"/>
                </a:solidFill>
                <a:latin typeface="Segoe UI"/>
              </a:defRPr>
            </a:pPr>
            <a:r>
              <a:t>Ratings of 4 or 5 inform liked-exercise similarity.</a:t>
            </a:r>
          </a:p>
        </p:txBody>
      </p:sp>
      <p:sp>
        <p:nvSpPr>
          <p:cNvPr id="23" name="TextBox 22"/>
          <p:cNvSpPr txBox="1"/>
          <p:nvPr/>
        </p:nvSpPr>
        <p:spPr>
          <a:xfrm>
            <a:off x="6362700" y="2931160"/>
            <a:ext cx="4953000" cy="302260"/>
          </a:xfrm>
          <a:prstGeom prst="rect">
            <a:avLst/>
          </a:prstGeom>
          <a:noFill/>
        </p:spPr>
        <p:txBody>
          <a:bodyPr wrap="none" lIns="0" rIns="0" tIns="0" bIns="0">
            <a:spAutoFit/>
          </a:bodyPr>
          <a:lstStyle/>
          <a:p>
            <a:pPr>
              <a:defRPr sz="1600" b="0">
                <a:solidFill>
                  <a:srgbClr val="53647B"/>
                </a:solidFill>
                <a:latin typeface="Segoe UI"/>
              </a:defRPr>
            </a:pPr>
            <a:r>
              <a:t>Local ratings update rating evidence.</a:t>
            </a:r>
          </a:p>
        </p:txBody>
      </p:sp>
      <p:sp>
        <p:nvSpPr>
          <p:cNvPr id="24" name="TextBox 23"/>
          <p:cNvSpPr txBox="1"/>
          <p:nvPr/>
        </p:nvSpPr>
        <p:spPr>
          <a:xfrm>
            <a:off x="6362700" y="3195320"/>
            <a:ext cx="4953000" cy="302260"/>
          </a:xfrm>
          <a:prstGeom prst="rect">
            <a:avLst/>
          </a:prstGeom>
          <a:noFill/>
        </p:spPr>
        <p:txBody>
          <a:bodyPr wrap="none" lIns="0" rIns="0" tIns="0" bIns="0">
            <a:spAutoFit/>
          </a:bodyPr>
          <a:lstStyle/>
          <a:p>
            <a:pPr>
              <a:defRPr sz="1600" b="0">
                <a:solidFill>
                  <a:srgbClr val="53647B"/>
                </a:solidFill>
                <a:latin typeface="Segoe UI"/>
              </a:defRPr>
            </a:pPr>
            <a:r>
              <a:t>Completion updates Context.</a:t>
            </a:r>
          </a:p>
        </p:txBody>
      </p:sp>
      <p:sp>
        <p:nvSpPr>
          <p:cNvPr id="25" name="TextBox 24"/>
          <p:cNvSpPr txBox="1"/>
          <p:nvPr/>
        </p:nvSpPr>
        <p:spPr>
          <a:xfrm>
            <a:off x="6362700" y="3459479"/>
            <a:ext cx="4953000" cy="302260"/>
          </a:xfrm>
          <a:prstGeom prst="rect">
            <a:avLst/>
          </a:prstGeom>
          <a:noFill/>
        </p:spPr>
        <p:txBody>
          <a:bodyPr wrap="none" lIns="0" rIns="0" tIns="0" bIns="0">
            <a:spAutoFit/>
          </a:bodyPr>
          <a:lstStyle/>
          <a:p>
            <a:pPr>
              <a:defRPr sz="1600" b="0">
                <a:solidFill>
                  <a:srgbClr val="53647B"/>
                </a:solidFill>
                <a:latin typeface="Segoe UI"/>
              </a:defRPr>
            </a:pPr>
          </a:p>
        </p:txBody>
      </p:sp>
      <p:sp>
        <p:nvSpPr>
          <p:cNvPr id="26" name="TextBox 25"/>
          <p:cNvSpPr txBox="1"/>
          <p:nvPr/>
        </p:nvSpPr>
        <p:spPr>
          <a:xfrm>
            <a:off x="6362700" y="3723640"/>
            <a:ext cx="4953000" cy="302260"/>
          </a:xfrm>
          <a:prstGeom prst="rect">
            <a:avLst/>
          </a:prstGeom>
          <a:noFill/>
        </p:spPr>
        <p:txBody>
          <a:bodyPr wrap="none" lIns="0" rIns="0" tIns="0" bIns="0">
            <a:spAutoFit/>
          </a:bodyPr>
          <a:lstStyle/>
          <a:p>
            <a:pPr>
              <a:defRPr sz="1600" b="0">
                <a:solidFill>
                  <a:srgbClr val="53647B"/>
                </a:solidFill>
                <a:latin typeface="Segoe UI"/>
              </a:defRPr>
            </a:pPr>
            <a:r>
              <a:t>Hybrid keeps the same 40/20/25/15 weights.</a:t>
            </a:r>
          </a:p>
        </p:txBody>
      </p:sp>
      <p:sp>
        <p:nvSpPr>
          <p:cNvPr id="27" name="Rectangle 26"/>
          <p:cNvSpPr/>
          <p:nvPr/>
        </p:nvSpPr>
        <p:spPr>
          <a:xfrm>
            <a:off x="685800" y="5397500"/>
            <a:ext cx="10820400" cy="546100"/>
          </a:xfrm>
          <a:prstGeom prst="rect">
            <a:avLst/>
          </a:prstGeom>
          <a:solidFill>
            <a:srgbClr val="F2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76300" y="5537200"/>
            <a:ext cx="10477500" cy="302260"/>
          </a:xfrm>
          <a:prstGeom prst="rect">
            <a:avLst/>
          </a:prstGeom>
          <a:noFill/>
        </p:spPr>
        <p:txBody>
          <a:bodyPr wrap="none" lIns="0" rIns="0" tIns="0" bIns="0">
            <a:spAutoFit/>
          </a:bodyPr>
          <a:lstStyle/>
          <a:p>
            <a:pPr>
              <a:defRPr sz="1600" b="0">
                <a:solidFill>
                  <a:srgbClr val="182B49"/>
                </a:solidFill>
                <a:latin typeface="Segoe UI"/>
              </a:defRPr>
            </a:pPr>
            <a:r>
              <a:t>Weighted hybrid from Chapter 10; the lecture’s 5/20-rating switching rule is not used.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279400"/>
            <a:ext cx="330200" cy="38100"/>
          </a:xfrm>
          <a:prstGeom prst="rect">
            <a:avLst/>
          </a:prstGeom>
          <a:solidFill>
            <a:srgbClr val="326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350000"/>
            <a:ext cx="10820400" cy="12700"/>
          </a:xfrm>
          <a:prstGeom prst="rect">
            <a:avLst/>
          </a:prstGeom>
          <a:solidFill>
            <a:srgbClr val="DFE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406400"/>
            <a:ext cx="10833100" cy="203200"/>
          </a:xfrm>
          <a:prstGeom prst="rect">
            <a:avLst/>
          </a:prstGeom>
          <a:noFill/>
        </p:spPr>
        <p:txBody>
          <a:bodyPr wrap="none" lIns="0" rIns="0" tIns="0" bIns="0">
            <a:spAutoFit/>
          </a:bodyPr>
          <a:lstStyle/>
          <a:p>
            <a:pPr>
              <a:defRPr sz="1000" b="1">
                <a:solidFill>
                  <a:srgbClr val="3268C8"/>
                </a:solidFill>
                <a:latin typeface="Segoe UI"/>
              </a:defRPr>
            </a:pPr>
            <a:r>
              <a:t>12 / METHOD COMPARISON</a:t>
            </a:r>
          </a:p>
        </p:txBody>
      </p:sp>
      <p:sp>
        <p:nvSpPr>
          <p:cNvPr id="6" name="TextBox 5"/>
          <p:cNvSpPr txBox="1"/>
          <p:nvPr/>
        </p:nvSpPr>
        <p:spPr>
          <a:xfrm>
            <a:off x="685800" y="838200"/>
            <a:ext cx="10833100" cy="549910"/>
          </a:xfrm>
          <a:prstGeom prst="rect">
            <a:avLst/>
          </a:prstGeom>
          <a:noFill/>
        </p:spPr>
        <p:txBody>
          <a:bodyPr wrap="none" lIns="0" rIns="0" tIns="0" bIns="0">
            <a:spAutoFit/>
          </a:bodyPr>
          <a:lstStyle/>
          <a:p>
            <a:pPr>
              <a:defRPr sz="3100" b="1">
                <a:solidFill>
                  <a:srgbClr val="182B49"/>
                </a:solidFill>
                <a:latin typeface="Segoe UI"/>
              </a:defRPr>
            </a:pPr>
            <a:r>
              <a:t>Different ranking signals, shared constraints.</a:t>
            </a:r>
          </a:p>
        </p:txBody>
      </p:sp>
      <p:sp>
        <p:nvSpPr>
          <p:cNvPr id="7" name="TextBox 6"/>
          <p:cNvSpPr txBox="1"/>
          <p:nvPr/>
        </p:nvSpPr>
        <p:spPr>
          <a:xfrm>
            <a:off x="685800" y="6489700"/>
            <a:ext cx="3848100" cy="170180"/>
          </a:xfrm>
          <a:prstGeom prst="rect">
            <a:avLst/>
          </a:prstGeom>
          <a:noFill/>
        </p:spPr>
        <p:txBody>
          <a:bodyPr wrap="none" lIns="0" rIns="0" tIns="0" bIns="0">
            <a:spAutoFit/>
          </a:bodyPr>
          <a:lstStyle/>
          <a:p>
            <a:pPr>
              <a:defRPr sz="800" b="0">
                <a:solidFill>
                  <a:srgbClr val="53647B"/>
                </a:solidFill>
                <a:latin typeface="Segoe UI"/>
              </a:defRPr>
            </a:pPr>
            <a:r>
              <a:t>GYM WORKOUT RECOMMENDER</a:t>
            </a:r>
          </a:p>
        </p:txBody>
      </p:sp>
      <p:sp>
        <p:nvSpPr>
          <p:cNvPr id="8" name="TextBox 7"/>
          <p:cNvSpPr txBox="1"/>
          <p:nvPr/>
        </p:nvSpPr>
        <p:spPr>
          <a:xfrm>
            <a:off x="10858500" y="6489700"/>
            <a:ext cx="800100" cy="186690"/>
          </a:xfrm>
          <a:prstGeom prst="rect">
            <a:avLst/>
          </a:prstGeom>
          <a:noFill/>
        </p:spPr>
        <p:txBody>
          <a:bodyPr wrap="none" lIns="0" rIns="0" tIns="0" bIns="0">
            <a:spAutoFit/>
          </a:bodyPr>
          <a:lstStyle/>
          <a:p>
            <a:pPr>
              <a:defRPr sz="900" b="0">
                <a:solidFill>
                  <a:srgbClr val="53647B"/>
                </a:solidFill>
                <a:latin typeface="Segoe UI"/>
              </a:defRPr>
            </a:pPr>
            <a:r>
              <a:t>13 / 16</a:t>
            </a:r>
          </a:p>
        </p:txBody>
      </p:sp>
      <p:sp>
        <p:nvSpPr>
          <p:cNvPr id="9" name="TextBox 8"/>
          <p:cNvSpPr txBox="1"/>
          <p:nvPr/>
        </p:nvSpPr>
        <p:spPr>
          <a:xfrm>
            <a:off x="685800" y="6146800"/>
            <a:ext cx="10642600" cy="186690"/>
          </a:xfrm>
          <a:prstGeom prst="rect">
            <a:avLst/>
          </a:prstGeom>
          <a:noFill/>
        </p:spPr>
        <p:txBody>
          <a:bodyPr wrap="none" lIns="0" rIns="0" tIns="0" bIns="0">
            <a:spAutoFit/>
          </a:bodyPr>
          <a:lstStyle/>
          <a:p>
            <a:pPr>
              <a:defRPr sz="900" b="0">
                <a:solidFill>
                  <a:srgbClr val="53647B"/>
                </a:solidFill>
                <a:latin typeface="Segoe UI"/>
              </a:defRPr>
            </a:pPr>
            <a:r>
              <a:t>engine.py — implementation comparison, not a measured quality ranking</a:t>
            </a:r>
          </a:p>
        </p:txBody>
      </p:sp>
      <p:sp>
        <p:nvSpPr>
          <p:cNvPr id="10" name="Rectangle 9"/>
          <p:cNvSpPr/>
          <p:nvPr/>
        </p:nvSpPr>
        <p:spPr>
          <a:xfrm>
            <a:off x="685800" y="1905000"/>
            <a:ext cx="2971800" cy="609600"/>
          </a:xfrm>
          <a:prstGeom prst="rect">
            <a:avLst/>
          </a:prstGeom>
          <a:solidFill>
            <a:srgbClr val="F2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5500" y="2082800"/>
            <a:ext cx="2730500" cy="269240"/>
          </a:xfrm>
          <a:prstGeom prst="rect">
            <a:avLst/>
          </a:prstGeom>
          <a:noFill/>
        </p:spPr>
        <p:txBody>
          <a:bodyPr wrap="none" lIns="0" rIns="0" tIns="0" bIns="0">
            <a:spAutoFit/>
          </a:bodyPr>
          <a:lstStyle/>
          <a:p>
            <a:pPr>
              <a:defRPr sz="1400" b="1">
                <a:solidFill>
                  <a:srgbClr val="182B49"/>
                </a:solidFill>
                <a:latin typeface="Segoe UI"/>
              </a:defRPr>
            </a:pPr>
            <a:r>
              <a:t>Question</a:t>
            </a:r>
          </a:p>
        </p:txBody>
      </p:sp>
      <p:sp>
        <p:nvSpPr>
          <p:cNvPr id="12" name="Rectangle 11"/>
          <p:cNvSpPr/>
          <p:nvPr/>
        </p:nvSpPr>
        <p:spPr>
          <a:xfrm>
            <a:off x="3657600" y="1905000"/>
            <a:ext cx="2616200" cy="609600"/>
          </a:xfrm>
          <a:prstGeom prst="rect">
            <a:avLst/>
          </a:prstGeom>
          <a:solidFill>
            <a:srgbClr val="F2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97300" y="2082800"/>
            <a:ext cx="2374900" cy="269240"/>
          </a:xfrm>
          <a:prstGeom prst="rect">
            <a:avLst/>
          </a:prstGeom>
          <a:noFill/>
        </p:spPr>
        <p:txBody>
          <a:bodyPr wrap="none" lIns="0" rIns="0" tIns="0" bIns="0">
            <a:spAutoFit/>
          </a:bodyPr>
          <a:lstStyle/>
          <a:p>
            <a:pPr>
              <a:defRPr sz="1400" b="1">
                <a:solidFill>
                  <a:srgbClr val="182B49"/>
                </a:solidFill>
                <a:latin typeface="Segoe UI"/>
              </a:defRPr>
            </a:pPr>
            <a:r>
              <a:t>Content-based</a:t>
            </a:r>
          </a:p>
        </p:txBody>
      </p:sp>
      <p:sp>
        <p:nvSpPr>
          <p:cNvPr id="14" name="Rectangle 13"/>
          <p:cNvSpPr/>
          <p:nvPr/>
        </p:nvSpPr>
        <p:spPr>
          <a:xfrm>
            <a:off x="6273800" y="1905000"/>
            <a:ext cx="2616200" cy="609600"/>
          </a:xfrm>
          <a:prstGeom prst="rect">
            <a:avLst/>
          </a:prstGeom>
          <a:solidFill>
            <a:srgbClr val="F2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13500" y="2082800"/>
            <a:ext cx="2374900" cy="269240"/>
          </a:xfrm>
          <a:prstGeom prst="rect">
            <a:avLst/>
          </a:prstGeom>
          <a:noFill/>
        </p:spPr>
        <p:txBody>
          <a:bodyPr wrap="none" lIns="0" rIns="0" tIns="0" bIns="0">
            <a:spAutoFit/>
          </a:bodyPr>
          <a:lstStyle/>
          <a:p>
            <a:pPr>
              <a:defRPr sz="1400" b="1">
                <a:solidFill>
                  <a:srgbClr val="182B49"/>
                </a:solidFill>
                <a:latin typeface="Segoe UI"/>
              </a:defRPr>
            </a:pPr>
            <a:r>
              <a:t>Context-aware</a:t>
            </a:r>
          </a:p>
        </p:txBody>
      </p:sp>
      <p:sp>
        <p:nvSpPr>
          <p:cNvPr id="16" name="Rectangle 15"/>
          <p:cNvSpPr/>
          <p:nvPr/>
        </p:nvSpPr>
        <p:spPr>
          <a:xfrm>
            <a:off x="8890000" y="1905000"/>
            <a:ext cx="2616200" cy="609600"/>
          </a:xfrm>
          <a:prstGeom prst="rect">
            <a:avLst/>
          </a:prstGeom>
          <a:solidFill>
            <a:srgbClr val="F2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29700" y="2082800"/>
            <a:ext cx="2374900" cy="269240"/>
          </a:xfrm>
          <a:prstGeom prst="rect">
            <a:avLst/>
          </a:prstGeom>
          <a:noFill/>
        </p:spPr>
        <p:txBody>
          <a:bodyPr wrap="none" lIns="0" rIns="0" tIns="0" bIns="0">
            <a:spAutoFit/>
          </a:bodyPr>
          <a:lstStyle/>
          <a:p>
            <a:pPr>
              <a:defRPr sz="1400" b="1">
                <a:solidFill>
                  <a:srgbClr val="182B49"/>
                </a:solidFill>
                <a:latin typeface="Segoe UI"/>
              </a:defRPr>
            </a:pPr>
            <a:r>
              <a:t>Hybrid</a:t>
            </a:r>
          </a:p>
        </p:txBody>
      </p:sp>
      <p:sp>
        <p:nvSpPr>
          <p:cNvPr id="18" name="Rectangle 17"/>
          <p:cNvSpPr/>
          <p:nvPr/>
        </p:nvSpPr>
        <p:spPr>
          <a:xfrm>
            <a:off x="685800" y="2514600"/>
            <a:ext cx="2971800" cy="60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5500" y="2692400"/>
            <a:ext cx="2730500" cy="269240"/>
          </a:xfrm>
          <a:prstGeom prst="rect">
            <a:avLst/>
          </a:prstGeom>
          <a:noFill/>
        </p:spPr>
        <p:txBody>
          <a:bodyPr wrap="none" lIns="0" rIns="0" tIns="0" bIns="0">
            <a:spAutoFit/>
          </a:bodyPr>
          <a:lstStyle/>
          <a:p>
            <a:pPr>
              <a:defRPr sz="1400" b="0">
                <a:solidFill>
                  <a:srgbClr val="182B49"/>
                </a:solidFill>
                <a:latin typeface="Segoe UI"/>
              </a:defRPr>
            </a:pPr>
            <a:r>
              <a:t>Primary signal</a:t>
            </a:r>
          </a:p>
        </p:txBody>
      </p:sp>
      <p:sp>
        <p:nvSpPr>
          <p:cNvPr id="20" name="Rectangle 19"/>
          <p:cNvSpPr/>
          <p:nvPr/>
        </p:nvSpPr>
        <p:spPr>
          <a:xfrm>
            <a:off x="3657600" y="2514600"/>
            <a:ext cx="2616200" cy="60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97300" y="2692400"/>
            <a:ext cx="2374900" cy="269240"/>
          </a:xfrm>
          <a:prstGeom prst="rect">
            <a:avLst/>
          </a:prstGeom>
          <a:noFill/>
        </p:spPr>
        <p:txBody>
          <a:bodyPr wrap="none" lIns="0" rIns="0" tIns="0" bIns="0">
            <a:spAutoFit/>
          </a:bodyPr>
          <a:lstStyle/>
          <a:p>
            <a:pPr>
              <a:defRPr sz="1400" b="0">
                <a:solidFill>
                  <a:srgbClr val="182B49"/>
                </a:solidFill>
                <a:latin typeface="Segoe UI"/>
              </a:defRPr>
            </a:pPr>
            <a:r>
              <a:t>Attribute similarity</a:t>
            </a:r>
          </a:p>
        </p:txBody>
      </p:sp>
      <p:sp>
        <p:nvSpPr>
          <p:cNvPr id="22" name="Rectangle 21"/>
          <p:cNvSpPr/>
          <p:nvPr/>
        </p:nvSpPr>
        <p:spPr>
          <a:xfrm>
            <a:off x="6273800" y="2514600"/>
            <a:ext cx="2616200" cy="60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13500" y="2692400"/>
            <a:ext cx="2374900" cy="269240"/>
          </a:xfrm>
          <a:prstGeom prst="rect">
            <a:avLst/>
          </a:prstGeom>
          <a:noFill/>
        </p:spPr>
        <p:txBody>
          <a:bodyPr wrap="none" lIns="0" rIns="0" tIns="0" bIns="0">
            <a:spAutoFit/>
          </a:bodyPr>
          <a:lstStyle/>
          <a:p>
            <a:pPr>
              <a:defRPr sz="1400" b="0">
                <a:solidFill>
                  <a:srgbClr val="182B49"/>
                </a:solidFill>
                <a:latin typeface="Segoe UI"/>
              </a:defRPr>
            </a:pPr>
            <a:r>
              <a:t>Rules + completion</a:t>
            </a:r>
          </a:p>
        </p:txBody>
      </p:sp>
      <p:sp>
        <p:nvSpPr>
          <p:cNvPr id="24" name="Rectangle 23"/>
          <p:cNvSpPr/>
          <p:nvPr/>
        </p:nvSpPr>
        <p:spPr>
          <a:xfrm>
            <a:off x="8890000" y="2514600"/>
            <a:ext cx="2616200" cy="60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29700" y="2692400"/>
            <a:ext cx="2374900" cy="269240"/>
          </a:xfrm>
          <a:prstGeom prst="rect">
            <a:avLst/>
          </a:prstGeom>
          <a:noFill/>
        </p:spPr>
        <p:txBody>
          <a:bodyPr wrap="none" lIns="0" rIns="0" tIns="0" bIns="0">
            <a:spAutoFit/>
          </a:bodyPr>
          <a:lstStyle/>
          <a:p>
            <a:pPr>
              <a:defRPr sz="1400" b="0">
                <a:solidFill>
                  <a:srgbClr val="182B49"/>
                </a:solidFill>
                <a:latin typeface="Segoe UI"/>
              </a:defRPr>
            </a:pPr>
            <a:r>
              <a:t>Weighted scores</a:t>
            </a:r>
          </a:p>
        </p:txBody>
      </p:sp>
      <p:sp>
        <p:nvSpPr>
          <p:cNvPr id="26" name="Rectangle 25"/>
          <p:cNvSpPr/>
          <p:nvPr/>
        </p:nvSpPr>
        <p:spPr>
          <a:xfrm>
            <a:off x="685800" y="3124200"/>
            <a:ext cx="2971800" cy="609600"/>
          </a:xfrm>
          <a:prstGeom prst="rect">
            <a:avLst/>
          </a:prstGeom>
          <a:solidFill>
            <a:srgbClr val="F2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5500" y="3302000"/>
            <a:ext cx="2730500" cy="269240"/>
          </a:xfrm>
          <a:prstGeom prst="rect">
            <a:avLst/>
          </a:prstGeom>
          <a:noFill/>
        </p:spPr>
        <p:txBody>
          <a:bodyPr wrap="none" lIns="0" rIns="0" tIns="0" bIns="0">
            <a:spAutoFit/>
          </a:bodyPr>
          <a:lstStyle/>
          <a:p>
            <a:pPr>
              <a:defRPr sz="1400" b="0">
                <a:solidFill>
                  <a:srgbClr val="182B49"/>
                </a:solidFill>
                <a:latin typeface="Segoe UI"/>
              </a:defRPr>
            </a:pPr>
            <a:r>
              <a:t>Works without ratings?</a:t>
            </a:r>
          </a:p>
        </p:txBody>
      </p:sp>
      <p:sp>
        <p:nvSpPr>
          <p:cNvPr id="28" name="Rectangle 27"/>
          <p:cNvSpPr/>
          <p:nvPr/>
        </p:nvSpPr>
        <p:spPr>
          <a:xfrm>
            <a:off x="3657600" y="3124200"/>
            <a:ext cx="2616200" cy="609600"/>
          </a:xfrm>
          <a:prstGeom prst="rect">
            <a:avLst/>
          </a:prstGeom>
          <a:solidFill>
            <a:srgbClr val="F2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797300" y="3302000"/>
            <a:ext cx="2374900" cy="269240"/>
          </a:xfrm>
          <a:prstGeom prst="rect">
            <a:avLst/>
          </a:prstGeom>
          <a:noFill/>
        </p:spPr>
        <p:txBody>
          <a:bodyPr wrap="none" lIns="0" rIns="0" tIns="0" bIns="0">
            <a:spAutoFit/>
          </a:bodyPr>
          <a:lstStyle/>
          <a:p>
            <a:pPr>
              <a:defRPr sz="1400" b="0">
                <a:solidFill>
                  <a:srgbClr val="182B49"/>
                </a:solidFill>
                <a:latin typeface="Segoe UI"/>
              </a:defRPr>
            </a:pPr>
            <a:r>
              <a:t>Yes</a:t>
            </a:r>
          </a:p>
        </p:txBody>
      </p:sp>
      <p:sp>
        <p:nvSpPr>
          <p:cNvPr id="30" name="Rectangle 29"/>
          <p:cNvSpPr/>
          <p:nvPr/>
        </p:nvSpPr>
        <p:spPr>
          <a:xfrm>
            <a:off x="6273800" y="3124200"/>
            <a:ext cx="2616200" cy="609600"/>
          </a:xfrm>
          <a:prstGeom prst="rect">
            <a:avLst/>
          </a:prstGeom>
          <a:solidFill>
            <a:srgbClr val="F2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13500" y="3302000"/>
            <a:ext cx="2374900" cy="269240"/>
          </a:xfrm>
          <a:prstGeom prst="rect">
            <a:avLst/>
          </a:prstGeom>
          <a:noFill/>
        </p:spPr>
        <p:txBody>
          <a:bodyPr wrap="none" lIns="0" rIns="0" tIns="0" bIns="0">
            <a:spAutoFit/>
          </a:bodyPr>
          <a:lstStyle/>
          <a:p>
            <a:pPr>
              <a:defRPr sz="1400" b="0">
                <a:solidFill>
                  <a:srgbClr val="182B49"/>
                </a:solidFill>
                <a:latin typeface="Segoe UI"/>
              </a:defRPr>
            </a:pPr>
            <a:r>
              <a:t>Yes; default history</a:t>
            </a:r>
          </a:p>
        </p:txBody>
      </p:sp>
      <p:sp>
        <p:nvSpPr>
          <p:cNvPr id="32" name="Rectangle 31"/>
          <p:cNvSpPr/>
          <p:nvPr/>
        </p:nvSpPr>
        <p:spPr>
          <a:xfrm>
            <a:off x="8890000" y="3124200"/>
            <a:ext cx="2616200" cy="609600"/>
          </a:xfrm>
          <a:prstGeom prst="rect">
            <a:avLst/>
          </a:prstGeom>
          <a:solidFill>
            <a:srgbClr val="F2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029700" y="3302000"/>
            <a:ext cx="2374900" cy="269240"/>
          </a:xfrm>
          <a:prstGeom prst="rect">
            <a:avLst/>
          </a:prstGeom>
          <a:noFill/>
        </p:spPr>
        <p:txBody>
          <a:bodyPr wrap="none" lIns="0" rIns="0" tIns="0" bIns="0">
            <a:spAutoFit/>
          </a:bodyPr>
          <a:lstStyle/>
          <a:p>
            <a:pPr>
              <a:defRPr sz="1400" b="0">
                <a:solidFill>
                  <a:srgbClr val="182B49"/>
                </a:solidFill>
                <a:latin typeface="Segoe UI"/>
              </a:defRPr>
            </a:pPr>
            <a:r>
              <a:t>Yes; base blend</a:t>
            </a:r>
          </a:p>
        </p:txBody>
      </p:sp>
      <p:sp>
        <p:nvSpPr>
          <p:cNvPr id="34" name="Rectangle 33"/>
          <p:cNvSpPr/>
          <p:nvPr/>
        </p:nvSpPr>
        <p:spPr>
          <a:xfrm>
            <a:off x="685800" y="3733800"/>
            <a:ext cx="2971800" cy="60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5500" y="3911600"/>
            <a:ext cx="2730500" cy="269240"/>
          </a:xfrm>
          <a:prstGeom prst="rect">
            <a:avLst/>
          </a:prstGeom>
          <a:noFill/>
        </p:spPr>
        <p:txBody>
          <a:bodyPr wrap="none" lIns="0" rIns="0" tIns="0" bIns="0">
            <a:spAutoFit/>
          </a:bodyPr>
          <a:lstStyle/>
          <a:p>
            <a:pPr>
              <a:defRPr sz="1400" b="0">
                <a:solidFill>
                  <a:srgbClr val="182B49"/>
                </a:solidFill>
                <a:latin typeface="Segoe UI"/>
              </a:defRPr>
            </a:pPr>
            <a:r>
              <a:t>Uses liked exercises?</a:t>
            </a:r>
          </a:p>
        </p:txBody>
      </p:sp>
      <p:sp>
        <p:nvSpPr>
          <p:cNvPr id="36" name="Rectangle 35"/>
          <p:cNvSpPr/>
          <p:nvPr/>
        </p:nvSpPr>
        <p:spPr>
          <a:xfrm>
            <a:off x="3657600" y="3733800"/>
            <a:ext cx="2616200" cy="60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797300" y="3911600"/>
            <a:ext cx="2374900" cy="269240"/>
          </a:xfrm>
          <a:prstGeom prst="rect">
            <a:avLst/>
          </a:prstGeom>
          <a:noFill/>
        </p:spPr>
        <p:txBody>
          <a:bodyPr wrap="none" lIns="0" rIns="0" tIns="0" bIns="0">
            <a:spAutoFit/>
          </a:bodyPr>
          <a:lstStyle/>
          <a:p>
            <a:pPr>
              <a:defRPr sz="1400" b="0">
                <a:solidFill>
                  <a:srgbClr val="182B49"/>
                </a:solidFill>
                <a:latin typeface="Segoe UI"/>
              </a:defRPr>
            </a:pPr>
            <a:r>
              <a:t>Yes, when available</a:t>
            </a:r>
          </a:p>
        </p:txBody>
      </p:sp>
      <p:sp>
        <p:nvSpPr>
          <p:cNvPr id="38" name="Rectangle 37"/>
          <p:cNvSpPr/>
          <p:nvPr/>
        </p:nvSpPr>
        <p:spPr>
          <a:xfrm>
            <a:off x="6273800" y="3733800"/>
            <a:ext cx="2616200" cy="60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13500" y="3911600"/>
            <a:ext cx="2374900" cy="269240"/>
          </a:xfrm>
          <a:prstGeom prst="rect">
            <a:avLst/>
          </a:prstGeom>
          <a:noFill/>
        </p:spPr>
        <p:txBody>
          <a:bodyPr wrap="none" lIns="0" rIns="0" tIns="0" bIns="0">
            <a:spAutoFit/>
          </a:bodyPr>
          <a:lstStyle/>
          <a:p>
            <a:pPr>
              <a:defRPr sz="1400" b="0">
                <a:solidFill>
                  <a:srgbClr val="182B49"/>
                </a:solidFill>
                <a:latin typeface="Segoe UI"/>
              </a:defRPr>
            </a:pPr>
            <a:r>
              <a:t>No rating-based term</a:t>
            </a:r>
          </a:p>
        </p:txBody>
      </p:sp>
      <p:sp>
        <p:nvSpPr>
          <p:cNvPr id="40" name="Rectangle 39"/>
          <p:cNvSpPr/>
          <p:nvPr/>
        </p:nvSpPr>
        <p:spPr>
          <a:xfrm>
            <a:off x="8890000" y="3733800"/>
            <a:ext cx="2616200" cy="60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029700" y="3911600"/>
            <a:ext cx="2374900" cy="269240"/>
          </a:xfrm>
          <a:prstGeom prst="rect">
            <a:avLst/>
          </a:prstGeom>
          <a:noFill/>
        </p:spPr>
        <p:txBody>
          <a:bodyPr wrap="none" lIns="0" rIns="0" tIns="0" bIns="0">
            <a:spAutoFit/>
          </a:bodyPr>
          <a:lstStyle/>
          <a:p>
            <a:pPr>
              <a:defRPr sz="1400" b="0">
                <a:solidFill>
                  <a:srgbClr val="182B49"/>
                </a:solidFill>
                <a:latin typeface="Segoe UI"/>
              </a:defRPr>
            </a:pPr>
            <a:r>
              <a:t>Via content component</a:t>
            </a:r>
          </a:p>
        </p:txBody>
      </p:sp>
      <p:sp>
        <p:nvSpPr>
          <p:cNvPr id="42" name="Rectangle 41"/>
          <p:cNvSpPr/>
          <p:nvPr/>
        </p:nvSpPr>
        <p:spPr>
          <a:xfrm>
            <a:off x="685800" y="4343400"/>
            <a:ext cx="2971800" cy="609600"/>
          </a:xfrm>
          <a:prstGeom prst="rect">
            <a:avLst/>
          </a:prstGeom>
          <a:solidFill>
            <a:srgbClr val="F2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25500" y="4521200"/>
            <a:ext cx="2730500" cy="269240"/>
          </a:xfrm>
          <a:prstGeom prst="rect">
            <a:avLst/>
          </a:prstGeom>
          <a:noFill/>
        </p:spPr>
        <p:txBody>
          <a:bodyPr wrap="none" lIns="0" rIns="0" tIns="0" bIns="0">
            <a:spAutoFit/>
          </a:bodyPr>
          <a:lstStyle/>
          <a:p>
            <a:pPr>
              <a:defRPr sz="1400" b="0">
                <a:solidFill>
                  <a:srgbClr val="182B49"/>
                </a:solidFill>
                <a:latin typeface="Segoe UI"/>
              </a:defRPr>
            </a:pPr>
            <a:r>
              <a:t>Internal components</a:t>
            </a:r>
          </a:p>
        </p:txBody>
      </p:sp>
      <p:sp>
        <p:nvSpPr>
          <p:cNvPr id="44" name="Rectangle 43"/>
          <p:cNvSpPr/>
          <p:nvPr/>
        </p:nvSpPr>
        <p:spPr>
          <a:xfrm>
            <a:off x="3657600" y="4343400"/>
            <a:ext cx="2616200" cy="609600"/>
          </a:xfrm>
          <a:prstGeom prst="rect">
            <a:avLst/>
          </a:prstGeom>
          <a:solidFill>
            <a:srgbClr val="F2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797300" y="4521200"/>
            <a:ext cx="2374900" cy="269240"/>
          </a:xfrm>
          <a:prstGeom prst="rect">
            <a:avLst/>
          </a:prstGeom>
          <a:noFill/>
        </p:spPr>
        <p:txBody>
          <a:bodyPr wrap="none" lIns="0" rIns="0" tIns="0" bIns="0">
            <a:spAutoFit/>
          </a:bodyPr>
          <a:lstStyle/>
          <a:p>
            <a:pPr>
              <a:defRPr sz="1400" b="0">
                <a:solidFill>
                  <a:srgbClr val="182B49"/>
                </a:solidFill>
                <a:latin typeface="Segoe UI"/>
              </a:defRPr>
            </a:pPr>
            <a:r>
              <a:t>Cosine similarity</a:t>
            </a:r>
          </a:p>
        </p:txBody>
      </p:sp>
      <p:sp>
        <p:nvSpPr>
          <p:cNvPr id="46" name="Rectangle 45"/>
          <p:cNvSpPr/>
          <p:nvPr/>
        </p:nvSpPr>
        <p:spPr>
          <a:xfrm>
            <a:off x="6273800" y="4343400"/>
            <a:ext cx="2616200" cy="609600"/>
          </a:xfrm>
          <a:prstGeom prst="rect">
            <a:avLst/>
          </a:prstGeom>
          <a:solidFill>
            <a:srgbClr val="F2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13500" y="4521200"/>
            <a:ext cx="2374900" cy="269240"/>
          </a:xfrm>
          <a:prstGeom prst="rect">
            <a:avLst/>
          </a:prstGeom>
          <a:noFill/>
        </p:spPr>
        <p:txBody>
          <a:bodyPr wrap="none" lIns="0" rIns="0" tIns="0" bIns="0">
            <a:spAutoFit/>
          </a:bodyPr>
          <a:lstStyle/>
          <a:p>
            <a:pPr>
              <a:defRPr sz="1400" b="0">
                <a:solidFill>
                  <a:srgbClr val="182B49"/>
                </a:solidFill>
                <a:latin typeface="Segoe UI"/>
              </a:defRPr>
            </a:pPr>
            <a:r>
              <a:t>Knowledge + history</a:t>
            </a:r>
          </a:p>
        </p:txBody>
      </p:sp>
      <p:sp>
        <p:nvSpPr>
          <p:cNvPr id="48" name="Rectangle 47"/>
          <p:cNvSpPr/>
          <p:nvPr/>
        </p:nvSpPr>
        <p:spPr>
          <a:xfrm>
            <a:off x="8890000" y="4343400"/>
            <a:ext cx="2616200" cy="609600"/>
          </a:xfrm>
          <a:prstGeom prst="rect">
            <a:avLst/>
          </a:prstGeom>
          <a:solidFill>
            <a:srgbClr val="F2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029700" y="4521200"/>
            <a:ext cx="2374900" cy="269240"/>
          </a:xfrm>
          <a:prstGeom prst="rect">
            <a:avLst/>
          </a:prstGeom>
          <a:noFill/>
        </p:spPr>
        <p:txBody>
          <a:bodyPr wrap="none" lIns="0" rIns="0" tIns="0" bIns="0">
            <a:spAutoFit/>
          </a:bodyPr>
          <a:lstStyle/>
          <a:p>
            <a:pPr>
              <a:defRPr sz="1400" b="0">
                <a:solidFill>
                  <a:srgbClr val="182B49"/>
                </a:solidFill>
                <a:latin typeface="Segoe UI"/>
              </a:defRPr>
            </a:pPr>
            <a:r>
              <a:t>Content + P + K + X</a:t>
            </a:r>
          </a:p>
        </p:txBody>
      </p:sp>
      <p:sp>
        <p:nvSpPr>
          <p:cNvPr id="50" name="Rectangle 49"/>
          <p:cNvSpPr/>
          <p:nvPr/>
        </p:nvSpPr>
        <p:spPr>
          <a:xfrm>
            <a:off x="685800" y="4953000"/>
            <a:ext cx="2971800" cy="60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25500" y="5130800"/>
            <a:ext cx="2730500" cy="269240"/>
          </a:xfrm>
          <a:prstGeom prst="rect">
            <a:avLst/>
          </a:prstGeom>
          <a:noFill/>
        </p:spPr>
        <p:txBody>
          <a:bodyPr wrap="none" lIns="0" rIns="0" tIns="0" bIns="0">
            <a:spAutoFit/>
          </a:bodyPr>
          <a:lstStyle/>
          <a:p>
            <a:pPr>
              <a:defRPr sz="1400" b="0">
                <a:solidFill>
                  <a:srgbClr val="182B49"/>
                </a:solidFill>
                <a:latin typeface="Segoe UI"/>
              </a:defRPr>
            </a:pPr>
            <a:r>
              <a:t>Equipment / time rules</a:t>
            </a:r>
          </a:p>
        </p:txBody>
      </p:sp>
      <p:sp>
        <p:nvSpPr>
          <p:cNvPr id="52" name="Rectangle 51"/>
          <p:cNvSpPr/>
          <p:nvPr/>
        </p:nvSpPr>
        <p:spPr>
          <a:xfrm>
            <a:off x="3657600" y="4953000"/>
            <a:ext cx="2616200" cy="60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797300" y="5130800"/>
            <a:ext cx="2374900" cy="269240"/>
          </a:xfrm>
          <a:prstGeom prst="rect">
            <a:avLst/>
          </a:prstGeom>
          <a:noFill/>
        </p:spPr>
        <p:txBody>
          <a:bodyPr wrap="none" lIns="0" rIns="0" tIns="0" bIns="0">
            <a:spAutoFit/>
          </a:bodyPr>
          <a:lstStyle/>
          <a:p>
            <a:pPr>
              <a:defRPr sz="1400" b="0">
                <a:solidFill>
                  <a:srgbClr val="182B49"/>
                </a:solidFill>
                <a:latin typeface="Segoe UI"/>
              </a:defRPr>
            </a:pPr>
            <a:r>
              <a:t>Shared</a:t>
            </a:r>
          </a:p>
        </p:txBody>
      </p:sp>
      <p:sp>
        <p:nvSpPr>
          <p:cNvPr id="54" name="Rectangle 53"/>
          <p:cNvSpPr/>
          <p:nvPr/>
        </p:nvSpPr>
        <p:spPr>
          <a:xfrm>
            <a:off x="6273800" y="4953000"/>
            <a:ext cx="2616200" cy="60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413500" y="5130800"/>
            <a:ext cx="2374900" cy="269240"/>
          </a:xfrm>
          <a:prstGeom prst="rect">
            <a:avLst/>
          </a:prstGeom>
          <a:noFill/>
        </p:spPr>
        <p:txBody>
          <a:bodyPr wrap="none" lIns="0" rIns="0" tIns="0" bIns="0">
            <a:spAutoFit/>
          </a:bodyPr>
          <a:lstStyle/>
          <a:p>
            <a:pPr>
              <a:defRPr sz="1400" b="0">
                <a:solidFill>
                  <a:srgbClr val="182B49"/>
                </a:solidFill>
                <a:latin typeface="Segoe UI"/>
              </a:defRPr>
            </a:pPr>
            <a:r>
              <a:t>Shared</a:t>
            </a:r>
          </a:p>
        </p:txBody>
      </p:sp>
      <p:sp>
        <p:nvSpPr>
          <p:cNvPr id="56" name="Rectangle 55"/>
          <p:cNvSpPr/>
          <p:nvPr/>
        </p:nvSpPr>
        <p:spPr>
          <a:xfrm>
            <a:off x="8890000" y="4953000"/>
            <a:ext cx="2616200" cy="60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029700" y="5130800"/>
            <a:ext cx="2374900" cy="269240"/>
          </a:xfrm>
          <a:prstGeom prst="rect">
            <a:avLst/>
          </a:prstGeom>
          <a:noFill/>
        </p:spPr>
        <p:txBody>
          <a:bodyPr wrap="none" lIns="0" rIns="0" tIns="0" bIns="0">
            <a:spAutoFit/>
          </a:bodyPr>
          <a:lstStyle/>
          <a:p>
            <a:pPr>
              <a:defRPr sz="1400" b="0">
                <a:solidFill>
                  <a:srgbClr val="182B49"/>
                </a:solidFill>
                <a:latin typeface="Segoe UI"/>
              </a:defRPr>
            </a:pPr>
            <a:r>
              <a:t>Shared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279400"/>
            <a:ext cx="330200" cy="38100"/>
          </a:xfrm>
          <a:prstGeom prst="rect">
            <a:avLst/>
          </a:prstGeom>
          <a:solidFill>
            <a:srgbClr val="326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350000"/>
            <a:ext cx="10820400" cy="12700"/>
          </a:xfrm>
          <a:prstGeom prst="rect">
            <a:avLst/>
          </a:prstGeom>
          <a:solidFill>
            <a:srgbClr val="DFE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406400"/>
            <a:ext cx="10833100" cy="203200"/>
          </a:xfrm>
          <a:prstGeom prst="rect">
            <a:avLst/>
          </a:prstGeom>
          <a:noFill/>
        </p:spPr>
        <p:txBody>
          <a:bodyPr wrap="none" lIns="0" rIns="0" tIns="0" bIns="0">
            <a:spAutoFit/>
          </a:bodyPr>
          <a:lstStyle/>
          <a:p>
            <a:pPr>
              <a:defRPr sz="1000" b="1">
                <a:solidFill>
                  <a:srgbClr val="3268C8"/>
                </a:solidFill>
                <a:latin typeface="Segoe UI"/>
              </a:defRPr>
            </a:pPr>
            <a:r>
              <a:t>13 / LIVE DEMONSTRATION</a:t>
            </a:r>
          </a:p>
        </p:txBody>
      </p:sp>
      <p:sp>
        <p:nvSpPr>
          <p:cNvPr id="6" name="TextBox 5"/>
          <p:cNvSpPr txBox="1"/>
          <p:nvPr/>
        </p:nvSpPr>
        <p:spPr>
          <a:xfrm>
            <a:off x="685800" y="838200"/>
            <a:ext cx="10833100" cy="549910"/>
          </a:xfrm>
          <a:prstGeom prst="rect">
            <a:avLst/>
          </a:prstGeom>
          <a:noFill/>
        </p:spPr>
        <p:txBody>
          <a:bodyPr wrap="none" lIns="0" rIns="0" tIns="0" bIns="0">
            <a:spAutoFit/>
          </a:bodyPr>
          <a:lstStyle/>
          <a:p>
            <a:pPr>
              <a:defRPr sz="3100" b="1">
                <a:solidFill>
                  <a:srgbClr val="182B49"/>
                </a:solidFill>
                <a:latin typeface="Segoe UI"/>
              </a:defRPr>
            </a:pPr>
            <a:r>
              <a:t>Show the selected method changing the workout.</a:t>
            </a:r>
          </a:p>
        </p:txBody>
      </p:sp>
      <p:sp>
        <p:nvSpPr>
          <p:cNvPr id="7" name="TextBox 6"/>
          <p:cNvSpPr txBox="1"/>
          <p:nvPr/>
        </p:nvSpPr>
        <p:spPr>
          <a:xfrm>
            <a:off x="685800" y="6489700"/>
            <a:ext cx="3848100" cy="170180"/>
          </a:xfrm>
          <a:prstGeom prst="rect">
            <a:avLst/>
          </a:prstGeom>
          <a:noFill/>
        </p:spPr>
        <p:txBody>
          <a:bodyPr wrap="none" lIns="0" rIns="0" tIns="0" bIns="0">
            <a:spAutoFit/>
          </a:bodyPr>
          <a:lstStyle/>
          <a:p>
            <a:pPr>
              <a:defRPr sz="800" b="0">
                <a:solidFill>
                  <a:srgbClr val="53647B"/>
                </a:solidFill>
                <a:latin typeface="Segoe UI"/>
              </a:defRPr>
            </a:pPr>
            <a:r>
              <a:t>GYM WORKOUT RECOMMENDER</a:t>
            </a:r>
          </a:p>
        </p:txBody>
      </p:sp>
      <p:sp>
        <p:nvSpPr>
          <p:cNvPr id="8" name="TextBox 7"/>
          <p:cNvSpPr txBox="1"/>
          <p:nvPr/>
        </p:nvSpPr>
        <p:spPr>
          <a:xfrm>
            <a:off x="10858500" y="6489700"/>
            <a:ext cx="800100" cy="186690"/>
          </a:xfrm>
          <a:prstGeom prst="rect">
            <a:avLst/>
          </a:prstGeom>
          <a:noFill/>
        </p:spPr>
        <p:txBody>
          <a:bodyPr wrap="none" lIns="0" rIns="0" tIns="0" bIns="0">
            <a:spAutoFit/>
          </a:bodyPr>
          <a:lstStyle/>
          <a:p>
            <a:pPr>
              <a:defRPr sz="900" b="0">
                <a:solidFill>
                  <a:srgbClr val="53647B"/>
                </a:solidFill>
                <a:latin typeface="Segoe UI"/>
              </a:defRPr>
            </a:pPr>
            <a:r>
              <a:t>14 / 16</a:t>
            </a:r>
          </a:p>
        </p:txBody>
      </p:sp>
      <p:sp>
        <p:nvSpPr>
          <p:cNvPr id="9" name="TextBox 8"/>
          <p:cNvSpPr txBox="1"/>
          <p:nvPr/>
        </p:nvSpPr>
        <p:spPr>
          <a:xfrm>
            <a:off x="685800" y="6146800"/>
            <a:ext cx="10642600" cy="186690"/>
          </a:xfrm>
          <a:prstGeom prst="rect">
            <a:avLst/>
          </a:prstGeom>
          <a:noFill/>
        </p:spPr>
        <p:txBody>
          <a:bodyPr wrap="none" lIns="0" rIns="0" tIns="0" bIns="0">
            <a:spAutoFit/>
          </a:bodyPr>
          <a:lstStyle/>
          <a:p>
            <a:pPr>
              <a:defRPr sz="900" b="0">
                <a:solidFill>
                  <a:srgbClr val="53647B"/>
                </a:solidFill>
                <a:latin typeface="Segoe UI"/>
              </a:defRPr>
            </a:pPr>
            <a:r>
              <a:t>app.py — Build workout, Exercise library, Activity</a:t>
            </a:r>
          </a:p>
        </p:txBody>
      </p:sp>
      <p:sp>
        <p:nvSpPr>
          <p:cNvPr id="10" name="TextBox 9"/>
          <p:cNvSpPr txBox="1"/>
          <p:nvPr/>
        </p:nvSpPr>
        <p:spPr>
          <a:xfrm>
            <a:off x="685800" y="1866900"/>
            <a:ext cx="609600" cy="417830"/>
          </a:xfrm>
          <a:prstGeom prst="rect">
            <a:avLst/>
          </a:prstGeom>
          <a:noFill/>
        </p:spPr>
        <p:txBody>
          <a:bodyPr wrap="none" lIns="0" rIns="0" tIns="0" bIns="0">
            <a:spAutoFit/>
          </a:bodyPr>
          <a:lstStyle/>
          <a:p>
            <a:pPr>
              <a:defRPr sz="2300" b="1">
                <a:solidFill>
                  <a:srgbClr val="3268C8"/>
                </a:solidFill>
                <a:latin typeface="Segoe UI"/>
              </a:defRPr>
            </a:pPr>
            <a:r>
              <a:t>01</a:t>
            </a:r>
          </a:p>
        </p:txBody>
      </p:sp>
      <p:sp>
        <p:nvSpPr>
          <p:cNvPr id="11" name="TextBox 10"/>
          <p:cNvSpPr txBox="1"/>
          <p:nvPr/>
        </p:nvSpPr>
        <p:spPr>
          <a:xfrm>
            <a:off x="1422400" y="1866900"/>
            <a:ext cx="2832100" cy="335280"/>
          </a:xfrm>
          <a:prstGeom prst="rect">
            <a:avLst/>
          </a:prstGeom>
          <a:noFill/>
        </p:spPr>
        <p:txBody>
          <a:bodyPr wrap="none" lIns="0" rIns="0" tIns="0" bIns="0">
            <a:spAutoFit/>
          </a:bodyPr>
          <a:lstStyle/>
          <a:p>
            <a:pPr>
              <a:defRPr sz="1800" b="1">
                <a:solidFill>
                  <a:srgbClr val="182B49"/>
                </a:solidFill>
                <a:latin typeface="Segoe UI"/>
              </a:defRPr>
            </a:pPr>
            <a:r>
              <a:t>Save a profile</a:t>
            </a:r>
          </a:p>
        </p:txBody>
      </p:sp>
      <p:sp>
        <p:nvSpPr>
          <p:cNvPr id="12" name="TextBox 11"/>
          <p:cNvSpPr txBox="1"/>
          <p:nvPr/>
        </p:nvSpPr>
        <p:spPr>
          <a:xfrm>
            <a:off x="4470400" y="1866900"/>
            <a:ext cx="7048500" cy="302260"/>
          </a:xfrm>
          <a:prstGeom prst="rect">
            <a:avLst/>
          </a:prstGeom>
          <a:noFill/>
        </p:spPr>
        <p:txBody>
          <a:bodyPr wrap="none" lIns="0" rIns="0" tIns="0" bIns="0">
            <a:spAutoFit/>
          </a:bodyPr>
          <a:lstStyle/>
          <a:p>
            <a:pPr>
              <a:defRPr sz="1600" b="0">
                <a:solidFill>
                  <a:srgbClr val="53647B"/>
                </a:solidFill>
                <a:latin typeface="Segoe UI"/>
              </a:defRPr>
            </a:pPr>
            <a:r>
              <a:t>Set goal, experience, equipment and time; click Build my workout.</a:t>
            </a:r>
          </a:p>
        </p:txBody>
      </p:sp>
      <p:sp>
        <p:nvSpPr>
          <p:cNvPr id="13" name="TextBox 12"/>
          <p:cNvSpPr txBox="1"/>
          <p:nvPr/>
        </p:nvSpPr>
        <p:spPr>
          <a:xfrm>
            <a:off x="685800" y="2654300"/>
            <a:ext cx="609600" cy="417830"/>
          </a:xfrm>
          <a:prstGeom prst="rect">
            <a:avLst/>
          </a:prstGeom>
          <a:noFill/>
        </p:spPr>
        <p:txBody>
          <a:bodyPr wrap="none" lIns="0" rIns="0" tIns="0" bIns="0">
            <a:spAutoFit/>
          </a:bodyPr>
          <a:lstStyle/>
          <a:p>
            <a:pPr>
              <a:defRPr sz="2300" b="1">
                <a:solidFill>
                  <a:srgbClr val="3268C8"/>
                </a:solidFill>
                <a:latin typeface="Segoe UI"/>
              </a:defRPr>
            </a:pPr>
            <a:r>
              <a:t>02</a:t>
            </a:r>
          </a:p>
        </p:txBody>
      </p:sp>
      <p:sp>
        <p:nvSpPr>
          <p:cNvPr id="14" name="TextBox 13"/>
          <p:cNvSpPr txBox="1"/>
          <p:nvPr/>
        </p:nvSpPr>
        <p:spPr>
          <a:xfrm>
            <a:off x="1422400" y="2654300"/>
            <a:ext cx="2832100" cy="335280"/>
          </a:xfrm>
          <a:prstGeom prst="rect">
            <a:avLst/>
          </a:prstGeom>
          <a:noFill/>
        </p:spPr>
        <p:txBody>
          <a:bodyPr wrap="none" lIns="0" rIns="0" tIns="0" bIns="0">
            <a:spAutoFit/>
          </a:bodyPr>
          <a:lstStyle/>
          <a:p>
            <a:pPr>
              <a:defRPr sz="1800" b="1">
                <a:solidFill>
                  <a:srgbClr val="182B49"/>
                </a:solidFill>
                <a:latin typeface="Segoe UI"/>
              </a:defRPr>
            </a:pPr>
            <a:r>
              <a:t>Select a method</a:t>
            </a:r>
          </a:p>
        </p:txBody>
      </p:sp>
      <p:sp>
        <p:nvSpPr>
          <p:cNvPr id="15" name="TextBox 14"/>
          <p:cNvSpPr txBox="1"/>
          <p:nvPr/>
        </p:nvSpPr>
        <p:spPr>
          <a:xfrm>
            <a:off x="4470400" y="2654300"/>
            <a:ext cx="7048500" cy="302260"/>
          </a:xfrm>
          <a:prstGeom prst="rect">
            <a:avLst/>
          </a:prstGeom>
          <a:noFill/>
        </p:spPr>
        <p:txBody>
          <a:bodyPr wrap="none" lIns="0" rIns="0" tIns="0" bIns="0">
            <a:spAutoFit/>
          </a:bodyPr>
          <a:lstStyle/>
          <a:p>
            <a:pPr>
              <a:defRPr sz="1600" b="0">
                <a:solidFill>
                  <a:srgbClr val="53647B"/>
                </a:solidFill>
                <a:latin typeface="Segoe UI"/>
              </a:defRPr>
            </a:pPr>
            <a:r>
              <a:t>Use the three visible Recommendation method choices in the builder.</a:t>
            </a:r>
          </a:p>
        </p:txBody>
      </p:sp>
      <p:sp>
        <p:nvSpPr>
          <p:cNvPr id="16" name="TextBox 15"/>
          <p:cNvSpPr txBox="1"/>
          <p:nvPr/>
        </p:nvSpPr>
        <p:spPr>
          <a:xfrm>
            <a:off x="685800" y="3441700"/>
            <a:ext cx="609600" cy="417830"/>
          </a:xfrm>
          <a:prstGeom prst="rect">
            <a:avLst/>
          </a:prstGeom>
          <a:noFill/>
        </p:spPr>
        <p:txBody>
          <a:bodyPr wrap="none" lIns="0" rIns="0" tIns="0" bIns="0">
            <a:spAutoFit/>
          </a:bodyPr>
          <a:lstStyle/>
          <a:p>
            <a:pPr>
              <a:defRPr sz="2300" b="1">
                <a:solidFill>
                  <a:srgbClr val="3268C8"/>
                </a:solidFill>
                <a:latin typeface="Segoe UI"/>
              </a:defRPr>
            </a:pPr>
            <a:r>
              <a:t>03</a:t>
            </a:r>
          </a:p>
        </p:txBody>
      </p:sp>
      <p:sp>
        <p:nvSpPr>
          <p:cNvPr id="17" name="TextBox 16"/>
          <p:cNvSpPr txBox="1"/>
          <p:nvPr/>
        </p:nvSpPr>
        <p:spPr>
          <a:xfrm>
            <a:off x="1422400" y="3441700"/>
            <a:ext cx="2832100" cy="335280"/>
          </a:xfrm>
          <a:prstGeom prst="rect">
            <a:avLst/>
          </a:prstGeom>
          <a:noFill/>
        </p:spPr>
        <p:txBody>
          <a:bodyPr wrap="none" lIns="0" rIns="0" tIns="0" bIns="0">
            <a:spAutoFit/>
          </a:bodyPr>
          <a:lstStyle/>
          <a:p>
            <a:pPr>
              <a:defRPr sz="1800" b="1">
                <a:solidFill>
                  <a:srgbClr val="182B49"/>
                </a:solidFill>
                <a:latin typeface="Segoe UI"/>
              </a:defRPr>
            </a:pPr>
            <a:r>
              <a:t>Compare the three</a:t>
            </a:r>
          </a:p>
        </p:txBody>
      </p:sp>
      <p:sp>
        <p:nvSpPr>
          <p:cNvPr id="18" name="TextBox 17"/>
          <p:cNvSpPr txBox="1"/>
          <p:nvPr/>
        </p:nvSpPr>
        <p:spPr>
          <a:xfrm>
            <a:off x="4470400" y="3441700"/>
            <a:ext cx="7048500" cy="302260"/>
          </a:xfrm>
          <a:prstGeom prst="rect">
            <a:avLst/>
          </a:prstGeom>
          <a:noFill/>
        </p:spPr>
        <p:txBody>
          <a:bodyPr wrap="none" lIns="0" rIns="0" tIns="0" bIns="0">
            <a:spAutoFit/>
          </a:bodyPr>
          <a:lstStyle/>
          <a:p>
            <a:pPr>
              <a:defRPr sz="1600" b="0">
                <a:solidFill>
                  <a:srgbClr val="53647B"/>
                </a:solidFill>
                <a:latin typeface="Segoe UI"/>
              </a:defRPr>
            </a:pPr>
            <a:r>
              <a:t>Switch between Content-based, Context-aware and Hybrid.</a:t>
            </a:r>
          </a:p>
        </p:txBody>
      </p:sp>
      <p:sp>
        <p:nvSpPr>
          <p:cNvPr id="19" name="TextBox 18"/>
          <p:cNvSpPr txBox="1"/>
          <p:nvPr/>
        </p:nvSpPr>
        <p:spPr>
          <a:xfrm>
            <a:off x="685800" y="4229100"/>
            <a:ext cx="609600" cy="417830"/>
          </a:xfrm>
          <a:prstGeom prst="rect">
            <a:avLst/>
          </a:prstGeom>
          <a:noFill/>
        </p:spPr>
        <p:txBody>
          <a:bodyPr wrap="none" lIns="0" rIns="0" tIns="0" bIns="0">
            <a:spAutoFit/>
          </a:bodyPr>
          <a:lstStyle/>
          <a:p>
            <a:pPr>
              <a:defRPr sz="2300" b="1">
                <a:solidFill>
                  <a:srgbClr val="3268C8"/>
                </a:solidFill>
                <a:latin typeface="Segoe UI"/>
              </a:defRPr>
            </a:pPr>
            <a:r>
              <a:t>04</a:t>
            </a:r>
          </a:p>
        </p:txBody>
      </p:sp>
      <p:sp>
        <p:nvSpPr>
          <p:cNvPr id="20" name="TextBox 19"/>
          <p:cNvSpPr txBox="1"/>
          <p:nvPr/>
        </p:nvSpPr>
        <p:spPr>
          <a:xfrm>
            <a:off x="1422400" y="4229100"/>
            <a:ext cx="2832100" cy="335280"/>
          </a:xfrm>
          <a:prstGeom prst="rect">
            <a:avLst/>
          </a:prstGeom>
          <a:noFill/>
        </p:spPr>
        <p:txBody>
          <a:bodyPr wrap="none" lIns="0" rIns="0" tIns="0" bIns="0">
            <a:spAutoFit/>
          </a:bodyPr>
          <a:lstStyle/>
          <a:p>
            <a:pPr>
              <a:defRPr sz="1800" b="1">
                <a:solidFill>
                  <a:srgbClr val="182B49"/>
                </a:solidFill>
                <a:latin typeface="Segoe UI"/>
              </a:defRPr>
            </a:pPr>
            <a:r>
              <a:t>Inspect the evidence</a:t>
            </a:r>
          </a:p>
        </p:txBody>
      </p:sp>
      <p:sp>
        <p:nvSpPr>
          <p:cNvPr id="21" name="TextBox 20"/>
          <p:cNvSpPr txBox="1"/>
          <p:nvPr/>
        </p:nvSpPr>
        <p:spPr>
          <a:xfrm>
            <a:off x="4470400" y="4229100"/>
            <a:ext cx="7048500" cy="302260"/>
          </a:xfrm>
          <a:prstGeom prst="rect">
            <a:avLst/>
          </a:prstGeom>
          <a:noFill/>
        </p:spPr>
        <p:txBody>
          <a:bodyPr wrap="none" lIns="0" rIns="0" tIns="0" bIns="0">
            <a:spAutoFit/>
          </a:bodyPr>
          <a:lstStyle/>
          <a:p>
            <a:pPr>
              <a:defRPr sz="1600" b="0">
                <a:solidFill>
                  <a:srgbClr val="53647B"/>
                </a:solidFill>
                <a:latin typeface="Segoe UI"/>
              </a:defRPr>
            </a:pPr>
            <a:r>
              <a:t>Read How to perform, photos and Why this exercise? details.</a:t>
            </a:r>
          </a:p>
        </p:txBody>
      </p:sp>
      <p:sp>
        <p:nvSpPr>
          <p:cNvPr id="22" name="TextBox 21"/>
          <p:cNvSpPr txBox="1"/>
          <p:nvPr/>
        </p:nvSpPr>
        <p:spPr>
          <a:xfrm>
            <a:off x="685800" y="5016500"/>
            <a:ext cx="609600" cy="417830"/>
          </a:xfrm>
          <a:prstGeom prst="rect">
            <a:avLst/>
          </a:prstGeom>
          <a:noFill/>
        </p:spPr>
        <p:txBody>
          <a:bodyPr wrap="none" lIns="0" rIns="0" tIns="0" bIns="0">
            <a:spAutoFit/>
          </a:bodyPr>
          <a:lstStyle/>
          <a:p>
            <a:pPr>
              <a:defRPr sz="2300" b="1">
                <a:solidFill>
                  <a:srgbClr val="3268C8"/>
                </a:solidFill>
                <a:latin typeface="Segoe UI"/>
              </a:defRPr>
            </a:pPr>
            <a:r>
              <a:t>05</a:t>
            </a:r>
          </a:p>
        </p:txBody>
      </p:sp>
      <p:sp>
        <p:nvSpPr>
          <p:cNvPr id="23" name="TextBox 22"/>
          <p:cNvSpPr txBox="1"/>
          <p:nvPr/>
        </p:nvSpPr>
        <p:spPr>
          <a:xfrm>
            <a:off x="1422400" y="5016500"/>
            <a:ext cx="2832100" cy="335280"/>
          </a:xfrm>
          <a:prstGeom prst="rect">
            <a:avLst/>
          </a:prstGeom>
          <a:noFill/>
        </p:spPr>
        <p:txBody>
          <a:bodyPr wrap="none" lIns="0" rIns="0" tIns="0" bIns="0">
            <a:spAutoFit/>
          </a:bodyPr>
          <a:lstStyle/>
          <a:p>
            <a:pPr>
              <a:defRPr sz="1800" b="1">
                <a:solidFill>
                  <a:srgbClr val="182B49"/>
                </a:solidFill>
                <a:latin typeface="Segoe UI"/>
              </a:defRPr>
            </a:pPr>
            <a:r>
              <a:t>Record feedback</a:t>
            </a:r>
          </a:p>
        </p:txBody>
      </p:sp>
      <p:sp>
        <p:nvSpPr>
          <p:cNvPr id="24" name="TextBox 23"/>
          <p:cNvSpPr txBox="1"/>
          <p:nvPr/>
        </p:nvSpPr>
        <p:spPr>
          <a:xfrm>
            <a:off x="4470400" y="5016500"/>
            <a:ext cx="7048500" cy="302260"/>
          </a:xfrm>
          <a:prstGeom prst="rect">
            <a:avLst/>
          </a:prstGeom>
          <a:noFill/>
        </p:spPr>
        <p:txBody>
          <a:bodyPr wrap="none" lIns="0" rIns="0" tIns="0" bIns="0">
            <a:spAutoFit/>
          </a:bodyPr>
          <a:lstStyle/>
          <a:p>
            <a:pPr>
              <a:defRPr sz="1600" b="0">
                <a:solidFill>
                  <a:srgbClr val="53647B"/>
                </a:solidFill>
                <a:latin typeface="Segoe UI"/>
              </a:defRPr>
            </a:pPr>
            <a:r>
              <a:t>Use Log this exercise, then save feedback in Activity.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279400"/>
            <a:ext cx="330200" cy="38100"/>
          </a:xfrm>
          <a:prstGeom prst="rect">
            <a:avLst/>
          </a:prstGeom>
          <a:solidFill>
            <a:srgbClr val="326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350000"/>
            <a:ext cx="10820400" cy="12700"/>
          </a:xfrm>
          <a:prstGeom prst="rect">
            <a:avLst/>
          </a:prstGeom>
          <a:solidFill>
            <a:srgbClr val="DFE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406400"/>
            <a:ext cx="10833100" cy="203200"/>
          </a:xfrm>
          <a:prstGeom prst="rect">
            <a:avLst/>
          </a:prstGeom>
          <a:noFill/>
        </p:spPr>
        <p:txBody>
          <a:bodyPr wrap="none" lIns="0" rIns="0" tIns="0" bIns="0">
            <a:spAutoFit/>
          </a:bodyPr>
          <a:lstStyle/>
          <a:p>
            <a:pPr>
              <a:defRPr sz="1000" b="1">
                <a:solidFill>
                  <a:srgbClr val="3268C8"/>
                </a:solidFill>
                <a:latin typeface="Segoe UI"/>
              </a:defRPr>
            </a:pPr>
            <a:r>
              <a:t>14 / VALIDATION</a:t>
            </a:r>
          </a:p>
        </p:txBody>
      </p:sp>
      <p:sp>
        <p:nvSpPr>
          <p:cNvPr id="6" name="TextBox 5"/>
          <p:cNvSpPr txBox="1"/>
          <p:nvPr/>
        </p:nvSpPr>
        <p:spPr>
          <a:xfrm>
            <a:off x="685800" y="838200"/>
            <a:ext cx="10833100" cy="549910"/>
          </a:xfrm>
          <a:prstGeom prst="rect">
            <a:avLst/>
          </a:prstGeom>
          <a:noFill/>
        </p:spPr>
        <p:txBody>
          <a:bodyPr wrap="none" lIns="0" rIns="0" tIns="0" bIns="0">
            <a:spAutoFit/>
          </a:bodyPr>
          <a:lstStyle/>
          <a:p>
            <a:pPr>
              <a:defRPr sz="3100" b="1">
                <a:solidFill>
                  <a:srgbClr val="182B49"/>
                </a:solidFill>
                <a:latin typeface="Segoe UI"/>
              </a:defRPr>
            </a:pPr>
            <a:r>
              <a:t>What has been checked—and what remains open.</a:t>
            </a:r>
          </a:p>
        </p:txBody>
      </p:sp>
      <p:sp>
        <p:nvSpPr>
          <p:cNvPr id="7" name="TextBox 6"/>
          <p:cNvSpPr txBox="1"/>
          <p:nvPr/>
        </p:nvSpPr>
        <p:spPr>
          <a:xfrm>
            <a:off x="685800" y="6489700"/>
            <a:ext cx="3848100" cy="170180"/>
          </a:xfrm>
          <a:prstGeom prst="rect">
            <a:avLst/>
          </a:prstGeom>
          <a:noFill/>
        </p:spPr>
        <p:txBody>
          <a:bodyPr wrap="none" lIns="0" rIns="0" tIns="0" bIns="0">
            <a:spAutoFit/>
          </a:bodyPr>
          <a:lstStyle/>
          <a:p>
            <a:pPr>
              <a:defRPr sz="800" b="0">
                <a:solidFill>
                  <a:srgbClr val="53647B"/>
                </a:solidFill>
                <a:latin typeface="Segoe UI"/>
              </a:defRPr>
            </a:pPr>
            <a:r>
              <a:t>GYM WORKOUT RECOMMENDER</a:t>
            </a:r>
          </a:p>
        </p:txBody>
      </p:sp>
      <p:sp>
        <p:nvSpPr>
          <p:cNvPr id="8" name="TextBox 7"/>
          <p:cNvSpPr txBox="1"/>
          <p:nvPr/>
        </p:nvSpPr>
        <p:spPr>
          <a:xfrm>
            <a:off x="10858500" y="6489700"/>
            <a:ext cx="800100" cy="186690"/>
          </a:xfrm>
          <a:prstGeom prst="rect">
            <a:avLst/>
          </a:prstGeom>
          <a:noFill/>
        </p:spPr>
        <p:txBody>
          <a:bodyPr wrap="none" lIns="0" rIns="0" tIns="0" bIns="0">
            <a:spAutoFit/>
          </a:bodyPr>
          <a:lstStyle/>
          <a:p>
            <a:pPr>
              <a:defRPr sz="900" b="0">
                <a:solidFill>
                  <a:srgbClr val="53647B"/>
                </a:solidFill>
                <a:latin typeface="Segoe UI"/>
              </a:defRPr>
            </a:pPr>
            <a:r>
              <a:t>15 / 16</a:t>
            </a:r>
          </a:p>
        </p:txBody>
      </p:sp>
      <p:sp>
        <p:nvSpPr>
          <p:cNvPr id="9" name="TextBox 8"/>
          <p:cNvSpPr txBox="1"/>
          <p:nvPr/>
        </p:nvSpPr>
        <p:spPr>
          <a:xfrm>
            <a:off x="685800" y="6146800"/>
            <a:ext cx="10642600" cy="186690"/>
          </a:xfrm>
          <a:prstGeom prst="rect">
            <a:avLst/>
          </a:prstGeom>
          <a:noFill/>
        </p:spPr>
        <p:txBody>
          <a:bodyPr wrap="none" lIns="0" rIns="0" tIns="0" bIns="0">
            <a:spAutoFit/>
          </a:bodyPr>
          <a:lstStyle/>
          <a:p>
            <a:pPr>
              <a:defRPr sz="900" b="0">
                <a:solidFill>
                  <a:srgbClr val="53647B"/>
                </a:solidFill>
                <a:latin typeface="Segoe UI"/>
              </a:defRPr>
            </a:pPr>
            <a:r>
              <a:t>Current Streamlit suite: 28 tests passed; recorded catalogue checks: reports/evaluation.json</a:t>
            </a:r>
          </a:p>
        </p:txBody>
      </p:sp>
      <p:sp>
        <p:nvSpPr>
          <p:cNvPr id="10" name="TextBox 9"/>
          <p:cNvSpPr txBox="1"/>
          <p:nvPr/>
        </p:nvSpPr>
        <p:spPr>
          <a:xfrm>
            <a:off x="685800" y="1854200"/>
            <a:ext cx="3467100" cy="797560"/>
          </a:xfrm>
          <a:prstGeom prst="rect">
            <a:avLst/>
          </a:prstGeom>
          <a:noFill/>
        </p:spPr>
        <p:txBody>
          <a:bodyPr wrap="none" lIns="0" rIns="0" tIns="0" bIns="0">
            <a:spAutoFit/>
          </a:bodyPr>
          <a:lstStyle/>
          <a:p>
            <a:pPr>
              <a:defRPr sz="4600" b="1">
                <a:solidFill>
                  <a:srgbClr val="3268C8"/>
                </a:solidFill>
                <a:latin typeface="Segoe UI"/>
              </a:defRPr>
            </a:pPr>
            <a:r>
              <a:t>28</a:t>
            </a:r>
          </a:p>
        </p:txBody>
      </p:sp>
      <p:sp>
        <p:nvSpPr>
          <p:cNvPr id="11" name="TextBox 10"/>
          <p:cNvSpPr txBox="1"/>
          <p:nvPr/>
        </p:nvSpPr>
        <p:spPr>
          <a:xfrm>
            <a:off x="685800" y="2679700"/>
            <a:ext cx="3467100" cy="285750"/>
          </a:xfrm>
          <a:prstGeom prst="rect">
            <a:avLst/>
          </a:prstGeom>
          <a:noFill/>
        </p:spPr>
        <p:txBody>
          <a:bodyPr wrap="none" lIns="0" rIns="0" tIns="0" bIns="0">
            <a:spAutoFit/>
          </a:bodyPr>
          <a:lstStyle/>
          <a:p>
            <a:pPr>
              <a:defRPr sz="1500" b="0">
                <a:solidFill>
                  <a:srgbClr val="53647B"/>
                </a:solidFill>
                <a:latin typeface="Segoe UI"/>
              </a:defRPr>
            </a:pPr>
            <a:r>
              <a:t>application tests passed</a:t>
            </a:r>
          </a:p>
        </p:txBody>
      </p:sp>
      <p:sp>
        <p:nvSpPr>
          <p:cNvPr id="12" name="TextBox 11"/>
          <p:cNvSpPr txBox="1"/>
          <p:nvPr/>
        </p:nvSpPr>
        <p:spPr>
          <a:xfrm>
            <a:off x="4356100" y="1854200"/>
            <a:ext cx="3467100" cy="797560"/>
          </a:xfrm>
          <a:prstGeom prst="rect">
            <a:avLst/>
          </a:prstGeom>
          <a:noFill/>
        </p:spPr>
        <p:txBody>
          <a:bodyPr wrap="none" lIns="0" rIns="0" tIns="0" bIns="0">
            <a:spAutoFit/>
          </a:bodyPr>
          <a:lstStyle/>
          <a:p>
            <a:pPr>
              <a:defRPr sz="4600" b="1">
                <a:solidFill>
                  <a:srgbClr val="3268C8"/>
                </a:solidFill>
                <a:latin typeface="Segoe UI"/>
              </a:defRPr>
            </a:pPr>
            <a:r>
              <a:t>36</a:t>
            </a:r>
          </a:p>
        </p:txBody>
      </p:sp>
      <p:sp>
        <p:nvSpPr>
          <p:cNvPr id="13" name="TextBox 12"/>
          <p:cNvSpPr txBox="1"/>
          <p:nvPr/>
        </p:nvSpPr>
        <p:spPr>
          <a:xfrm>
            <a:off x="4356100" y="2679700"/>
            <a:ext cx="3467100" cy="285750"/>
          </a:xfrm>
          <a:prstGeom prst="rect">
            <a:avLst/>
          </a:prstGeom>
          <a:noFill/>
        </p:spPr>
        <p:txBody>
          <a:bodyPr wrap="none" lIns="0" rIns="0" tIns="0" bIns="0">
            <a:spAutoFit/>
          </a:bodyPr>
          <a:lstStyle/>
          <a:p>
            <a:pPr>
              <a:defRPr sz="1500" b="0">
                <a:solidFill>
                  <a:srgbClr val="53647B"/>
                </a:solidFill>
                <a:latin typeface="Segoe UI"/>
              </a:defRPr>
            </a:pPr>
            <a:r>
              <a:t>catalogue scenarios checked</a:t>
            </a:r>
          </a:p>
        </p:txBody>
      </p:sp>
      <p:sp>
        <p:nvSpPr>
          <p:cNvPr id="14" name="TextBox 13"/>
          <p:cNvSpPr txBox="1"/>
          <p:nvPr/>
        </p:nvSpPr>
        <p:spPr>
          <a:xfrm>
            <a:off x="8026400" y="1854200"/>
            <a:ext cx="3467100" cy="797560"/>
          </a:xfrm>
          <a:prstGeom prst="rect">
            <a:avLst/>
          </a:prstGeom>
          <a:noFill/>
        </p:spPr>
        <p:txBody>
          <a:bodyPr wrap="none" lIns="0" rIns="0" tIns="0" bIns="0">
            <a:spAutoFit/>
          </a:bodyPr>
          <a:lstStyle/>
          <a:p>
            <a:pPr>
              <a:defRPr sz="4600" b="1">
                <a:solidFill>
                  <a:srgbClr val="3268C8"/>
                </a:solidFill>
                <a:latin typeface="Segoe UI"/>
              </a:defRPr>
            </a:pPr>
            <a:r>
              <a:t>0</a:t>
            </a:r>
          </a:p>
        </p:txBody>
      </p:sp>
      <p:sp>
        <p:nvSpPr>
          <p:cNvPr id="15" name="TextBox 14"/>
          <p:cNvSpPr txBox="1"/>
          <p:nvPr/>
        </p:nvSpPr>
        <p:spPr>
          <a:xfrm>
            <a:off x="8026400" y="2679700"/>
            <a:ext cx="3467100" cy="285750"/>
          </a:xfrm>
          <a:prstGeom prst="rect">
            <a:avLst/>
          </a:prstGeom>
          <a:noFill/>
        </p:spPr>
        <p:txBody>
          <a:bodyPr wrap="none" lIns="0" rIns="0" tIns="0" bIns="0">
            <a:spAutoFit/>
          </a:bodyPr>
          <a:lstStyle/>
          <a:p>
            <a:pPr>
              <a:defRPr sz="1500" b="0">
                <a:solidFill>
                  <a:srgbClr val="53647B"/>
                </a:solidFill>
                <a:latin typeface="Segoe UI"/>
              </a:defRPr>
            </a:pPr>
            <a:r>
              <a:t>equipment / budget violations</a:t>
            </a:r>
          </a:p>
        </p:txBody>
      </p:sp>
      <p:sp>
        <p:nvSpPr>
          <p:cNvPr id="16" name="Rectangle 15"/>
          <p:cNvSpPr/>
          <p:nvPr/>
        </p:nvSpPr>
        <p:spPr>
          <a:xfrm>
            <a:off x="685800" y="3365500"/>
            <a:ext cx="5219700" cy="2349500"/>
          </a:xfrm>
          <a:prstGeom prst="rect">
            <a:avLst/>
          </a:prstGeom>
          <a:solidFill>
            <a:srgbClr val="F2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4400" y="3517900"/>
            <a:ext cx="279400" cy="25400"/>
          </a:xfrm>
          <a:prstGeom prst="rect">
            <a:avLst/>
          </a:prstGeom>
          <a:solidFill>
            <a:srgbClr val="326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657600"/>
            <a:ext cx="4800600" cy="335280"/>
          </a:xfrm>
          <a:prstGeom prst="rect">
            <a:avLst/>
          </a:prstGeom>
          <a:noFill/>
        </p:spPr>
        <p:txBody>
          <a:bodyPr wrap="none" lIns="0" rIns="0" tIns="0" bIns="0">
            <a:spAutoFit/>
          </a:bodyPr>
          <a:lstStyle/>
          <a:p>
            <a:pPr>
              <a:defRPr sz="1800" b="1">
                <a:solidFill>
                  <a:srgbClr val="182B49"/>
                </a:solidFill>
                <a:latin typeface="Segoe UI"/>
              </a:defRPr>
            </a:pPr>
            <a:r>
              <a:t>Supported by checks</a:t>
            </a:r>
          </a:p>
        </p:txBody>
      </p:sp>
      <p:sp>
        <p:nvSpPr>
          <p:cNvPr id="19" name="TextBox 18"/>
          <p:cNvSpPr txBox="1"/>
          <p:nvPr/>
        </p:nvSpPr>
        <p:spPr>
          <a:xfrm>
            <a:off x="914400" y="4114800"/>
            <a:ext cx="4800600" cy="302260"/>
          </a:xfrm>
          <a:prstGeom prst="rect">
            <a:avLst/>
          </a:prstGeom>
          <a:noFill/>
        </p:spPr>
        <p:txBody>
          <a:bodyPr wrap="none" lIns="0" rIns="0" tIns="0" bIns="0">
            <a:spAutoFit/>
          </a:bodyPr>
          <a:lstStyle/>
          <a:p>
            <a:pPr>
              <a:defRPr sz="1600" b="0">
                <a:solidFill>
                  <a:srgbClr val="53647B"/>
                </a:solidFill>
                <a:latin typeface="Segoe UI"/>
              </a:defRPr>
            </a:pPr>
            <a:r>
              <a:t>Three scoring methods, time budgets, migration and</a:t>
            </a:r>
          </a:p>
        </p:txBody>
      </p:sp>
      <p:sp>
        <p:nvSpPr>
          <p:cNvPr id="20" name="TextBox 19"/>
          <p:cNvSpPr txBox="1"/>
          <p:nvPr/>
        </p:nvSpPr>
        <p:spPr>
          <a:xfrm>
            <a:off x="914400" y="4378960"/>
            <a:ext cx="4800600" cy="302260"/>
          </a:xfrm>
          <a:prstGeom prst="rect">
            <a:avLst/>
          </a:prstGeom>
          <a:noFill/>
        </p:spPr>
        <p:txBody>
          <a:bodyPr wrap="none" lIns="0" rIns="0" tIns="0" bIns="0">
            <a:spAutoFit/>
          </a:bodyPr>
          <a:lstStyle/>
          <a:p>
            <a:pPr>
              <a:defRPr sz="1600" b="0">
                <a:solidFill>
                  <a:srgbClr val="53647B"/>
                </a:solidFill>
                <a:latin typeface="Segoe UI"/>
              </a:defRPr>
            </a:pPr>
            <a:r>
              <a:t>image integrity.</a:t>
            </a:r>
          </a:p>
        </p:txBody>
      </p:sp>
      <p:sp>
        <p:nvSpPr>
          <p:cNvPr id="21" name="TextBox 20"/>
          <p:cNvSpPr txBox="1"/>
          <p:nvPr/>
        </p:nvSpPr>
        <p:spPr>
          <a:xfrm>
            <a:off x="914400" y="4643120"/>
            <a:ext cx="4800600" cy="302260"/>
          </a:xfrm>
          <a:prstGeom prst="rect">
            <a:avLst/>
          </a:prstGeom>
          <a:noFill/>
        </p:spPr>
        <p:txBody>
          <a:bodyPr wrap="none" lIns="0" rIns="0" tIns="0" bIns="0">
            <a:spAutoFit/>
          </a:bodyPr>
          <a:lstStyle/>
          <a:p>
            <a:pPr>
              <a:defRPr sz="1600" b="0">
                <a:solidFill>
                  <a:srgbClr val="53647B"/>
                </a:solidFill>
                <a:latin typeface="Segoe UI"/>
              </a:defRPr>
            </a:pPr>
          </a:p>
        </p:txBody>
      </p:sp>
      <p:sp>
        <p:nvSpPr>
          <p:cNvPr id="22" name="TextBox 21"/>
          <p:cNvSpPr txBox="1"/>
          <p:nvPr/>
        </p:nvSpPr>
        <p:spPr>
          <a:xfrm>
            <a:off x="914400" y="4907280"/>
            <a:ext cx="4800600" cy="302260"/>
          </a:xfrm>
          <a:prstGeom prst="rect">
            <a:avLst/>
          </a:prstGeom>
          <a:noFill/>
        </p:spPr>
        <p:txBody>
          <a:bodyPr wrap="none" lIns="0" rIns="0" tIns="0" bIns="0">
            <a:spAutoFit/>
          </a:bodyPr>
          <a:lstStyle/>
          <a:p>
            <a:pPr>
              <a:defRPr sz="1600" b="0">
                <a:solidFill>
                  <a:srgbClr val="53647B"/>
                </a:solidFill>
                <a:latin typeface="Segoe UI"/>
              </a:defRPr>
            </a:pPr>
            <a:r>
              <a:t>UI checks cover method changes, draft filters,</a:t>
            </a:r>
          </a:p>
        </p:txBody>
      </p:sp>
      <p:sp>
        <p:nvSpPr>
          <p:cNvPr id="23" name="TextBox 22"/>
          <p:cNvSpPr txBox="1"/>
          <p:nvPr/>
        </p:nvSpPr>
        <p:spPr>
          <a:xfrm>
            <a:off x="914400" y="5171440"/>
            <a:ext cx="4800600" cy="302260"/>
          </a:xfrm>
          <a:prstGeom prst="rect">
            <a:avLst/>
          </a:prstGeom>
          <a:noFill/>
        </p:spPr>
        <p:txBody>
          <a:bodyPr wrap="none" lIns="0" rIns="0" tIns="0" bIns="0">
            <a:spAutoFit/>
          </a:bodyPr>
          <a:lstStyle/>
          <a:p>
            <a:pPr>
              <a:defRPr sz="1600" b="0">
                <a:solidFill>
                  <a:srgbClr val="53647B"/>
                </a:solidFill>
                <a:latin typeface="Segoe UI"/>
              </a:defRPr>
            </a:pPr>
            <a:r>
              <a:t>navigation and logging.</a:t>
            </a:r>
          </a:p>
        </p:txBody>
      </p:sp>
      <p:sp>
        <p:nvSpPr>
          <p:cNvPr id="24" name="Rectangle 23"/>
          <p:cNvSpPr/>
          <p:nvPr/>
        </p:nvSpPr>
        <p:spPr>
          <a:xfrm>
            <a:off x="6134100" y="3365500"/>
            <a:ext cx="5372100" cy="2349500"/>
          </a:xfrm>
          <a:prstGeom prst="rect">
            <a:avLst/>
          </a:prstGeom>
          <a:solidFill>
            <a:srgbClr val="F2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362700" y="3517900"/>
            <a:ext cx="279400" cy="25400"/>
          </a:xfrm>
          <a:prstGeom prst="rect">
            <a:avLst/>
          </a:prstGeom>
          <a:solidFill>
            <a:srgbClr val="326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2700" y="3657600"/>
            <a:ext cx="4953000" cy="335280"/>
          </a:xfrm>
          <a:prstGeom prst="rect">
            <a:avLst/>
          </a:prstGeom>
          <a:noFill/>
        </p:spPr>
        <p:txBody>
          <a:bodyPr wrap="none" lIns="0" rIns="0" tIns="0" bIns="0">
            <a:spAutoFit/>
          </a:bodyPr>
          <a:lstStyle/>
          <a:p>
            <a:pPr>
              <a:defRPr sz="1800" b="1">
                <a:solidFill>
                  <a:srgbClr val="182B49"/>
                </a:solidFill>
                <a:latin typeface="Segoe UI"/>
              </a:defRPr>
            </a:pPr>
            <a:r>
              <a:t>Still to evaluate</a:t>
            </a:r>
          </a:p>
        </p:txBody>
      </p:sp>
      <p:sp>
        <p:nvSpPr>
          <p:cNvPr id="27" name="TextBox 26"/>
          <p:cNvSpPr txBox="1"/>
          <p:nvPr/>
        </p:nvSpPr>
        <p:spPr>
          <a:xfrm>
            <a:off x="6362700" y="4114800"/>
            <a:ext cx="4953000" cy="302260"/>
          </a:xfrm>
          <a:prstGeom prst="rect">
            <a:avLst/>
          </a:prstGeom>
          <a:noFill/>
        </p:spPr>
        <p:txBody>
          <a:bodyPr wrap="none" lIns="0" rIns="0" tIns="0" bIns="0">
            <a:spAutoFit/>
          </a:bodyPr>
          <a:lstStyle/>
          <a:p>
            <a:pPr>
              <a:defRPr sz="1600" b="0">
                <a:solidFill>
                  <a:srgbClr val="53647B"/>
                </a:solidFill>
                <a:latin typeface="Segoe UI"/>
              </a:defRPr>
            </a:pPr>
            <a:r>
              <a:t>Recall@10 and NDCG@10 require eligible genuine</a:t>
            </a:r>
          </a:p>
        </p:txBody>
      </p:sp>
      <p:sp>
        <p:nvSpPr>
          <p:cNvPr id="28" name="TextBox 27"/>
          <p:cNvSpPr txBox="1"/>
          <p:nvPr/>
        </p:nvSpPr>
        <p:spPr>
          <a:xfrm>
            <a:off x="6362700" y="4378960"/>
            <a:ext cx="4953000" cy="302260"/>
          </a:xfrm>
          <a:prstGeom prst="rect">
            <a:avLst/>
          </a:prstGeom>
          <a:noFill/>
        </p:spPr>
        <p:txBody>
          <a:bodyPr wrap="none" lIns="0" rIns="0" tIns="0" bIns="0">
            <a:spAutoFit/>
          </a:bodyPr>
          <a:lstStyle/>
          <a:p>
            <a:pPr>
              <a:defRPr sz="1600" b="0">
                <a:solidFill>
                  <a:srgbClr val="53647B"/>
                </a:solidFill>
                <a:latin typeface="Segoe UI"/>
              </a:defRPr>
            </a:pPr>
            <a:r>
              <a:t>held-out histories.</a:t>
            </a:r>
          </a:p>
        </p:txBody>
      </p:sp>
      <p:sp>
        <p:nvSpPr>
          <p:cNvPr id="29" name="TextBox 28"/>
          <p:cNvSpPr txBox="1"/>
          <p:nvPr/>
        </p:nvSpPr>
        <p:spPr>
          <a:xfrm>
            <a:off x="6362700" y="4643120"/>
            <a:ext cx="4953000" cy="302260"/>
          </a:xfrm>
          <a:prstGeom prst="rect">
            <a:avLst/>
          </a:prstGeom>
          <a:noFill/>
        </p:spPr>
        <p:txBody>
          <a:bodyPr wrap="none" lIns="0" rIns="0" tIns="0" bIns="0">
            <a:spAutoFit/>
          </a:bodyPr>
          <a:lstStyle/>
          <a:p>
            <a:pPr>
              <a:defRPr sz="1600" b="0">
                <a:solidFill>
                  <a:srgbClr val="53647B"/>
                </a:solidFill>
                <a:latin typeface="Segoe UI"/>
              </a:defRPr>
            </a:pPr>
          </a:p>
        </p:txBody>
      </p:sp>
      <p:sp>
        <p:nvSpPr>
          <p:cNvPr id="30" name="TextBox 29"/>
          <p:cNvSpPr txBox="1"/>
          <p:nvPr/>
        </p:nvSpPr>
        <p:spPr>
          <a:xfrm>
            <a:off x="6362700" y="4907280"/>
            <a:ext cx="4953000" cy="302260"/>
          </a:xfrm>
          <a:prstGeom prst="rect">
            <a:avLst/>
          </a:prstGeom>
          <a:noFill/>
        </p:spPr>
        <p:txBody>
          <a:bodyPr wrap="none" lIns="0" rIns="0" tIns="0" bIns="0">
            <a:spAutoFit/>
          </a:bodyPr>
          <a:lstStyle/>
          <a:p>
            <a:pPr>
              <a:defRPr sz="1600" b="0">
                <a:solidFill>
                  <a:srgbClr val="53647B"/>
                </a:solidFill>
                <a:latin typeface="Segoe UI"/>
              </a:defRPr>
            </a:pPr>
            <a:r>
              <a:t>No measured best-method result or fitness-outcome</a:t>
            </a:r>
          </a:p>
        </p:txBody>
      </p:sp>
      <p:sp>
        <p:nvSpPr>
          <p:cNvPr id="31" name="TextBox 30"/>
          <p:cNvSpPr txBox="1"/>
          <p:nvPr/>
        </p:nvSpPr>
        <p:spPr>
          <a:xfrm>
            <a:off x="6362700" y="5171440"/>
            <a:ext cx="4953000" cy="302260"/>
          </a:xfrm>
          <a:prstGeom prst="rect">
            <a:avLst/>
          </a:prstGeom>
          <a:noFill/>
        </p:spPr>
        <p:txBody>
          <a:bodyPr wrap="none" lIns="0" rIns="0" tIns="0" bIns="0">
            <a:spAutoFit/>
          </a:bodyPr>
          <a:lstStyle/>
          <a:p>
            <a:pPr>
              <a:defRPr sz="1600" b="0">
                <a:solidFill>
                  <a:srgbClr val="53647B"/>
                </a:solidFill>
                <a:latin typeface="Segoe UI"/>
              </a:defRPr>
            </a:pPr>
            <a:r>
              <a:t>validation.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279400"/>
            <a:ext cx="330200" cy="38100"/>
          </a:xfrm>
          <a:prstGeom prst="rect">
            <a:avLst/>
          </a:prstGeom>
          <a:solidFill>
            <a:srgbClr val="326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6350000"/>
            <a:ext cx="10820400" cy="12700"/>
          </a:xfrm>
          <a:prstGeom prst="rect">
            <a:avLst/>
          </a:prstGeom>
          <a:solidFill>
            <a:srgbClr val="DFE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406400"/>
            <a:ext cx="10833100" cy="203200"/>
          </a:xfrm>
          <a:prstGeom prst="rect">
            <a:avLst/>
          </a:prstGeom>
          <a:noFill/>
        </p:spPr>
        <p:txBody>
          <a:bodyPr wrap="none" lIns="0" rIns="0" tIns="0" bIns="0">
            <a:spAutoFit/>
          </a:bodyPr>
          <a:lstStyle/>
          <a:p>
            <a:pPr>
              <a:defRPr sz="1000" b="1">
                <a:solidFill>
                  <a:srgbClr val="3268C8"/>
                </a:solidFill>
                <a:latin typeface="Segoe UI"/>
              </a:defRPr>
            </a:pPr>
            <a:r>
              <a:t>15 / CONCLUSION</a:t>
            </a:r>
          </a:p>
        </p:txBody>
      </p:sp>
      <p:sp>
        <p:nvSpPr>
          <p:cNvPr id="6" name="TextBox 5"/>
          <p:cNvSpPr txBox="1"/>
          <p:nvPr/>
        </p:nvSpPr>
        <p:spPr>
          <a:xfrm>
            <a:off x="685800" y="838200"/>
            <a:ext cx="10833100" cy="549910"/>
          </a:xfrm>
          <a:prstGeom prst="rect">
            <a:avLst/>
          </a:prstGeom>
          <a:noFill/>
        </p:spPr>
        <p:txBody>
          <a:bodyPr wrap="none" lIns="0" rIns="0" tIns="0" bIns="0">
            <a:spAutoFit/>
          </a:bodyPr>
          <a:lstStyle/>
          <a:p>
            <a:pPr>
              <a:defRPr sz="3100" b="1">
                <a:solidFill>
                  <a:srgbClr val="182B49"/>
                </a:solidFill>
                <a:latin typeface="Segoe UI"/>
              </a:defRPr>
            </a:pPr>
            <a:r>
              <a:t>Lecture foundations. A gym-specific application.</a:t>
            </a:r>
          </a:p>
        </p:txBody>
      </p:sp>
      <p:sp>
        <p:nvSpPr>
          <p:cNvPr id="7" name="TextBox 6"/>
          <p:cNvSpPr txBox="1"/>
          <p:nvPr/>
        </p:nvSpPr>
        <p:spPr>
          <a:xfrm>
            <a:off x="685800" y="6489700"/>
            <a:ext cx="3848100" cy="170180"/>
          </a:xfrm>
          <a:prstGeom prst="rect">
            <a:avLst/>
          </a:prstGeom>
          <a:noFill/>
        </p:spPr>
        <p:txBody>
          <a:bodyPr wrap="none" lIns="0" rIns="0" tIns="0" bIns="0">
            <a:spAutoFit/>
          </a:bodyPr>
          <a:lstStyle/>
          <a:p>
            <a:pPr>
              <a:defRPr sz="800" b="0">
                <a:solidFill>
                  <a:srgbClr val="53647B"/>
                </a:solidFill>
                <a:latin typeface="Segoe UI"/>
              </a:defRPr>
            </a:pPr>
            <a:r>
              <a:t>GYM WORKOUT RECOMMENDER</a:t>
            </a:r>
          </a:p>
        </p:txBody>
      </p:sp>
      <p:sp>
        <p:nvSpPr>
          <p:cNvPr id="8" name="TextBox 7"/>
          <p:cNvSpPr txBox="1"/>
          <p:nvPr/>
        </p:nvSpPr>
        <p:spPr>
          <a:xfrm>
            <a:off x="10858500" y="6489700"/>
            <a:ext cx="800100" cy="186690"/>
          </a:xfrm>
          <a:prstGeom prst="rect">
            <a:avLst/>
          </a:prstGeom>
          <a:noFill/>
        </p:spPr>
        <p:txBody>
          <a:bodyPr wrap="none" lIns="0" rIns="0" tIns="0" bIns="0">
            <a:spAutoFit/>
          </a:bodyPr>
          <a:lstStyle/>
          <a:p>
            <a:pPr>
              <a:defRPr sz="900" b="0">
                <a:solidFill>
                  <a:srgbClr val="53647B"/>
                </a:solidFill>
                <a:latin typeface="Segoe UI"/>
              </a:defRPr>
            </a:pPr>
            <a:r>
              <a:t>16 / 16</a:t>
            </a:r>
          </a:p>
        </p:txBody>
      </p:sp>
      <p:sp>
        <p:nvSpPr>
          <p:cNvPr id="9" name="TextBox 8"/>
          <p:cNvSpPr txBox="1"/>
          <p:nvPr/>
        </p:nvSpPr>
        <p:spPr>
          <a:xfrm>
            <a:off x="685800" y="1917700"/>
            <a:ext cx="3149600" cy="401320"/>
          </a:xfrm>
          <a:prstGeom prst="rect">
            <a:avLst/>
          </a:prstGeom>
          <a:noFill/>
        </p:spPr>
        <p:txBody>
          <a:bodyPr wrap="none" lIns="0" rIns="0" tIns="0" bIns="0">
            <a:spAutoFit/>
          </a:bodyPr>
          <a:lstStyle/>
          <a:p>
            <a:pPr>
              <a:defRPr sz="2200" b="1">
                <a:solidFill>
                  <a:srgbClr val="3268C8"/>
                </a:solidFill>
                <a:latin typeface="Segoe UI"/>
              </a:defRPr>
            </a:pPr>
            <a:r>
              <a:t>Content-based</a:t>
            </a:r>
          </a:p>
        </p:txBody>
      </p:sp>
      <p:sp>
        <p:nvSpPr>
          <p:cNvPr id="10" name="TextBox 9"/>
          <p:cNvSpPr txBox="1"/>
          <p:nvPr/>
        </p:nvSpPr>
        <p:spPr>
          <a:xfrm>
            <a:off x="4127500" y="1917700"/>
            <a:ext cx="7340600" cy="368300"/>
          </a:xfrm>
          <a:prstGeom prst="rect">
            <a:avLst/>
          </a:prstGeom>
          <a:noFill/>
        </p:spPr>
        <p:txBody>
          <a:bodyPr wrap="none" lIns="0" rIns="0" tIns="0" bIns="0">
            <a:spAutoFit/>
          </a:bodyPr>
          <a:lstStyle/>
          <a:p>
            <a:pPr>
              <a:defRPr sz="2000" b="0">
                <a:solidFill>
                  <a:srgbClr val="182B49"/>
                </a:solidFill>
                <a:latin typeface="Segoe UI"/>
              </a:defRPr>
            </a:pPr>
            <a:r>
              <a:t>Applies Chapter 4 similarity to exercise attributes.</a:t>
            </a:r>
          </a:p>
        </p:txBody>
      </p:sp>
      <p:sp>
        <p:nvSpPr>
          <p:cNvPr id="11" name="TextBox 10"/>
          <p:cNvSpPr txBox="1"/>
          <p:nvPr/>
        </p:nvSpPr>
        <p:spPr>
          <a:xfrm>
            <a:off x="685800" y="2806700"/>
            <a:ext cx="3149600" cy="401320"/>
          </a:xfrm>
          <a:prstGeom prst="rect">
            <a:avLst/>
          </a:prstGeom>
          <a:noFill/>
        </p:spPr>
        <p:txBody>
          <a:bodyPr wrap="none" lIns="0" rIns="0" tIns="0" bIns="0">
            <a:spAutoFit/>
          </a:bodyPr>
          <a:lstStyle/>
          <a:p>
            <a:pPr>
              <a:defRPr sz="2200" b="1">
                <a:solidFill>
                  <a:srgbClr val="3268C8"/>
                </a:solidFill>
                <a:latin typeface="Segoe UI"/>
              </a:defRPr>
            </a:pPr>
            <a:r>
              <a:t>Context-aware</a:t>
            </a:r>
          </a:p>
        </p:txBody>
      </p:sp>
      <p:sp>
        <p:nvSpPr>
          <p:cNvPr id="12" name="TextBox 11"/>
          <p:cNvSpPr txBox="1"/>
          <p:nvPr/>
        </p:nvSpPr>
        <p:spPr>
          <a:xfrm>
            <a:off x="4127500" y="2806700"/>
            <a:ext cx="7340600" cy="368300"/>
          </a:xfrm>
          <a:prstGeom prst="rect">
            <a:avLst/>
          </a:prstGeom>
          <a:noFill/>
        </p:spPr>
        <p:txBody>
          <a:bodyPr wrap="none" lIns="0" rIns="0" tIns="0" bIns="0">
            <a:spAutoFit/>
          </a:bodyPr>
          <a:lstStyle/>
          <a:p>
            <a:pPr>
              <a:defRPr sz="2000" b="0">
                <a:solidFill>
                  <a:srgbClr val="182B49"/>
                </a:solidFill>
                <a:latin typeface="Segoe UI"/>
              </a:defRPr>
            </a:pPr>
            <a:r>
              <a:t>Adapts Chapter 8 context to workout feasibility and history.</a:t>
            </a:r>
          </a:p>
        </p:txBody>
      </p:sp>
      <p:sp>
        <p:nvSpPr>
          <p:cNvPr id="13" name="TextBox 12"/>
          <p:cNvSpPr txBox="1"/>
          <p:nvPr/>
        </p:nvSpPr>
        <p:spPr>
          <a:xfrm>
            <a:off x="685800" y="3695700"/>
            <a:ext cx="3149600" cy="401320"/>
          </a:xfrm>
          <a:prstGeom prst="rect">
            <a:avLst/>
          </a:prstGeom>
          <a:noFill/>
        </p:spPr>
        <p:txBody>
          <a:bodyPr wrap="none" lIns="0" rIns="0" tIns="0" bIns="0">
            <a:spAutoFit/>
          </a:bodyPr>
          <a:lstStyle/>
          <a:p>
            <a:pPr>
              <a:defRPr sz="2200" b="1">
                <a:solidFill>
                  <a:srgbClr val="3268C8"/>
                </a:solidFill>
                <a:latin typeface="Segoe UI"/>
              </a:defRPr>
            </a:pPr>
            <a:r>
              <a:t>Weighted hybrid</a:t>
            </a:r>
          </a:p>
        </p:txBody>
      </p:sp>
      <p:sp>
        <p:nvSpPr>
          <p:cNvPr id="14" name="TextBox 13"/>
          <p:cNvSpPr txBox="1"/>
          <p:nvPr/>
        </p:nvSpPr>
        <p:spPr>
          <a:xfrm>
            <a:off x="4127500" y="3695700"/>
            <a:ext cx="7340600" cy="368300"/>
          </a:xfrm>
          <a:prstGeom prst="rect">
            <a:avLst/>
          </a:prstGeom>
          <a:noFill/>
        </p:spPr>
        <p:txBody>
          <a:bodyPr wrap="none" lIns="0" rIns="0" tIns="0" bIns="0">
            <a:spAutoFit/>
          </a:bodyPr>
          <a:lstStyle/>
          <a:p>
            <a:pPr>
              <a:defRPr sz="2000" b="0">
                <a:solidFill>
                  <a:srgbClr val="182B49"/>
                </a:solidFill>
                <a:latin typeface="Segoe UI"/>
              </a:defRPr>
            </a:pPr>
            <a:r>
              <a:t>Uses Chapter 10 score blending with project-specific weights.</a:t>
            </a:r>
          </a:p>
        </p:txBody>
      </p:sp>
      <p:sp>
        <p:nvSpPr>
          <p:cNvPr id="15" name="Rectangle 14"/>
          <p:cNvSpPr/>
          <p:nvPr/>
        </p:nvSpPr>
        <p:spPr>
          <a:xfrm>
            <a:off x="685800" y="4953000"/>
            <a:ext cx="10820400" cy="939800"/>
          </a:xfrm>
          <a:prstGeom prst="rect">
            <a:avLst/>
          </a:prstGeom>
          <a:solidFill>
            <a:srgbClr val="F2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7100" y="5219700"/>
            <a:ext cx="10388600" cy="384810"/>
          </a:xfrm>
          <a:prstGeom prst="rect">
            <a:avLst/>
          </a:prstGeom>
          <a:noFill/>
        </p:spPr>
        <p:txBody>
          <a:bodyPr wrap="none" lIns="0" rIns="0" tIns="0" bIns="0">
            <a:spAutoFit/>
          </a:bodyPr>
          <a:lstStyle/>
          <a:p>
            <a:pPr>
              <a:defRPr sz="2100" b="1">
                <a:solidFill>
                  <a:srgbClr val="182B49"/>
                </a:solidFill>
                <a:latin typeface="Segoe UI"/>
              </a:defRPr>
            </a:pPr>
            <a:r>
              <a:t>Next: collect genuine feedback, then evaluate and tune the weights.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Gym Workout Recommender</dc:title>
  <dc:subject>Recommendation methods, implementation and validation</dc:subject>
  <dc:creator>Gym Workout Recommender Project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